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5334000"/>
            <a:ext cx="12192000" cy="1524000"/>
          </a:xfrm>
          <a:prstGeom prst="rect">
            <a:avLst/>
          </a:prstGeom>
          <a:gradFill>
            <a:gsLst>
              <a:gs pos="0">
                <a:srgbClr val="1B3A5C"/>
              </a:gs>
              <a:gs pos="100000">
                <a:srgbClr val="4A90D9"/>
              </a:gs>
            </a:gsLst>
            <a:lin ang="0" scaled="1"/>
          </a:gradFill>
          <a:ln>
            <a:noFill/>
          </a:ln>
        </p:spPr>
      </p:sp>
      <p:sp>
        <p:nvSpPr>
          <p:cNvPr id="4" name="Freeform 4"/>
          <p:cNvSpPr/>
          <p:nvPr/>
        </p:nvSpPr>
        <p:spPr>
          <a:xfrm>
            <a:off x="5810250" y="1333500"/>
            <a:ext cx="571500" cy="28575"/>
          </a:xfrm>
          <a:custGeom>
            <a:avLst/>
            <a:gdLst/>
            <a:ahLst/>
            <a:cxnLst/>
            <a:rect l="l" t="t" r="r" b="b"/>
            <a:pathLst>
              <a:path w="571500" h="28575">
                <a:moveTo>
                  <a:pt x="14288" y="0"/>
                </a:moveTo>
                <a:lnTo>
                  <a:pt x="557212" y="0"/>
                </a:lnTo>
                <a:cubicBezTo>
                  <a:pt x="565103" y="0"/>
                  <a:pt x="571500" y="6397"/>
                  <a:pt x="571500" y="14288"/>
                </a:cubicBezTo>
                <a:lnTo>
                  <a:pt x="571500" y="14288"/>
                </a:lnTo>
                <a:cubicBezTo>
                  <a:pt x="571500" y="22178"/>
                  <a:pt x="565103" y="28575"/>
                  <a:pt x="557212" y="28575"/>
                </a:cubicBezTo>
                <a:lnTo>
                  <a:pt x="14288" y="28575"/>
                </a:lnTo>
                <a:cubicBezTo>
                  <a:pt x="6397" y="28575"/>
                  <a:pt x="0" y="22178"/>
                  <a:pt x="0" y="14288"/>
                </a:cubicBezTo>
                <a:lnTo>
                  <a:pt x="0" y="14288"/>
                </a:lnTo>
                <a:cubicBezTo>
                  <a:pt x="0" y="6397"/>
                  <a:pt x="6397" y="0"/>
                  <a:pt x="14288" y="0"/>
                </a:cubicBezTo>
                <a:close/>
              </a:path>
            </a:pathLst>
          </a:custGeom>
          <a:solidFill>
            <a:srgbClr val="E8772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889602" y="1737360"/>
            <a:ext cx="2412797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200" b="1" dirty="0">
                <a:solidFill>
                  <a:srgbClr val="1B3A5C"/>
                </a:solidFill>
                <a:latin typeface="Microsoft YaHei"/>
                <a:ea typeface="Microsoft YaHei"/>
                <a:cs typeface="Microsoft YaHei"/>
              </a:rPr>
              <a:t>即时表达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813173" y="2535555"/>
            <a:ext cx="2565654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公众发言的核心艺术</a:t>
            </a:r>
          </a:p>
        </p:txBody>
      </p:sp>
      <p:sp>
        <p:nvSpPr>
          <p:cNvPr id="7" name="Ellipse 7"/>
          <p:cNvSpPr/>
          <p:nvPr/>
        </p:nvSpPr>
        <p:spPr>
          <a:xfrm>
            <a:off x="5619750" y="3238500"/>
            <a:ext cx="952500" cy="952500"/>
          </a:xfrm>
          <a:prstGeom prst="ellipse">
            <a:avLst/>
          </a:prstGeom>
          <a:solidFill>
            <a:srgbClr val="F5F7FA"/>
          </a:solidFill>
          <a:ln w="19050">
            <a:solidFill>
              <a:srgbClr val="E2E8F0"/>
            </a:solidFill>
          </a:ln>
        </p:spPr>
      </p:sp>
      <p:sp>
        <p:nvSpPr>
          <p:cNvPr id="8" name="Ellipse 8"/>
          <p:cNvSpPr/>
          <p:nvPr/>
        </p:nvSpPr>
        <p:spPr>
          <a:xfrm>
            <a:off x="5810250" y="3429000"/>
            <a:ext cx="571500" cy="571500"/>
          </a:xfrm>
          <a:prstGeom prst="ellipse">
            <a:avLst/>
          </a:prstGeom>
          <a:solidFill>
            <a:srgbClr val="1B3A5C">
              <a:alpha val="10000"/>
            </a:srgbClr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5987415" y="3629025"/>
            <a:ext cx="21717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1B3A5C"/>
                </a:solidFill>
                <a:latin typeface="Microsoft YaHei"/>
                <a:ea typeface="Microsoft YaHei"/>
                <a:cs typeface="Microsoft YaHei"/>
              </a:rPr>
              <a:t>表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453062" y="5950268"/>
            <a:ext cx="128587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表达力训练系列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076473" y="6316028"/>
            <a:ext cx="203905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B8D4F0"/>
                </a:solidFill>
                <a:latin typeface="Microsoft YaHei"/>
                <a:ea typeface="Microsoft YaHei"/>
                <a:cs typeface="Microsoft YaHei"/>
              </a:rPr>
              <a:t>2026 · 即时表达技巧与实战模板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857250"/>
          </a:xfrm>
          <a:prstGeom prst="rect">
            <a:avLst/>
          </a:prstGeom>
          <a:solidFill>
            <a:srgbClr val="1B3A5C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0832" y="325755"/>
            <a:ext cx="3286544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表达的本质：内容与方式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141640" y="4391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01 / 06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1143000"/>
            <a:ext cx="5334000" cy="4953000"/>
          </a:xfrm>
          <a:custGeom>
            <a:avLst/>
            <a:gdLst/>
            <a:ahLst/>
            <a:cxnLst/>
            <a:rect l="l" t="t" r="r" b="b"/>
            <a:pathLst>
              <a:path w="5334000" h="4953000">
                <a:moveTo>
                  <a:pt x="114300" y="0"/>
                </a:moveTo>
                <a:lnTo>
                  <a:pt x="5219700" y="0"/>
                </a:lnTo>
                <a:cubicBezTo>
                  <a:pt x="5282826" y="0"/>
                  <a:pt x="5334000" y="51174"/>
                  <a:pt x="5334000" y="114300"/>
                </a:cubicBezTo>
                <a:lnTo>
                  <a:pt x="5334000" y="4838700"/>
                </a:lnTo>
                <a:cubicBezTo>
                  <a:pt x="5334000" y="4901826"/>
                  <a:pt x="5282826" y="4953000"/>
                  <a:pt x="5219700" y="4953000"/>
                </a:cubicBezTo>
                <a:lnTo>
                  <a:pt x="114300" y="4953000"/>
                </a:lnTo>
                <a:cubicBezTo>
                  <a:pt x="51174" y="4953000"/>
                  <a:pt x="0" y="4901826"/>
                  <a:pt x="0" y="48387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571500" y="1143000"/>
            <a:ext cx="5334000" cy="57150"/>
          </a:xfrm>
          <a:custGeom>
            <a:avLst/>
            <a:gdLst/>
            <a:ahLst/>
            <a:cxnLst/>
            <a:rect l="l" t="t" r="r" b="b"/>
            <a:pathLst>
              <a:path w="5334000" h="57150">
                <a:moveTo>
                  <a:pt x="28575" y="0"/>
                </a:moveTo>
                <a:lnTo>
                  <a:pt x="5305425" y="0"/>
                </a:lnTo>
                <a:cubicBezTo>
                  <a:pt x="5321207" y="0"/>
                  <a:pt x="5334000" y="12793"/>
                  <a:pt x="5334000" y="28575"/>
                </a:cubicBezTo>
                <a:lnTo>
                  <a:pt x="5334000" y="28575"/>
                </a:lnTo>
                <a:cubicBezTo>
                  <a:pt x="5334000" y="44357"/>
                  <a:pt x="5321207" y="57150"/>
                  <a:pt x="5305425" y="57150"/>
                </a:cubicBezTo>
                <a:lnTo>
                  <a:pt x="28575" y="57150"/>
                </a:lnTo>
                <a:cubicBezTo>
                  <a:pt x="12793" y="57150"/>
                  <a:pt x="0" y="44357"/>
                  <a:pt x="0" y="285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4A90D9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947166" y="1505902"/>
            <a:ext cx="38703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WHAT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44880" y="1790700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B3A5C"/>
                </a:solidFill>
                <a:latin typeface="Microsoft YaHei"/>
                <a:ea typeface="Microsoft YaHei"/>
                <a:cs typeface="Microsoft YaHei"/>
              </a:rPr>
              <a:t>表达内容</a:t>
            </a:r>
          </a:p>
        </p:txBody>
      </p:sp>
      <p:sp>
        <p:nvSpPr>
          <p:cNvPr id="10" name="Line 10"/>
          <p:cNvSpPr/>
          <p:nvPr/>
        </p:nvSpPr>
        <p:spPr>
          <a:xfrm>
            <a:off x="952500" y="2190750"/>
            <a:ext cx="4572000" cy="9525"/>
          </a:xfrm>
          <a:custGeom>
            <a:avLst/>
            <a:gdLst/>
            <a:ahLst/>
            <a:cxnLst/>
            <a:rect l="l" t="t" r="r" b="b"/>
            <a:pathLst>
              <a:path w="4572000" h="9525">
                <a:moveTo>
                  <a:pt x="0" y="0"/>
                </a:moveTo>
                <a:lnTo>
                  <a:pt x="4572000" y="0"/>
                </a:lnTo>
              </a:path>
            </a:pathLst>
          </a:custGeom>
          <a:noFill/>
          <a:ln w="9525">
            <a:solidFill>
              <a:srgbClr val="E0E0E0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952500" y="2476500"/>
            <a:ext cx="4572000" cy="28575"/>
          </a:xfrm>
          <a:prstGeom prst="rect">
            <a:avLst/>
          </a:prstGeom>
          <a:solidFill>
            <a:srgbClr val="4A90D9">
              <a:alpha val="20000"/>
            </a:srgbClr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945642" y="2616518"/>
            <a:ext cx="3953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前端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46785" y="2878931"/>
            <a:ext cx="213169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流畅、自信、有节奏的口头语言</a:t>
            </a:r>
          </a:p>
        </p:txBody>
      </p:sp>
      <p:sp>
        <p:nvSpPr>
          <p:cNvPr id="14" name="Rectangle 14"/>
          <p:cNvSpPr/>
          <p:nvPr/>
        </p:nvSpPr>
        <p:spPr>
          <a:xfrm>
            <a:off x="952500" y="3333750"/>
            <a:ext cx="4572000" cy="28575"/>
          </a:xfrm>
          <a:prstGeom prst="rect">
            <a:avLst/>
          </a:prstGeom>
          <a:solidFill>
            <a:srgbClr val="4A90D9">
              <a:alpha val="20000"/>
            </a:srgbClr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945642" y="3473768"/>
            <a:ext cx="39536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后端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46785" y="3736181"/>
            <a:ext cx="2355723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PPT、数据、逻辑链里的严谨底稿</a:t>
            </a:r>
          </a:p>
        </p:txBody>
      </p:sp>
      <p:sp>
        <p:nvSpPr>
          <p:cNvPr id="17" name="Rectangle 17"/>
          <p:cNvSpPr/>
          <p:nvPr/>
        </p:nvSpPr>
        <p:spPr>
          <a:xfrm>
            <a:off x="952500" y="4191000"/>
            <a:ext cx="4572000" cy="28575"/>
          </a:xfrm>
          <a:prstGeom prst="rect">
            <a:avLst/>
          </a:prstGeom>
          <a:solidFill>
            <a:srgbClr val="4A90D9">
              <a:alpha val="20000"/>
            </a:srgbClr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945642" y="4331018"/>
            <a:ext cx="58618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护城河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46785" y="4593431"/>
            <a:ext cx="182880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预判听众挑战点和对应答案</a:t>
            </a:r>
          </a:p>
        </p:txBody>
      </p:sp>
      <p:sp>
        <p:nvSpPr>
          <p:cNvPr id="20" name="Freeform 20"/>
          <p:cNvSpPr/>
          <p:nvPr/>
        </p:nvSpPr>
        <p:spPr>
          <a:xfrm>
            <a:off x="952500" y="5143500"/>
            <a:ext cx="4572000" cy="666750"/>
          </a:xfrm>
          <a:custGeom>
            <a:avLst/>
            <a:gdLst/>
            <a:ahLst/>
            <a:cxnLst/>
            <a:rect l="l" t="t" r="r" b="b"/>
            <a:pathLst>
              <a:path w="4572000" h="666750">
                <a:moveTo>
                  <a:pt x="57150" y="0"/>
                </a:moveTo>
                <a:lnTo>
                  <a:pt x="4514850" y="0"/>
                </a:lnTo>
                <a:cubicBezTo>
                  <a:pt x="4546413" y="0"/>
                  <a:pt x="4572000" y="25587"/>
                  <a:pt x="4572000" y="57150"/>
                </a:cubicBezTo>
                <a:lnTo>
                  <a:pt x="4572000" y="609600"/>
                </a:lnTo>
                <a:cubicBezTo>
                  <a:pt x="4572000" y="641163"/>
                  <a:pt x="4546413" y="666750"/>
                  <a:pt x="4514850" y="666750"/>
                </a:cubicBezTo>
                <a:lnTo>
                  <a:pt x="57150" y="666750"/>
                </a:lnTo>
                <a:cubicBezTo>
                  <a:pt x="25587" y="666750"/>
                  <a:pt x="0" y="641163"/>
                  <a:pt x="0" y="60960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4A90D9">
              <a:alpha val="8000"/>
            </a:srgbClr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2083866" y="5307806"/>
            <a:ext cx="230926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半书面 = 口头 + 书面底稿 + 审查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446020" y="5543074"/>
            <a:ext cx="158496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经得起听众审查的公众发言</a:t>
            </a:r>
          </a:p>
        </p:txBody>
      </p:sp>
      <p:sp>
        <p:nvSpPr>
          <p:cNvPr id="23" name="Freeform 23"/>
          <p:cNvSpPr/>
          <p:nvPr/>
        </p:nvSpPr>
        <p:spPr>
          <a:xfrm>
            <a:off x="6286500" y="1143000"/>
            <a:ext cx="5334000" cy="4953000"/>
          </a:xfrm>
          <a:custGeom>
            <a:avLst/>
            <a:gdLst/>
            <a:ahLst/>
            <a:cxnLst/>
            <a:rect l="l" t="t" r="r" b="b"/>
            <a:pathLst>
              <a:path w="5334000" h="4953000">
                <a:moveTo>
                  <a:pt x="114300" y="0"/>
                </a:moveTo>
                <a:lnTo>
                  <a:pt x="5219700" y="0"/>
                </a:lnTo>
                <a:cubicBezTo>
                  <a:pt x="5282826" y="0"/>
                  <a:pt x="5334000" y="51174"/>
                  <a:pt x="5334000" y="114300"/>
                </a:cubicBezTo>
                <a:lnTo>
                  <a:pt x="5334000" y="4838700"/>
                </a:lnTo>
                <a:cubicBezTo>
                  <a:pt x="5334000" y="4901826"/>
                  <a:pt x="5282826" y="4953000"/>
                  <a:pt x="5219700" y="4953000"/>
                </a:cubicBezTo>
                <a:lnTo>
                  <a:pt x="114300" y="4953000"/>
                </a:lnTo>
                <a:cubicBezTo>
                  <a:pt x="51174" y="4953000"/>
                  <a:pt x="0" y="4901826"/>
                  <a:pt x="0" y="48387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8F0"/>
          </a:solidFill>
          <a:ln>
            <a:noFill/>
          </a:ln>
        </p:spPr>
      </p:sp>
      <p:sp>
        <p:nvSpPr>
          <p:cNvPr id="24" name="Freeform 24"/>
          <p:cNvSpPr/>
          <p:nvPr/>
        </p:nvSpPr>
        <p:spPr>
          <a:xfrm>
            <a:off x="6286500" y="1143000"/>
            <a:ext cx="5334000" cy="57150"/>
          </a:xfrm>
          <a:custGeom>
            <a:avLst/>
            <a:gdLst/>
            <a:ahLst/>
            <a:cxnLst/>
            <a:rect l="l" t="t" r="r" b="b"/>
            <a:pathLst>
              <a:path w="5334000" h="57150">
                <a:moveTo>
                  <a:pt x="28575" y="0"/>
                </a:moveTo>
                <a:lnTo>
                  <a:pt x="5305425" y="0"/>
                </a:lnTo>
                <a:cubicBezTo>
                  <a:pt x="5321207" y="0"/>
                  <a:pt x="5334000" y="12793"/>
                  <a:pt x="5334000" y="28575"/>
                </a:cubicBezTo>
                <a:lnTo>
                  <a:pt x="5334000" y="28575"/>
                </a:lnTo>
                <a:cubicBezTo>
                  <a:pt x="5334000" y="44357"/>
                  <a:pt x="5321207" y="57150"/>
                  <a:pt x="5305425" y="57150"/>
                </a:cubicBezTo>
                <a:lnTo>
                  <a:pt x="28575" y="57150"/>
                </a:lnTo>
                <a:cubicBezTo>
                  <a:pt x="12793" y="57150"/>
                  <a:pt x="0" y="44357"/>
                  <a:pt x="0" y="2857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E87722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6662166" y="1505902"/>
            <a:ext cx="33214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E87722"/>
                </a:solidFill>
                <a:latin typeface="Microsoft YaHei"/>
                <a:ea typeface="Microsoft YaHei"/>
                <a:cs typeface="Microsoft YaHei"/>
              </a:rPr>
              <a:t>HOW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6659880" y="1790700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1B3A5C"/>
                </a:solidFill>
                <a:latin typeface="Microsoft YaHei"/>
                <a:ea typeface="Microsoft YaHei"/>
                <a:cs typeface="Microsoft YaHei"/>
              </a:rPr>
              <a:t>表达方式</a:t>
            </a:r>
          </a:p>
        </p:txBody>
      </p:sp>
      <p:sp>
        <p:nvSpPr>
          <p:cNvPr id="27" name="Line 27"/>
          <p:cNvSpPr/>
          <p:nvPr/>
        </p:nvSpPr>
        <p:spPr>
          <a:xfrm>
            <a:off x="6667500" y="2190750"/>
            <a:ext cx="4572000" cy="9525"/>
          </a:xfrm>
          <a:custGeom>
            <a:avLst/>
            <a:gdLst/>
            <a:ahLst/>
            <a:cxnLst/>
            <a:rect l="l" t="t" r="r" b="b"/>
            <a:pathLst>
              <a:path w="4572000" h="9525">
                <a:moveTo>
                  <a:pt x="0" y="0"/>
                </a:moveTo>
                <a:lnTo>
                  <a:pt x="4572000" y="0"/>
                </a:lnTo>
              </a:path>
            </a:pathLst>
          </a:custGeom>
          <a:noFill/>
          <a:ln w="9525">
            <a:solidFill>
              <a:srgbClr val="F0E0D0"/>
            </a:solidFill>
          </a:ln>
        </p:spPr>
      </p:sp>
      <p:sp>
        <p:nvSpPr>
          <p:cNvPr id="28" name="Freeform 28"/>
          <p:cNvSpPr/>
          <p:nvPr/>
        </p:nvSpPr>
        <p:spPr>
          <a:xfrm>
            <a:off x="6667500" y="2476500"/>
            <a:ext cx="4572000" cy="571500"/>
          </a:xfrm>
          <a:custGeom>
            <a:avLst/>
            <a:gdLst/>
            <a:ahLst/>
            <a:cxnLst/>
            <a:rect l="l" t="t" r="r" b="b"/>
            <a:pathLst>
              <a:path w="4572000" h="571500">
                <a:moveTo>
                  <a:pt x="57150" y="0"/>
                </a:moveTo>
                <a:lnTo>
                  <a:pt x="4514850" y="0"/>
                </a:lnTo>
                <a:cubicBezTo>
                  <a:pt x="4546413" y="0"/>
                  <a:pt x="4572000" y="25587"/>
                  <a:pt x="4572000" y="57150"/>
                </a:cubicBezTo>
                <a:lnTo>
                  <a:pt x="4572000" y="514350"/>
                </a:lnTo>
                <a:cubicBezTo>
                  <a:pt x="4572000" y="545913"/>
                  <a:pt x="4546413" y="571500"/>
                  <a:pt x="4514850" y="571500"/>
                </a:cubicBezTo>
                <a:lnTo>
                  <a:pt x="57150" y="571500"/>
                </a:lnTo>
                <a:cubicBezTo>
                  <a:pt x="25587" y="571500"/>
                  <a:pt x="0" y="545913"/>
                  <a:pt x="0" y="5143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8087935" y="2692718"/>
            <a:ext cx="173113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1B3A5C"/>
                </a:solidFill>
                <a:latin typeface="Microsoft YaHei"/>
                <a:ea typeface="Microsoft YaHei"/>
                <a:cs typeface="Microsoft YaHei"/>
              </a:rPr>
              <a:t>本质：一种认知压榨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661404" y="3394710"/>
            <a:ext cx="10044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87722"/>
                </a:solidFill>
                <a:latin typeface="Microsoft YaHei"/>
                <a:ea typeface="Microsoft YaHei"/>
                <a:cs typeface="Microsoft YaHei"/>
              </a:rPr>
              <a:t>① 流畅性启发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852285" y="3669506"/>
            <a:ext cx="139717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感觉轻松 = 感觉正确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853047" y="3923824"/>
            <a:ext cx="158496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大脑依赖处理体验而非内容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661404" y="4394835"/>
            <a:ext cx="117409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87722"/>
                </a:solidFill>
                <a:latin typeface="Microsoft YaHei"/>
                <a:ea typeface="Microsoft YaHei"/>
                <a:cs typeface="Microsoft YaHei"/>
              </a:rPr>
              <a:t>② 场景表达模式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852285" y="4669631"/>
            <a:ext cx="174550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钩子 → 结论 → 观点 → 行动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6853047" y="4923949"/>
            <a:ext cx="119119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结构化降低认知负担</a:t>
            </a:r>
          </a:p>
        </p:txBody>
      </p:sp>
      <p:sp>
        <p:nvSpPr>
          <p:cNvPr id="36" name="Freeform 36"/>
          <p:cNvSpPr/>
          <p:nvPr/>
        </p:nvSpPr>
        <p:spPr>
          <a:xfrm>
            <a:off x="6667500" y="5286375"/>
            <a:ext cx="4572000" cy="571500"/>
          </a:xfrm>
          <a:custGeom>
            <a:avLst/>
            <a:gdLst/>
            <a:ahLst/>
            <a:cxnLst/>
            <a:rect l="l" t="t" r="r" b="b"/>
            <a:pathLst>
              <a:path w="4572000" h="571500">
                <a:moveTo>
                  <a:pt x="57150" y="0"/>
                </a:moveTo>
                <a:lnTo>
                  <a:pt x="4514850" y="0"/>
                </a:lnTo>
                <a:cubicBezTo>
                  <a:pt x="4546413" y="0"/>
                  <a:pt x="4572000" y="25587"/>
                  <a:pt x="4572000" y="57150"/>
                </a:cubicBezTo>
                <a:lnTo>
                  <a:pt x="4572000" y="514350"/>
                </a:lnTo>
                <a:cubicBezTo>
                  <a:pt x="4572000" y="545913"/>
                  <a:pt x="4546413" y="571500"/>
                  <a:pt x="4514850" y="571500"/>
                </a:cubicBezTo>
                <a:lnTo>
                  <a:pt x="57150" y="571500"/>
                </a:lnTo>
                <a:cubicBezTo>
                  <a:pt x="25587" y="571500"/>
                  <a:pt x="0" y="545913"/>
                  <a:pt x="0" y="5143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87722">
              <a:alpha val="10000"/>
            </a:srgbClr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7914156" y="5517356"/>
            <a:ext cx="207868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b="1" dirty="0">
                <a:solidFill>
                  <a:srgbClr val="E87722"/>
                </a:solidFill>
                <a:latin typeface="Microsoft YaHei"/>
                <a:ea typeface="Microsoft YaHei"/>
                <a:cs typeface="Microsoft YaHei"/>
              </a:rPr>
              <a:t>即时表达更重要的是表达方式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857250"/>
          </a:xfrm>
          <a:prstGeom prst="rect">
            <a:avLst/>
          </a:prstGeom>
          <a:solidFill>
            <a:srgbClr val="1B3A5C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0832" y="325755"/>
            <a:ext cx="2396033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表达内容四大原则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141640" y="4391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02 / 06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1095375"/>
            <a:ext cx="11049000" cy="1238250"/>
          </a:xfrm>
          <a:custGeom>
            <a:avLst/>
            <a:gdLst/>
            <a:ahLst/>
            <a:cxnLst/>
            <a:rect l="l" t="t" r="r" b="b"/>
            <a:pathLst>
              <a:path w="11049000" h="123825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1162050"/>
                </a:lnTo>
                <a:cubicBezTo>
                  <a:pt x="11049000" y="1204134"/>
                  <a:pt x="11014884" y="1238250"/>
                  <a:pt x="10972800" y="1238250"/>
                </a:cubicBezTo>
                <a:lnTo>
                  <a:pt x="76200" y="1238250"/>
                </a:lnTo>
                <a:cubicBezTo>
                  <a:pt x="34116" y="1238250"/>
                  <a:pt x="0" y="1204134"/>
                  <a:pt x="0" y="1162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933450" y="1403985"/>
            <a:ext cx="691142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200" b="1" dirty="0">
                <a:solidFill>
                  <a:srgbClr val="4A90D9">
                    <a:alphaMod val="15000"/>
                  </a:srgbClr>
                </a:solidFill>
                <a:latin typeface="Microsoft YaHei"/>
                <a:ea typeface="Microsoft YaHei"/>
                <a:cs typeface="Microsoft YaHei"/>
              </a:rPr>
              <a:t>00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991868" y="1345882"/>
            <a:ext cx="1416139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B3A5C"/>
                </a:solidFill>
                <a:latin typeface="Microsoft YaHei"/>
                <a:ea typeface="Microsoft YaHei"/>
                <a:cs typeface="Microsoft YaHei"/>
              </a:rPr>
              <a:t>目的决定形式</a:t>
            </a:r>
          </a:p>
        </p:txBody>
      </p:sp>
      <p:sp>
        <p:nvSpPr>
          <p:cNvPr id="9" name="Rectangle 9"/>
          <p:cNvSpPr/>
          <p:nvPr/>
        </p:nvSpPr>
        <p:spPr>
          <a:xfrm>
            <a:off x="2000250" y="1638300"/>
            <a:ext cx="381000" cy="19050"/>
          </a:xfrm>
          <a:prstGeom prst="rect">
            <a:avLst/>
          </a:prstGeom>
          <a:solidFill>
            <a:srgbClr val="E87722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994154" y="1775460"/>
            <a:ext cx="372770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没有野心的表达，技巧沦为套路，大脑拒绝全力运转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994916" y="2058352"/>
            <a:ext cx="324053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→ 潜意识知道这次表达没有野心，所以拒绝全力运转</a:t>
            </a:r>
          </a:p>
        </p:txBody>
      </p:sp>
      <p:sp>
        <p:nvSpPr>
          <p:cNvPr id="12" name="Freeform 12"/>
          <p:cNvSpPr/>
          <p:nvPr/>
        </p:nvSpPr>
        <p:spPr>
          <a:xfrm>
            <a:off x="571500" y="2476500"/>
            <a:ext cx="11049000" cy="1238250"/>
          </a:xfrm>
          <a:custGeom>
            <a:avLst/>
            <a:gdLst/>
            <a:ahLst/>
            <a:cxnLst/>
            <a:rect l="l" t="t" r="r" b="b"/>
            <a:pathLst>
              <a:path w="11049000" h="123825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1162050"/>
                </a:lnTo>
                <a:cubicBezTo>
                  <a:pt x="11049000" y="1204134"/>
                  <a:pt x="11014884" y="1238250"/>
                  <a:pt x="10972800" y="1238250"/>
                </a:cubicBezTo>
                <a:lnTo>
                  <a:pt x="76200" y="1238250"/>
                </a:lnTo>
                <a:cubicBezTo>
                  <a:pt x="34116" y="1238250"/>
                  <a:pt x="0" y="1204134"/>
                  <a:pt x="0" y="1162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933450" y="2785110"/>
            <a:ext cx="691142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200" b="1" dirty="0">
                <a:solidFill>
                  <a:srgbClr val="4A90D9">
                    <a:alphaMod val="15000"/>
                  </a:srgbClr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991868" y="2727008"/>
            <a:ext cx="118291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B3A5C"/>
                </a:solidFill>
                <a:latin typeface="Microsoft YaHei"/>
                <a:ea typeface="Microsoft YaHei"/>
                <a:cs typeface="Microsoft YaHei"/>
              </a:rPr>
              <a:t>时间有限性</a:t>
            </a:r>
          </a:p>
        </p:txBody>
      </p:sp>
      <p:sp>
        <p:nvSpPr>
          <p:cNvPr id="15" name="Rectangle 15"/>
          <p:cNvSpPr/>
          <p:nvPr/>
        </p:nvSpPr>
        <p:spPr>
          <a:xfrm>
            <a:off x="2000250" y="3019425"/>
            <a:ext cx="381000" cy="19050"/>
          </a:xfrm>
          <a:prstGeom prst="rect">
            <a:avLst/>
          </a:prstGeom>
          <a:solidFill>
            <a:srgbClr val="E87722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1994154" y="3156585"/>
            <a:ext cx="324307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注意力窗口有限，耐心有限，说太多引起反感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994916" y="3439478"/>
            <a:ext cx="253378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→ 尊重听众的时间，抓重点（只抓三点）</a:t>
            </a:r>
          </a:p>
        </p:txBody>
      </p:sp>
      <p:sp>
        <p:nvSpPr>
          <p:cNvPr id="18" name="Freeform 18"/>
          <p:cNvSpPr/>
          <p:nvPr/>
        </p:nvSpPr>
        <p:spPr>
          <a:xfrm>
            <a:off x="571500" y="3857625"/>
            <a:ext cx="11049000" cy="1238250"/>
          </a:xfrm>
          <a:custGeom>
            <a:avLst/>
            <a:gdLst/>
            <a:ahLst/>
            <a:cxnLst/>
            <a:rect l="l" t="t" r="r" b="b"/>
            <a:pathLst>
              <a:path w="11049000" h="123825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1162050"/>
                </a:lnTo>
                <a:cubicBezTo>
                  <a:pt x="11049000" y="1204134"/>
                  <a:pt x="11014884" y="1238250"/>
                  <a:pt x="10972800" y="1238250"/>
                </a:cubicBezTo>
                <a:lnTo>
                  <a:pt x="76200" y="1238250"/>
                </a:lnTo>
                <a:cubicBezTo>
                  <a:pt x="34116" y="1238250"/>
                  <a:pt x="0" y="1204134"/>
                  <a:pt x="0" y="1162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933450" y="4166235"/>
            <a:ext cx="691142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200" b="1" dirty="0">
                <a:solidFill>
                  <a:srgbClr val="4A90D9">
                    <a:alphaMod val="15000"/>
                  </a:srgbClr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991868" y="4108132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B3A5C"/>
                </a:solidFill>
                <a:latin typeface="Microsoft YaHei"/>
                <a:ea typeface="Microsoft YaHei"/>
                <a:cs typeface="Microsoft YaHei"/>
              </a:rPr>
              <a:t>时间线性</a:t>
            </a:r>
          </a:p>
        </p:txBody>
      </p:sp>
      <p:sp>
        <p:nvSpPr>
          <p:cNvPr id="21" name="Rectangle 21"/>
          <p:cNvSpPr/>
          <p:nvPr/>
        </p:nvSpPr>
        <p:spPr>
          <a:xfrm>
            <a:off x="2000250" y="4400550"/>
            <a:ext cx="381000" cy="19050"/>
          </a:xfrm>
          <a:prstGeom prst="rect">
            <a:avLst/>
          </a:prstGeom>
          <a:solidFill>
            <a:srgbClr val="E87722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1994154" y="4537710"/>
            <a:ext cx="340461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说完就没了，无法倒带。用短句、重复、口语词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994916" y="4820602"/>
            <a:ext cx="352044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→ 主动标定重点（复述或PPT标题），确保信息一次过</a:t>
            </a:r>
          </a:p>
        </p:txBody>
      </p:sp>
      <p:sp>
        <p:nvSpPr>
          <p:cNvPr id="24" name="Freeform 24"/>
          <p:cNvSpPr/>
          <p:nvPr/>
        </p:nvSpPr>
        <p:spPr>
          <a:xfrm>
            <a:off x="571500" y="5238750"/>
            <a:ext cx="11049000" cy="1238250"/>
          </a:xfrm>
          <a:custGeom>
            <a:avLst/>
            <a:gdLst/>
            <a:ahLst/>
            <a:cxnLst/>
            <a:rect l="l" t="t" r="r" b="b"/>
            <a:pathLst>
              <a:path w="11049000" h="123825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1162050"/>
                </a:lnTo>
                <a:cubicBezTo>
                  <a:pt x="11049000" y="1204134"/>
                  <a:pt x="11014884" y="1238250"/>
                  <a:pt x="10972800" y="1238250"/>
                </a:cubicBezTo>
                <a:lnTo>
                  <a:pt x="76200" y="1238250"/>
                </a:lnTo>
                <a:cubicBezTo>
                  <a:pt x="34116" y="1238250"/>
                  <a:pt x="0" y="1204134"/>
                  <a:pt x="0" y="1162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1B3A5C"/>
          </a:solidFill>
          <a:ln>
            <a:noFill/>
          </a:ln>
        </p:spPr>
      </p:sp>
      <p:sp>
        <p:nvSpPr>
          <p:cNvPr id="25" name="TextBox 25"/>
          <p:cNvSpPr txBox="1"/>
          <p:nvPr/>
        </p:nvSpPr>
        <p:spPr>
          <a:xfrm>
            <a:off x="933450" y="5547360"/>
            <a:ext cx="691142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200" b="1" dirty="0">
                <a:solidFill>
                  <a:srgbClr val="E87722">
                    <a:alphaMod val="20000"/>
                  </a:srgbClr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991868" y="5489258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认知带宽</a:t>
            </a:r>
          </a:p>
        </p:txBody>
      </p:sp>
      <p:sp>
        <p:nvSpPr>
          <p:cNvPr id="27" name="Rectangle 27"/>
          <p:cNvSpPr/>
          <p:nvPr/>
        </p:nvSpPr>
        <p:spPr>
          <a:xfrm>
            <a:off x="2000250" y="5781675"/>
            <a:ext cx="381000" cy="19050"/>
          </a:xfrm>
          <a:prstGeom prst="rect">
            <a:avLst/>
          </a:prstGeom>
          <a:solidFill>
            <a:srgbClr val="E87722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1994154" y="5918835"/>
            <a:ext cx="446272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C0D5EA"/>
                </a:solidFill>
                <a:latin typeface="Microsoft YaHei"/>
                <a:ea typeface="Microsoft YaHei"/>
                <a:cs typeface="Microsoft YaHei"/>
              </a:rPr>
              <a:t>需要低压信息，废话是缓冲带，听众在理解+判断（双线任务）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994916" y="6201728"/>
            <a:ext cx="295783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FAFC4"/>
                </a:solidFill>
                <a:latin typeface="Microsoft YaHei"/>
                <a:ea typeface="Microsoft YaHei"/>
                <a:cs typeface="Microsoft YaHei"/>
              </a:rPr>
              <a:t>→ 允许语气词（嗯、啊），它们是大脑的休息区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857250"/>
          </a:xfrm>
          <a:prstGeom prst="rect">
            <a:avLst/>
          </a:prstGeom>
          <a:solidFill>
            <a:srgbClr val="1B3A5C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0832" y="325755"/>
            <a:ext cx="3197493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权威来源：信任 vs 权威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141640" y="4391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03 / 06</a:t>
            </a:r>
          </a:p>
        </p:txBody>
      </p:sp>
      <p:sp>
        <p:nvSpPr>
          <p:cNvPr id="6" name="Ellipse 6"/>
          <p:cNvSpPr/>
          <p:nvPr/>
        </p:nvSpPr>
        <p:spPr>
          <a:xfrm>
            <a:off x="1714500" y="1143000"/>
            <a:ext cx="3048000" cy="3048000"/>
          </a:xfrm>
          <a:prstGeom prst="ellipse">
            <a:avLst/>
          </a:prstGeom>
          <a:solidFill>
            <a:srgbClr val="FFF8F0">
              <a:alpha val="90000"/>
            </a:srgbClr>
          </a:solidFill>
          <a:ln w="19050">
            <a:solidFill>
              <a:srgbClr val="E87722">
                <a:alpha val="90000"/>
              </a:srgbClr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2817594" y="2077402"/>
            <a:ext cx="84181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E87722"/>
                </a:solidFill>
                <a:latin typeface="Microsoft YaHei"/>
                <a:ea typeface="Microsoft YaHei"/>
                <a:cs typeface="Microsoft YaHei"/>
              </a:rPr>
              <a:t>EMOTIONAL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930995" y="2297430"/>
            <a:ext cx="615010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1B3A5C"/>
                </a:solidFill>
                <a:latin typeface="Microsoft YaHei"/>
                <a:ea typeface="Microsoft YaHei"/>
                <a:cs typeface="Microsoft YaHei"/>
              </a:rPr>
              <a:t>信任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950464" y="2696528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情感层面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840660" y="3061335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✓ 自信流畅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840660" y="3347085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✓ 眼神交流</a:t>
            </a:r>
          </a:p>
        </p:txBody>
      </p:sp>
      <p:sp>
        <p:nvSpPr>
          <p:cNvPr id="12" name="Ellipse 12"/>
          <p:cNvSpPr/>
          <p:nvPr/>
        </p:nvSpPr>
        <p:spPr>
          <a:xfrm>
            <a:off x="5905500" y="1143000"/>
            <a:ext cx="3048000" cy="3048000"/>
          </a:xfrm>
          <a:prstGeom prst="ellipse">
            <a:avLst/>
          </a:prstGeom>
          <a:solidFill>
            <a:srgbClr val="EBF4FC">
              <a:alpha val="90000"/>
            </a:srgbClr>
          </a:solidFill>
          <a:ln w="19050">
            <a:solidFill>
              <a:srgbClr val="4A90D9">
                <a:alpha val="90000"/>
              </a:srgbClr>
            </a:solidFill>
          </a:ln>
        </p:spPr>
      </p:sp>
      <p:sp>
        <p:nvSpPr>
          <p:cNvPr id="13" name="TextBox 13"/>
          <p:cNvSpPr txBox="1"/>
          <p:nvPr/>
        </p:nvSpPr>
        <p:spPr>
          <a:xfrm>
            <a:off x="7083083" y="2077402"/>
            <a:ext cx="69283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RATIONAL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21995" y="2297430"/>
            <a:ext cx="615010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b="1" dirty="0">
                <a:solidFill>
                  <a:srgbClr val="1B3A5C"/>
                </a:solidFill>
                <a:latin typeface="Microsoft YaHei"/>
                <a:ea typeface="Microsoft YaHei"/>
                <a:cs typeface="Microsoft YaHei"/>
              </a:rPr>
              <a:t>权威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141464" y="2696528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理性层面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031660" y="3061335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✓ 数据支撑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031660" y="3347085"/>
            <a:ext cx="79568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✓ 逻辑自洽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132165" y="2561749"/>
            <a:ext cx="40367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交叠区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132165" y="2752249"/>
            <a:ext cx="40367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8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最高效</a:t>
            </a:r>
          </a:p>
        </p:txBody>
      </p:sp>
      <p:sp>
        <p:nvSpPr>
          <p:cNvPr id="20" name="Freeform 20"/>
          <p:cNvSpPr/>
          <p:nvPr/>
        </p:nvSpPr>
        <p:spPr>
          <a:xfrm>
            <a:off x="571500" y="4667250"/>
            <a:ext cx="5334000" cy="1524000"/>
          </a:xfrm>
          <a:custGeom>
            <a:avLst/>
            <a:gdLst/>
            <a:ahLst/>
            <a:cxnLst/>
            <a:rect l="l" t="t" r="r" b="b"/>
            <a:pathLst>
              <a:path w="5334000" h="152400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1447800"/>
                </a:lnTo>
                <a:cubicBezTo>
                  <a:pt x="5334000" y="1489884"/>
                  <a:pt x="5299884" y="1524000"/>
                  <a:pt x="5257800" y="1524000"/>
                </a:cubicBezTo>
                <a:lnTo>
                  <a:pt x="76200" y="1524000"/>
                </a:lnTo>
                <a:cubicBezTo>
                  <a:pt x="34116" y="1524000"/>
                  <a:pt x="0" y="1489884"/>
                  <a:pt x="0" y="1447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8F0"/>
          </a:solidFill>
          <a:ln>
            <a:noFill/>
          </a:ln>
        </p:spPr>
      </p:sp>
      <p:sp>
        <p:nvSpPr>
          <p:cNvPr id="21" name="Freeform 21"/>
          <p:cNvSpPr/>
          <p:nvPr/>
        </p:nvSpPr>
        <p:spPr>
          <a:xfrm>
            <a:off x="571500" y="4667250"/>
            <a:ext cx="5334000" cy="47625"/>
          </a:xfrm>
          <a:custGeom>
            <a:avLst/>
            <a:gdLst/>
            <a:ahLst/>
            <a:cxnLst/>
            <a:rect l="l" t="t" r="r" b="b"/>
            <a:pathLst>
              <a:path w="5334000" h="47625">
                <a:moveTo>
                  <a:pt x="23812" y="0"/>
                </a:moveTo>
                <a:lnTo>
                  <a:pt x="5310188" y="0"/>
                </a:lnTo>
                <a:cubicBezTo>
                  <a:pt x="5323339" y="0"/>
                  <a:pt x="5334000" y="10661"/>
                  <a:pt x="5334000" y="23812"/>
                </a:cubicBezTo>
                <a:lnTo>
                  <a:pt x="5334000" y="23812"/>
                </a:lnTo>
                <a:cubicBezTo>
                  <a:pt x="5334000" y="36964"/>
                  <a:pt x="5323339" y="47625"/>
                  <a:pt x="5310188" y="47625"/>
                </a:cubicBezTo>
                <a:lnTo>
                  <a:pt x="23812" y="47625"/>
                </a:lnTo>
                <a:cubicBezTo>
                  <a:pt x="10661" y="47625"/>
                  <a:pt x="0" y="36964"/>
                  <a:pt x="0" y="23812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E87722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946404" y="4966335"/>
            <a:ext cx="8602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87722"/>
                </a:solidFill>
                <a:latin typeface="Microsoft YaHei"/>
                <a:ea typeface="Microsoft YaHei"/>
                <a:cs typeface="Microsoft YaHei"/>
              </a:rPr>
              <a:t>信任的威力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45642" y="5283518"/>
            <a:ext cx="134948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B3A5C"/>
                </a:solidFill>
                <a:latin typeface="Microsoft YaHei"/>
                <a:ea typeface="Microsoft YaHei"/>
                <a:cs typeface="Microsoft YaHei"/>
              </a:rPr>
              <a:t>哪怕逻辑有瑕疵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45642" y="5569268"/>
            <a:ext cx="183108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听众的直觉会被带着走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47166" y="5887402"/>
            <a:ext cx="189063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关键词：情感 · 感染力 · 气场</a:t>
            </a:r>
          </a:p>
        </p:txBody>
      </p:sp>
      <p:sp>
        <p:nvSpPr>
          <p:cNvPr id="26" name="Freeform 26"/>
          <p:cNvSpPr/>
          <p:nvPr/>
        </p:nvSpPr>
        <p:spPr>
          <a:xfrm>
            <a:off x="6286500" y="4667250"/>
            <a:ext cx="5334000" cy="1524000"/>
          </a:xfrm>
          <a:custGeom>
            <a:avLst/>
            <a:gdLst/>
            <a:ahLst/>
            <a:cxnLst/>
            <a:rect l="l" t="t" r="r" b="b"/>
            <a:pathLst>
              <a:path w="5334000" h="1524000">
                <a:moveTo>
                  <a:pt x="76200" y="0"/>
                </a:moveTo>
                <a:lnTo>
                  <a:pt x="5257800" y="0"/>
                </a:lnTo>
                <a:cubicBezTo>
                  <a:pt x="5299884" y="0"/>
                  <a:pt x="5334000" y="34116"/>
                  <a:pt x="5334000" y="76200"/>
                </a:cubicBezTo>
                <a:lnTo>
                  <a:pt x="5334000" y="1447800"/>
                </a:lnTo>
                <a:cubicBezTo>
                  <a:pt x="5334000" y="1489884"/>
                  <a:pt x="5299884" y="1524000"/>
                  <a:pt x="5257800" y="1524000"/>
                </a:cubicBezTo>
                <a:lnTo>
                  <a:pt x="76200" y="1524000"/>
                </a:lnTo>
                <a:cubicBezTo>
                  <a:pt x="34116" y="1524000"/>
                  <a:pt x="0" y="1489884"/>
                  <a:pt x="0" y="1447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BF4FC"/>
          </a:solidFill>
          <a:ln>
            <a:noFill/>
          </a:ln>
        </p:spPr>
      </p:sp>
      <p:sp>
        <p:nvSpPr>
          <p:cNvPr id="27" name="Freeform 27"/>
          <p:cNvSpPr/>
          <p:nvPr/>
        </p:nvSpPr>
        <p:spPr>
          <a:xfrm>
            <a:off x="6286500" y="4667250"/>
            <a:ext cx="5334000" cy="47625"/>
          </a:xfrm>
          <a:custGeom>
            <a:avLst/>
            <a:gdLst/>
            <a:ahLst/>
            <a:cxnLst/>
            <a:rect l="l" t="t" r="r" b="b"/>
            <a:pathLst>
              <a:path w="5334000" h="47625">
                <a:moveTo>
                  <a:pt x="23812" y="0"/>
                </a:moveTo>
                <a:lnTo>
                  <a:pt x="5310188" y="0"/>
                </a:lnTo>
                <a:cubicBezTo>
                  <a:pt x="5323339" y="0"/>
                  <a:pt x="5334000" y="10661"/>
                  <a:pt x="5334000" y="23812"/>
                </a:cubicBezTo>
                <a:lnTo>
                  <a:pt x="5334000" y="23812"/>
                </a:lnTo>
                <a:cubicBezTo>
                  <a:pt x="5334000" y="36964"/>
                  <a:pt x="5323339" y="47625"/>
                  <a:pt x="5310188" y="47625"/>
                </a:cubicBezTo>
                <a:lnTo>
                  <a:pt x="23812" y="47625"/>
                </a:lnTo>
                <a:cubicBezTo>
                  <a:pt x="10661" y="47625"/>
                  <a:pt x="0" y="36964"/>
                  <a:pt x="0" y="23812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4A90D9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6661404" y="4966335"/>
            <a:ext cx="8602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权威的威力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660642" y="5283518"/>
            <a:ext cx="1158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B3A5C"/>
                </a:solidFill>
                <a:latin typeface="Microsoft YaHei"/>
                <a:ea typeface="Microsoft YaHei"/>
                <a:cs typeface="Microsoft YaHei"/>
              </a:rPr>
              <a:t>哪怕文笔枯燥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660642" y="5569268"/>
            <a:ext cx="146761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默认其为专业资料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662166" y="5887402"/>
            <a:ext cx="174928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关键词：数据 · 逻辑 · 严谨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857250"/>
          </a:xfrm>
          <a:prstGeom prst="rect">
            <a:avLst/>
          </a:prstGeom>
          <a:solidFill>
            <a:srgbClr val="1B3A5C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0832" y="325755"/>
            <a:ext cx="3286544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流畅性启发（核心原理）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141640" y="4391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04 / 06</a:t>
            </a:r>
          </a:p>
        </p:txBody>
      </p:sp>
      <p:sp>
        <p:nvSpPr>
          <p:cNvPr id="6" name="Ellipse 6"/>
          <p:cNvSpPr/>
          <p:nvPr/>
        </p:nvSpPr>
        <p:spPr>
          <a:xfrm>
            <a:off x="4953000" y="1619250"/>
            <a:ext cx="2286000" cy="2286000"/>
          </a:xfrm>
          <a:prstGeom prst="ellipse">
            <a:avLst/>
          </a:prstGeom>
          <a:solidFill>
            <a:srgbClr val="4A90D9"/>
          </a:solidFill>
          <a:ln>
            <a:noFill/>
          </a:ln>
        </p:spPr>
      </p:sp>
      <p:sp>
        <p:nvSpPr>
          <p:cNvPr id="7" name="Ellipse 7"/>
          <p:cNvSpPr/>
          <p:nvPr/>
        </p:nvSpPr>
        <p:spPr>
          <a:xfrm>
            <a:off x="5143500" y="1809750"/>
            <a:ext cx="1905000" cy="1905000"/>
          </a:xfrm>
          <a:prstGeom prst="ellipse">
            <a:avLst/>
          </a:prstGeom>
          <a:solidFill>
            <a:srgbClr val="1B3A5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5556733" y="2410778"/>
            <a:ext cx="107853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80B0E0"/>
                </a:solidFill>
                <a:latin typeface="Microsoft YaHei"/>
                <a:ea typeface="Microsoft YaHei"/>
                <a:cs typeface="Microsoft YaHei"/>
              </a:rPr>
              <a:t>CORE PRINCIPLE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504545" y="2679382"/>
            <a:ext cx="118291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流畅性启发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595938" y="3010852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80B0E0"/>
                </a:solidFill>
                <a:latin typeface="Microsoft YaHei"/>
                <a:ea typeface="Microsoft YaHei"/>
                <a:cs typeface="Microsoft YaHei"/>
              </a:rPr>
              <a:t>认知压榨的本质</a:t>
            </a:r>
          </a:p>
        </p:txBody>
      </p:sp>
      <p:sp>
        <p:nvSpPr>
          <p:cNvPr id="11" name="Freeform 11"/>
          <p:cNvSpPr/>
          <p:nvPr/>
        </p:nvSpPr>
        <p:spPr>
          <a:xfrm>
            <a:off x="4191000" y="1238250"/>
            <a:ext cx="3810000" cy="333375"/>
          </a:xfrm>
          <a:custGeom>
            <a:avLst/>
            <a:gdLst/>
            <a:ahLst/>
            <a:cxnLst/>
            <a:rect l="l" t="t" r="r" b="b"/>
            <a:pathLst>
              <a:path w="3810000" h="333375">
                <a:moveTo>
                  <a:pt x="38100" y="0"/>
                </a:moveTo>
                <a:lnTo>
                  <a:pt x="3771900" y="0"/>
                </a:lnTo>
                <a:cubicBezTo>
                  <a:pt x="3792942" y="0"/>
                  <a:pt x="3810000" y="17058"/>
                  <a:pt x="3810000" y="38100"/>
                </a:cubicBezTo>
                <a:lnTo>
                  <a:pt x="3810000" y="295275"/>
                </a:lnTo>
                <a:cubicBezTo>
                  <a:pt x="3810000" y="316317"/>
                  <a:pt x="3792942" y="333375"/>
                  <a:pt x="3771900" y="333375"/>
                </a:cubicBezTo>
                <a:lnTo>
                  <a:pt x="38100" y="333375"/>
                </a:lnTo>
                <a:cubicBezTo>
                  <a:pt x="17058" y="333375"/>
                  <a:pt x="0" y="316317"/>
                  <a:pt x="0" y="295275"/>
                </a:cubicBezTo>
                <a:lnTo>
                  <a:pt x="0" y="38100"/>
                </a:lnTo>
                <a:cubicBezTo>
                  <a:pt x="0" y="17058"/>
                  <a:pt x="17058" y="0"/>
                  <a:pt x="381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5105876" y="1345406"/>
            <a:ext cx="1980248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大脑依赖信息处理的主观体验</a:t>
            </a:r>
          </a:p>
        </p:txBody>
      </p:sp>
      <p:sp>
        <p:nvSpPr>
          <p:cNvPr id="13" name="Line 13"/>
          <p:cNvSpPr/>
          <p:nvPr/>
        </p:nvSpPr>
        <p:spPr>
          <a:xfrm>
            <a:off x="2667000" y="2667000"/>
            <a:ext cx="2381250" cy="9525"/>
          </a:xfrm>
          <a:custGeom>
            <a:avLst/>
            <a:gdLst/>
            <a:ahLst/>
            <a:cxnLst/>
            <a:rect l="l" t="t" r="r" b="b"/>
            <a:pathLst>
              <a:path w="2381250" h="9525">
                <a:moveTo>
                  <a:pt x="2381250" y="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4CAF50"/>
            </a:solidFill>
            <a:prstDash val="dash"/>
          </a:ln>
        </p:spPr>
      </p:sp>
      <p:sp>
        <p:nvSpPr>
          <p:cNvPr id="14" name="Polygon 14"/>
          <p:cNvSpPr/>
          <p:nvPr/>
        </p:nvSpPr>
        <p:spPr>
          <a:xfrm>
            <a:off x="2571750" y="2619375"/>
            <a:ext cx="142875" cy="95250"/>
          </a:xfrm>
          <a:custGeom>
            <a:avLst/>
            <a:gdLst/>
            <a:ahLst/>
            <a:cxnLst/>
            <a:rect l="l" t="t" r="r" b="b"/>
            <a:pathLst>
              <a:path w="142875" h="95250">
                <a:moveTo>
                  <a:pt x="142875" y="0"/>
                </a:moveTo>
                <a:lnTo>
                  <a:pt x="0" y="47625"/>
                </a:lnTo>
                <a:lnTo>
                  <a:pt x="142875" y="95250"/>
                </a:lnTo>
                <a:close/>
              </a:path>
            </a:pathLst>
          </a:custGeom>
          <a:solidFill>
            <a:srgbClr val="4CAF50"/>
          </a:solidFill>
          <a:ln>
            <a:noFill/>
          </a:ln>
        </p:spPr>
      </p:sp>
      <p:sp>
        <p:nvSpPr>
          <p:cNvPr id="15" name="Freeform 15"/>
          <p:cNvSpPr/>
          <p:nvPr/>
        </p:nvSpPr>
        <p:spPr>
          <a:xfrm>
            <a:off x="571500" y="2286000"/>
            <a:ext cx="2000250" cy="857250"/>
          </a:xfrm>
          <a:custGeom>
            <a:avLst/>
            <a:gdLst/>
            <a:ahLst/>
            <a:cxnLst/>
            <a:rect l="l" t="t" r="r" b="b"/>
            <a:pathLst>
              <a:path w="2000250" h="857250">
                <a:moveTo>
                  <a:pt x="76200" y="0"/>
                </a:moveTo>
                <a:lnTo>
                  <a:pt x="1924050" y="0"/>
                </a:lnTo>
                <a:cubicBezTo>
                  <a:pt x="1966134" y="0"/>
                  <a:pt x="2000250" y="34116"/>
                  <a:pt x="2000250" y="76200"/>
                </a:cubicBezTo>
                <a:lnTo>
                  <a:pt x="2000250" y="781050"/>
                </a:lnTo>
                <a:cubicBezTo>
                  <a:pt x="2000250" y="823134"/>
                  <a:pt x="1966134" y="857250"/>
                  <a:pt x="1924050" y="857250"/>
                </a:cubicBezTo>
                <a:lnTo>
                  <a:pt x="76200" y="857250"/>
                </a:lnTo>
                <a:cubicBezTo>
                  <a:pt x="34116" y="857250"/>
                  <a:pt x="0" y="823134"/>
                  <a:pt x="0" y="781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0FBF0"/>
          </a:solidFill>
          <a:ln>
            <a:noFill/>
          </a:ln>
        </p:spPr>
      </p:sp>
      <p:sp>
        <p:nvSpPr>
          <p:cNvPr id="16" name="Freeform 16"/>
          <p:cNvSpPr/>
          <p:nvPr/>
        </p:nvSpPr>
        <p:spPr>
          <a:xfrm>
            <a:off x="571500" y="2286000"/>
            <a:ext cx="47625" cy="857250"/>
          </a:xfrm>
          <a:custGeom>
            <a:avLst/>
            <a:gdLst/>
            <a:ahLst/>
            <a:cxnLst/>
            <a:rect l="l" t="t" r="r" b="b"/>
            <a:pathLst>
              <a:path w="47625" h="857250">
                <a:moveTo>
                  <a:pt x="23812" y="0"/>
                </a:moveTo>
                <a:lnTo>
                  <a:pt x="23812" y="0"/>
                </a:lnTo>
                <a:cubicBezTo>
                  <a:pt x="36964" y="0"/>
                  <a:pt x="47625" y="10661"/>
                  <a:pt x="47625" y="23812"/>
                </a:cubicBezTo>
                <a:lnTo>
                  <a:pt x="47625" y="833438"/>
                </a:lnTo>
                <a:cubicBezTo>
                  <a:pt x="47625" y="846589"/>
                  <a:pt x="36964" y="857250"/>
                  <a:pt x="23812" y="857250"/>
                </a:cubicBezTo>
                <a:lnTo>
                  <a:pt x="23812" y="857250"/>
                </a:lnTo>
                <a:cubicBezTo>
                  <a:pt x="10661" y="857250"/>
                  <a:pt x="0" y="846589"/>
                  <a:pt x="0" y="833438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4CAF50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803529" y="2442210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E7D32"/>
                </a:solidFill>
                <a:latin typeface="Microsoft YaHei"/>
                <a:ea typeface="Microsoft YaHei"/>
                <a:cs typeface="Microsoft YaHei"/>
              </a:rPr>
              <a:t>感觉轻松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04291" y="2696528"/>
            <a:ext cx="69622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= 感觉正确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04672" y="2914174"/>
            <a:ext cx="121088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处理顺畅 → 判断可信</a:t>
            </a:r>
          </a:p>
        </p:txBody>
      </p:sp>
      <p:sp>
        <p:nvSpPr>
          <p:cNvPr id="20" name="Line 20"/>
          <p:cNvSpPr/>
          <p:nvPr/>
        </p:nvSpPr>
        <p:spPr>
          <a:xfrm>
            <a:off x="7143750" y="2667000"/>
            <a:ext cx="2381250" cy="9525"/>
          </a:xfrm>
          <a:custGeom>
            <a:avLst/>
            <a:gdLst/>
            <a:ahLst/>
            <a:cxnLst/>
            <a:rect l="l" t="t" r="r" b="b"/>
            <a:pathLst>
              <a:path w="2381250" h="9525">
                <a:moveTo>
                  <a:pt x="0" y="0"/>
                </a:moveTo>
                <a:lnTo>
                  <a:pt x="2381250" y="0"/>
                </a:lnTo>
              </a:path>
            </a:pathLst>
          </a:custGeom>
          <a:noFill/>
          <a:ln w="19050">
            <a:solidFill>
              <a:srgbClr val="E53935"/>
            </a:solidFill>
            <a:prstDash val="dash"/>
          </a:ln>
        </p:spPr>
      </p:sp>
      <p:sp>
        <p:nvSpPr>
          <p:cNvPr id="21" name="Polygon 21"/>
          <p:cNvSpPr/>
          <p:nvPr/>
        </p:nvSpPr>
        <p:spPr>
          <a:xfrm>
            <a:off x="9477375" y="2619375"/>
            <a:ext cx="142875" cy="95250"/>
          </a:xfrm>
          <a:custGeom>
            <a:avLst/>
            <a:gdLst/>
            <a:ahLst/>
            <a:cxnLst/>
            <a:rect l="l" t="t" r="r" b="b"/>
            <a:pathLst>
              <a:path w="142875" h="95250">
                <a:moveTo>
                  <a:pt x="0" y="0"/>
                </a:moveTo>
                <a:lnTo>
                  <a:pt x="142875" y="47625"/>
                </a:lnTo>
                <a:lnTo>
                  <a:pt x="0" y="95250"/>
                </a:lnTo>
                <a:close/>
              </a:path>
            </a:pathLst>
          </a:custGeom>
          <a:solidFill>
            <a:srgbClr val="E53935"/>
          </a:solidFill>
          <a:ln>
            <a:noFill/>
          </a:ln>
        </p:spPr>
      </p:sp>
      <p:sp>
        <p:nvSpPr>
          <p:cNvPr id="22" name="Freeform 22"/>
          <p:cNvSpPr/>
          <p:nvPr/>
        </p:nvSpPr>
        <p:spPr>
          <a:xfrm>
            <a:off x="9620250" y="2286000"/>
            <a:ext cx="2000250" cy="857250"/>
          </a:xfrm>
          <a:custGeom>
            <a:avLst/>
            <a:gdLst/>
            <a:ahLst/>
            <a:cxnLst/>
            <a:rect l="l" t="t" r="r" b="b"/>
            <a:pathLst>
              <a:path w="2000250" h="857250">
                <a:moveTo>
                  <a:pt x="76200" y="0"/>
                </a:moveTo>
                <a:lnTo>
                  <a:pt x="1924050" y="0"/>
                </a:lnTo>
                <a:cubicBezTo>
                  <a:pt x="1966134" y="0"/>
                  <a:pt x="2000250" y="34116"/>
                  <a:pt x="2000250" y="76200"/>
                </a:cubicBezTo>
                <a:lnTo>
                  <a:pt x="2000250" y="781050"/>
                </a:lnTo>
                <a:cubicBezTo>
                  <a:pt x="2000250" y="823134"/>
                  <a:pt x="1966134" y="857250"/>
                  <a:pt x="1924050" y="857250"/>
                </a:cubicBezTo>
                <a:lnTo>
                  <a:pt x="76200" y="857250"/>
                </a:lnTo>
                <a:cubicBezTo>
                  <a:pt x="34116" y="857250"/>
                  <a:pt x="0" y="823134"/>
                  <a:pt x="0" y="781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5F5"/>
          </a:solidFill>
          <a:ln>
            <a:noFill/>
          </a:ln>
        </p:spPr>
      </p:sp>
      <p:sp>
        <p:nvSpPr>
          <p:cNvPr id="23" name="Freeform 23"/>
          <p:cNvSpPr/>
          <p:nvPr/>
        </p:nvSpPr>
        <p:spPr>
          <a:xfrm>
            <a:off x="11572875" y="2286000"/>
            <a:ext cx="47625" cy="857250"/>
          </a:xfrm>
          <a:custGeom>
            <a:avLst/>
            <a:gdLst/>
            <a:ahLst/>
            <a:cxnLst/>
            <a:rect l="l" t="t" r="r" b="b"/>
            <a:pathLst>
              <a:path w="47625" h="857250">
                <a:moveTo>
                  <a:pt x="23812" y="0"/>
                </a:moveTo>
                <a:lnTo>
                  <a:pt x="23812" y="0"/>
                </a:lnTo>
                <a:cubicBezTo>
                  <a:pt x="36964" y="0"/>
                  <a:pt x="47625" y="10661"/>
                  <a:pt x="47625" y="23812"/>
                </a:cubicBezTo>
                <a:lnTo>
                  <a:pt x="47625" y="833438"/>
                </a:lnTo>
                <a:cubicBezTo>
                  <a:pt x="47625" y="846589"/>
                  <a:pt x="36964" y="857250"/>
                  <a:pt x="23812" y="857250"/>
                </a:cubicBezTo>
                <a:lnTo>
                  <a:pt x="23812" y="857250"/>
                </a:lnTo>
                <a:cubicBezTo>
                  <a:pt x="10661" y="857250"/>
                  <a:pt x="0" y="846589"/>
                  <a:pt x="0" y="833438"/>
                </a:cubicBezTo>
                <a:lnTo>
                  <a:pt x="0" y="23812"/>
                </a:lnTo>
                <a:cubicBezTo>
                  <a:pt x="0" y="10661"/>
                  <a:pt x="10661" y="0"/>
                  <a:pt x="23812" y="0"/>
                </a:cubicBezTo>
                <a:close/>
              </a:path>
            </a:pathLst>
          </a:custGeom>
          <a:solidFill>
            <a:srgbClr val="E53935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10650169" y="2442210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200" b="1" dirty="0">
                <a:solidFill>
                  <a:srgbClr val="C62828"/>
                </a:solidFill>
                <a:latin typeface="Microsoft YaHei"/>
                <a:ea typeface="Microsoft YaHei"/>
                <a:cs typeface="Microsoft YaHei"/>
              </a:rPr>
              <a:t>感觉困难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643864" y="2696528"/>
            <a:ext cx="69622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= 感觉可疑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260073" y="2914174"/>
            <a:ext cx="107963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8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处理吃力 → 不信任</a:t>
            </a:r>
          </a:p>
        </p:txBody>
      </p:sp>
      <p:sp>
        <p:nvSpPr>
          <p:cNvPr id="27" name="Freeform 27"/>
          <p:cNvSpPr/>
          <p:nvPr/>
        </p:nvSpPr>
        <p:spPr>
          <a:xfrm>
            <a:off x="571500" y="4095750"/>
            <a:ext cx="11049000" cy="952500"/>
          </a:xfrm>
          <a:custGeom>
            <a:avLst/>
            <a:gdLst/>
            <a:ahLst/>
            <a:cxnLst/>
            <a:rect l="l" t="t" r="r" b="b"/>
            <a:pathLst>
              <a:path w="11049000" h="95250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876300"/>
                </a:lnTo>
                <a:cubicBezTo>
                  <a:pt x="11049000" y="918384"/>
                  <a:pt x="11014884" y="952500"/>
                  <a:pt x="10972800" y="952500"/>
                </a:cubicBezTo>
                <a:lnTo>
                  <a:pt x="76200" y="952500"/>
                </a:lnTo>
                <a:cubicBezTo>
                  <a:pt x="34116" y="952500"/>
                  <a:pt x="0" y="918384"/>
                  <a:pt x="0" y="876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8F0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946404" y="4299585"/>
            <a:ext cx="35143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87722"/>
                </a:solidFill>
                <a:latin typeface="Microsoft YaHei"/>
                <a:ea typeface="Microsoft YaHei"/>
                <a:cs typeface="Microsoft YaHei"/>
              </a:rPr>
              <a:t>启示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688243" y="4489132"/>
            <a:ext cx="281551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1B3A5C"/>
                </a:solidFill>
                <a:latin typeface="Microsoft YaHei"/>
                <a:ea typeface="Microsoft YaHei"/>
                <a:cs typeface="Microsoft YaHei"/>
              </a:rPr>
              <a:t>表达流畅比内容正确更重要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424362" y="4793456"/>
            <a:ext cx="334327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用短句、口语化、重复强调，降低听众的认知负担</a:t>
            </a:r>
          </a:p>
        </p:txBody>
      </p:sp>
      <p:sp>
        <p:nvSpPr>
          <p:cNvPr id="31" name="Freeform 31"/>
          <p:cNvSpPr/>
          <p:nvPr/>
        </p:nvSpPr>
        <p:spPr>
          <a:xfrm>
            <a:off x="571500" y="5429250"/>
            <a:ext cx="3524250" cy="1047750"/>
          </a:xfrm>
          <a:custGeom>
            <a:avLst/>
            <a:gdLst/>
            <a:ahLst/>
            <a:cxnLst/>
            <a:rect l="l" t="t" r="r" b="b"/>
            <a:pathLst>
              <a:path w="3524250" h="104775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971550"/>
                </a:lnTo>
                <a:cubicBezTo>
                  <a:pt x="3524250" y="1013634"/>
                  <a:pt x="3490134" y="1047750"/>
                  <a:pt x="3448050" y="1047750"/>
                </a:cubicBezTo>
                <a:lnTo>
                  <a:pt x="76200" y="1047750"/>
                </a:lnTo>
                <a:cubicBezTo>
                  <a:pt x="34116" y="1047750"/>
                  <a:pt x="0" y="1013634"/>
                  <a:pt x="0" y="971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756285" y="5593556"/>
            <a:ext cx="46463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策略 1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56666" y="5839778"/>
            <a:ext cx="114147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提前准备安全观点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757047" y="6085999"/>
            <a:ext cx="1099318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调取 + 筛选 + 组织</a:t>
            </a:r>
          </a:p>
        </p:txBody>
      </p:sp>
      <p:sp>
        <p:nvSpPr>
          <p:cNvPr id="35" name="Freeform 35"/>
          <p:cNvSpPr/>
          <p:nvPr/>
        </p:nvSpPr>
        <p:spPr>
          <a:xfrm>
            <a:off x="4333875" y="5429250"/>
            <a:ext cx="3524250" cy="1047750"/>
          </a:xfrm>
          <a:custGeom>
            <a:avLst/>
            <a:gdLst/>
            <a:ahLst/>
            <a:cxnLst/>
            <a:rect l="l" t="t" r="r" b="b"/>
            <a:pathLst>
              <a:path w="3524250" h="104775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971550"/>
                </a:lnTo>
                <a:cubicBezTo>
                  <a:pt x="3524250" y="1013634"/>
                  <a:pt x="3490134" y="1047750"/>
                  <a:pt x="3448050" y="1047750"/>
                </a:cubicBezTo>
                <a:lnTo>
                  <a:pt x="76200" y="1047750"/>
                </a:lnTo>
                <a:cubicBezTo>
                  <a:pt x="34116" y="1047750"/>
                  <a:pt x="0" y="1013634"/>
                  <a:pt x="0" y="971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4518660" y="5593556"/>
            <a:ext cx="46463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策略 2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519041" y="5839778"/>
            <a:ext cx="85877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降低认知负担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519422" y="6085999"/>
            <a:ext cx="123057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短句 + 口语化 + 重复</a:t>
            </a:r>
          </a:p>
        </p:txBody>
      </p:sp>
      <p:sp>
        <p:nvSpPr>
          <p:cNvPr id="39" name="Freeform 39"/>
          <p:cNvSpPr/>
          <p:nvPr/>
        </p:nvSpPr>
        <p:spPr>
          <a:xfrm>
            <a:off x="8096250" y="5429250"/>
            <a:ext cx="3524250" cy="1047750"/>
          </a:xfrm>
          <a:custGeom>
            <a:avLst/>
            <a:gdLst/>
            <a:ahLst/>
            <a:cxnLst/>
            <a:rect l="l" t="t" r="r" b="b"/>
            <a:pathLst>
              <a:path w="3524250" h="104775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971550"/>
                </a:lnTo>
                <a:cubicBezTo>
                  <a:pt x="3524250" y="1013634"/>
                  <a:pt x="3490134" y="1047750"/>
                  <a:pt x="3448050" y="1047750"/>
                </a:cubicBezTo>
                <a:lnTo>
                  <a:pt x="76200" y="1047750"/>
                </a:lnTo>
                <a:cubicBezTo>
                  <a:pt x="34116" y="1047750"/>
                  <a:pt x="0" y="1013634"/>
                  <a:pt x="0" y="971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8281035" y="5593556"/>
            <a:ext cx="46463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策略 3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281416" y="5839778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结构化表达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281797" y="6085999"/>
            <a:ext cx="151277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钩子 + 结论 + 观点 + 行动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857250"/>
          </a:xfrm>
          <a:prstGeom prst="rect">
            <a:avLst/>
          </a:prstGeom>
          <a:solidFill>
            <a:srgbClr val="1B3A5C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0832" y="325755"/>
            <a:ext cx="1802359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场景表达模式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141640" y="4391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05 / 06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" y="1143000"/>
            <a:ext cx="4953000" cy="1143000"/>
          </a:xfrm>
          <a:custGeom>
            <a:avLst/>
            <a:gdLst/>
            <a:ahLst/>
            <a:cxnLst/>
            <a:rect l="l" t="t" r="r" b="b"/>
            <a:pathLst>
              <a:path w="4953000" h="11430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1066800"/>
                </a:lnTo>
                <a:cubicBezTo>
                  <a:pt x="4953000" y="1108884"/>
                  <a:pt x="4918884" y="1143000"/>
                  <a:pt x="4876800" y="1143000"/>
                </a:cubicBezTo>
                <a:lnTo>
                  <a:pt x="76200" y="1143000"/>
                </a:lnTo>
                <a:cubicBezTo>
                  <a:pt x="34116" y="1143000"/>
                  <a:pt x="0" y="1108884"/>
                  <a:pt x="0" y="1066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8F0"/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571500" y="1143000"/>
            <a:ext cx="57150" cy="1143000"/>
          </a:xfrm>
          <a:custGeom>
            <a:avLst/>
            <a:gdLst/>
            <a:ahLst/>
            <a:cxnLst/>
            <a:rect l="l" t="t" r="r" b="b"/>
            <a:pathLst>
              <a:path w="57150" h="114300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1114425"/>
                </a:lnTo>
                <a:cubicBezTo>
                  <a:pt x="57150" y="1130207"/>
                  <a:pt x="44357" y="1143000"/>
                  <a:pt x="28575" y="1143000"/>
                </a:cubicBezTo>
                <a:lnTo>
                  <a:pt x="28575" y="1143000"/>
                </a:lnTo>
                <a:cubicBezTo>
                  <a:pt x="12793" y="1143000"/>
                  <a:pt x="0" y="1130207"/>
                  <a:pt x="0" y="11144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E87722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851916" y="1363028"/>
            <a:ext cx="48896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E87722"/>
                </a:solidFill>
                <a:latin typeface="Microsoft YaHei"/>
                <a:ea typeface="Microsoft YaHei"/>
                <a:cs typeface="Microsoft YaHei"/>
              </a:rPr>
              <a:t>STEP 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48868" y="1584008"/>
            <a:ext cx="48322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B3A5C"/>
                </a:solidFill>
                <a:latin typeface="Microsoft YaHei"/>
                <a:ea typeface="Microsoft YaHei"/>
                <a:cs typeface="Microsoft YaHei"/>
              </a:rPr>
              <a:t>钩子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089404" y="1632585"/>
            <a:ext cx="1488643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关于X，我需要您……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51916" y="1934528"/>
            <a:ext cx="172808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具体提到项目名 + 你的需求</a:t>
            </a:r>
          </a:p>
        </p:txBody>
      </p:sp>
      <p:sp>
        <p:nvSpPr>
          <p:cNvPr id="12" name="Polygon 12"/>
          <p:cNvSpPr/>
          <p:nvPr/>
        </p:nvSpPr>
        <p:spPr>
          <a:xfrm>
            <a:off x="2857500" y="2333625"/>
            <a:ext cx="190500" cy="95250"/>
          </a:xfrm>
          <a:custGeom>
            <a:avLst/>
            <a:gdLst/>
            <a:ahLst/>
            <a:cxnLst/>
            <a:rect l="l" t="t" r="r" b="b"/>
            <a:pathLst>
              <a:path w="190500" h="95250">
                <a:moveTo>
                  <a:pt x="95250" y="0"/>
                </a:moveTo>
                <a:lnTo>
                  <a:pt x="0" y="95250"/>
                </a:lnTo>
                <a:lnTo>
                  <a:pt x="190500" y="95250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2933700" y="2333625"/>
            <a:ext cx="38100" cy="95250"/>
          </a:xfrm>
          <a:prstGeom prst="rect">
            <a:avLst/>
          </a:prstGeom>
          <a:solidFill>
            <a:srgbClr val="666666"/>
          </a:solidFill>
          <a:ln>
            <a:noFill/>
          </a:ln>
        </p:spPr>
      </p:sp>
      <p:sp>
        <p:nvSpPr>
          <p:cNvPr id="14" name="Freeform 14"/>
          <p:cNvSpPr/>
          <p:nvPr/>
        </p:nvSpPr>
        <p:spPr>
          <a:xfrm>
            <a:off x="857250" y="2524125"/>
            <a:ext cx="4953000" cy="1143000"/>
          </a:xfrm>
          <a:custGeom>
            <a:avLst/>
            <a:gdLst/>
            <a:ahLst/>
            <a:cxnLst/>
            <a:rect l="l" t="t" r="r" b="b"/>
            <a:pathLst>
              <a:path w="4953000" h="11430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1066800"/>
                </a:lnTo>
                <a:cubicBezTo>
                  <a:pt x="4953000" y="1108884"/>
                  <a:pt x="4918884" y="1143000"/>
                  <a:pt x="4876800" y="1143000"/>
                </a:cubicBezTo>
                <a:lnTo>
                  <a:pt x="76200" y="1143000"/>
                </a:lnTo>
                <a:cubicBezTo>
                  <a:pt x="34116" y="1143000"/>
                  <a:pt x="0" y="1108884"/>
                  <a:pt x="0" y="1066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EBF4FC"/>
          </a:solidFill>
          <a:ln>
            <a:noFill/>
          </a:ln>
        </p:spPr>
      </p:sp>
      <p:sp>
        <p:nvSpPr>
          <p:cNvPr id="15" name="Freeform 15"/>
          <p:cNvSpPr/>
          <p:nvPr/>
        </p:nvSpPr>
        <p:spPr>
          <a:xfrm>
            <a:off x="857250" y="2524125"/>
            <a:ext cx="57150" cy="1143000"/>
          </a:xfrm>
          <a:custGeom>
            <a:avLst/>
            <a:gdLst/>
            <a:ahLst/>
            <a:cxnLst/>
            <a:rect l="l" t="t" r="r" b="b"/>
            <a:pathLst>
              <a:path w="57150" h="114300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1114425"/>
                </a:lnTo>
                <a:cubicBezTo>
                  <a:pt x="57150" y="1130207"/>
                  <a:pt x="44357" y="1143000"/>
                  <a:pt x="28575" y="1143000"/>
                </a:cubicBezTo>
                <a:lnTo>
                  <a:pt x="28575" y="1143000"/>
                </a:lnTo>
                <a:cubicBezTo>
                  <a:pt x="12793" y="1143000"/>
                  <a:pt x="0" y="1130207"/>
                  <a:pt x="0" y="11144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4A90D9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1137666" y="2744152"/>
            <a:ext cx="48896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STEP 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34618" y="2965132"/>
            <a:ext cx="483222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B3A5C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089404" y="3013710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直接说出核心结论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37666" y="3315652"/>
            <a:ext cx="128282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开门见山，不绕弯子</a:t>
            </a:r>
          </a:p>
        </p:txBody>
      </p:sp>
      <p:sp>
        <p:nvSpPr>
          <p:cNvPr id="20" name="Polygon 20"/>
          <p:cNvSpPr/>
          <p:nvPr/>
        </p:nvSpPr>
        <p:spPr>
          <a:xfrm>
            <a:off x="3143250" y="3714750"/>
            <a:ext cx="190500" cy="95250"/>
          </a:xfrm>
          <a:custGeom>
            <a:avLst/>
            <a:gdLst/>
            <a:ahLst/>
            <a:cxnLst/>
            <a:rect l="l" t="t" r="r" b="b"/>
            <a:pathLst>
              <a:path w="190500" h="95250">
                <a:moveTo>
                  <a:pt x="95250" y="0"/>
                </a:moveTo>
                <a:lnTo>
                  <a:pt x="0" y="95250"/>
                </a:lnTo>
                <a:lnTo>
                  <a:pt x="190500" y="95250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</p:spPr>
      </p:sp>
      <p:sp>
        <p:nvSpPr>
          <p:cNvPr id="21" name="Rectangle 21"/>
          <p:cNvSpPr/>
          <p:nvPr/>
        </p:nvSpPr>
        <p:spPr>
          <a:xfrm>
            <a:off x="3219450" y="3714750"/>
            <a:ext cx="38100" cy="95250"/>
          </a:xfrm>
          <a:prstGeom prst="rect">
            <a:avLst/>
          </a:prstGeom>
          <a:solidFill>
            <a:srgbClr val="666666"/>
          </a:solidFill>
          <a:ln>
            <a:noFill/>
          </a:ln>
        </p:spPr>
      </p:sp>
      <p:sp>
        <p:nvSpPr>
          <p:cNvPr id="22" name="Freeform 22"/>
          <p:cNvSpPr/>
          <p:nvPr/>
        </p:nvSpPr>
        <p:spPr>
          <a:xfrm>
            <a:off x="1143000" y="3905250"/>
            <a:ext cx="4953000" cy="1143000"/>
          </a:xfrm>
          <a:custGeom>
            <a:avLst/>
            <a:gdLst/>
            <a:ahLst/>
            <a:cxnLst/>
            <a:rect l="l" t="t" r="r" b="b"/>
            <a:pathLst>
              <a:path w="4953000" h="11430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1066800"/>
                </a:lnTo>
                <a:cubicBezTo>
                  <a:pt x="4953000" y="1108884"/>
                  <a:pt x="4918884" y="1143000"/>
                  <a:pt x="4876800" y="1143000"/>
                </a:cubicBezTo>
                <a:lnTo>
                  <a:pt x="76200" y="1143000"/>
                </a:lnTo>
                <a:cubicBezTo>
                  <a:pt x="34116" y="1143000"/>
                  <a:pt x="0" y="1108884"/>
                  <a:pt x="0" y="1066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23" name="Freeform 23"/>
          <p:cNvSpPr/>
          <p:nvPr/>
        </p:nvSpPr>
        <p:spPr>
          <a:xfrm>
            <a:off x="1143000" y="3905250"/>
            <a:ext cx="57150" cy="1143000"/>
          </a:xfrm>
          <a:custGeom>
            <a:avLst/>
            <a:gdLst/>
            <a:ahLst/>
            <a:cxnLst/>
            <a:rect l="l" t="t" r="r" b="b"/>
            <a:pathLst>
              <a:path w="57150" h="114300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1114425"/>
                </a:lnTo>
                <a:cubicBezTo>
                  <a:pt x="57150" y="1130207"/>
                  <a:pt x="44357" y="1143000"/>
                  <a:pt x="28575" y="1143000"/>
                </a:cubicBezTo>
                <a:lnTo>
                  <a:pt x="28575" y="1143000"/>
                </a:lnTo>
                <a:cubicBezTo>
                  <a:pt x="12793" y="1143000"/>
                  <a:pt x="0" y="1130207"/>
                  <a:pt x="0" y="11144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1B3A5C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1423416" y="4125278"/>
            <a:ext cx="48896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1B3A5C"/>
                </a:solidFill>
                <a:latin typeface="Microsoft YaHei"/>
                <a:ea typeface="Microsoft YaHei"/>
                <a:cs typeface="Microsoft YaHei"/>
              </a:rPr>
              <a:t>STEP 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20368" y="4346258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B3A5C"/>
                </a:solidFill>
                <a:latin typeface="Microsoft YaHei"/>
                <a:ea typeface="Microsoft YaHei"/>
                <a:cs typeface="Microsoft YaHei"/>
              </a:rPr>
              <a:t>观点摘要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946654" y="4394835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重要观点简要概括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423416" y="4696778"/>
            <a:ext cx="16432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不超过3个，第一第二第三</a:t>
            </a:r>
          </a:p>
        </p:txBody>
      </p:sp>
      <p:sp>
        <p:nvSpPr>
          <p:cNvPr id="28" name="Polygon 28"/>
          <p:cNvSpPr/>
          <p:nvPr/>
        </p:nvSpPr>
        <p:spPr>
          <a:xfrm>
            <a:off x="3429000" y="5095875"/>
            <a:ext cx="190500" cy="95250"/>
          </a:xfrm>
          <a:custGeom>
            <a:avLst/>
            <a:gdLst/>
            <a:ahLst/>
            <a:cxnLst/>
            <a:rect l="l" t="t" r="r" b="b"/>
            <a:pathLst>
              <a:path w="190500" h="95250">
                <a:moveTo>
                  <a:pt x="95250" y="0"/>
                </a:moveTo>
                <a:lnTo>
                  <a:pt x="0" y="95250"/>
                </a:lnTo>
                <a:lnTo>
                  <a:pt x="190500" y="95250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3505200" y="5095875"/>
            <a:ext cx="38100" cy="95250"/>
          </a:xfrm>
          <a:prstGeom prst="rect">
            <a:avLst/>
          </a:prstGeom>
          <a:solidFill>
            <a:srgbClr val="666666"/>
          </a:solidFill>
          <a:ln>
            <a:noFill/>
          </a:ln>
        </p:spPr>
      </p:sp>
      <p:sp>
        <p:nvSpPr>
          <p:cNvPr id="30" name="Freeform 30"/>
          <p:cNvSpPr/>
          <p:nvPr/>
        </p:nvSpPr>
        <p:spPr>
          <a:xfrm>
            <a:off x="1428750" y="5286375"/>
            <a:ext cx="4953000" cy="1143000"/>
          </a:xfrm>
          <a:custGeom>
            <a:avLst/>
            <a:gdLst/>
            <a:ahLst/>
            <a:cxnLst/>
            <a:rect l="l" t="t" r="r" b="b"/>
            <a:pathLst>
              <a:path w="4953000" h="114300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1066800"/>
                </a:lnTo>
                <a:cubicBezTo>
                  <a:pt x="4953000" y="1108884"/>
                  <a:pt x="4918884" y="1143000"/>
                  <a:pt x="4876800" y="1143000"/>
                </a:cubicBezTo>
                <a:lnTo>
                  <a:pt x="76200" y="1143000"/>
                </a:lnTo>
                <a:cubicBezTo>
                  <a:pt x="34116" y="1143000"/>
                  <a:pt x="0" y="1108884"/>
                  <a:pt x="0" y="1066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7ED"/>
          </a:solidFill>
          <a:ln>
            <a:noFill/>
          </a:ln>
        </p:spPr>
      </p:sp>
      <p:sp>
        <p:nvSpPr>
          <p:cNvPr id="31" name="Freeform 31"/>
          <p:cNvSpPr/>
          <p:nvPr/>
        </p:nvSpPr>
        <p:spPr>
          <a:xfrm>
            <a:off x="1428750" y="5286375"/>
            <a:ext cx="57150" cy="1143000"/>
          </a:xfrm>
          <a:custGeom>
            <a:avLst/>
            <a:gdLst/>
            <a:ahLst/>
            <a:cxnLst/>
            <a:rect l="l" t="t" r="r" b="b"/>
            <a:pathLst>
              <a:path w="57150" h="1143000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1114425"/>
                </a:lnTo>
                <a:cubicBezTo>
                  <a:pt x="57150" y="1130207"/>
                  <a:pt x="44357" y="1143000"/>
                  <a:pt x="28575" y="1143000"/>
                </a:cubicBezTo>
                <a:lnTo>
                  <a:pt x="28575" y="1143000"/>
                </a:lnTo>
                <a:cubicBezTo>
                  <a:pt x="12793" y="1143000"/>
                  <a:pt x="0" y="1130207"/>
                  <a:pt x="0" y="11144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E87722"/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1709166" y="5506402"/>
            <a:ext cx="48896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b="1" dirty="0">
                <a:solidFill>
                  <a:srgbClr val="E87722"/>
                </a:solidFill>
                <a:latin typeface="Microsoft YaHei"/>
                <a:ea typeface="Microsoft YaHei"/>
                <a:cs typeface="Microsoft YaHei"/>
              </a:rPr>
              <a:t>STEP 4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706118" y="5727382"/>
            <a:ext cx="94968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B3A5C"/>
                </a:solidFill>
                <a:latin typeface="Microsoft YaHei"/>
                <a:ea typeface="Microsoft YaHei"/>
                <a:cs typeface="Microsoft YaHei"/>
              </a:rPr>
              <a:t>行动指南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232404" y="5775960"/>
            <a:ext cx="114300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下一步具体建议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709166" y="6077902"/>
            <a:ext cx="200371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给明确时间节点，我的建议是……</a:t>
            </a:r>
          </a:p>
        </p:txBody>
      </p:sp>
      <p:sp>
        <p:nvSpPr>
          <p:cNvPr id="36" name="Freeform 36"/>
          <p:cNvSpPr/>
          <p:nvPr/>
        </p:nvSpPr>
        <p:spPr>
          <a:xfrm>
            <a:off x="6667500" y="1143000"/>
            <a:ext cx="4953000" cy="5286375"/>
          </a:xfrm>
          <a:custGeom>
            <a:avLst/>
            <a:gdLst/>
            <a:ahLst/>
            <a:cxnLst/>
            <a:rect l="l" t="t" r="r" b="b"/>
            <a:pathLst>
              <a:path w="4953000" h="5286375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5210175"/>
                </a:lnTo>
                <a:cubicBezTo>
                  <a:pt x="4953000" y="5252259"/>
                  <a:pt x="4918884" y="5286375"/>
                  <a:pt x="4876800" y="5286375"/>
                </a:cubicBezTo>
                <a:lnTo>
                  <a:pt x="76200" y="5286375"/>
                </a:lnTo>
                <a:cubicBezTo>
                  <a:pt x="34116" y="5286375"/>
                  <a:pt x="0" y="5252259"/>
                  <a:pt x="0" y="521017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37" name="Freeform 37"/>
          <p:cNvSpPr/>
          <p:nvPr/>
        </p:nvSpPr>
        <p:spPr>
          <a:xfrm>
            <a:off x="6667500" y="1143000"/>
            <a:ext cx="4953000" cy="476250"/>
          </a:xfrm>
          <a:custGeom>
            <a:avLst/>
            <a:gdLst/>
            <a:ahLst/>
            <a:cxnLst/>
            <a:rect l="l" t="t" r="r" b="b"/>
            <a:pathLst>
              <a:path w="4953000" h="476250">
                <a:moveTo>
                  <a:pt x="76200" y="0"/>
                </a:moveTo>
                <a:lnTo>
                  <a:pt x="4876800" y="0"/>
                </a:lnTo>
                <a:cubicBezTo>
                  <a:pt x="4918884" y="0"/>
                  <a:pt x="4953000" y="34116"/>
                  <a:pt x="4953000" y="76200"/>
                </a:cubicBezTo>
                <a:lnTo>
                  <a:pt x="4953000" y="400050"/>
                </a:lnTo>
                <a:cubicBezTo>
                  <a:pt x="4953000" y="442134"/>
                  <a:pt x="4918884" y="476250"/>
                  <a:pt x="4876800" y="476250"/>
                </a:cubicBezTo>
                <a:lnTo>
                  <a:pt x="76200" y="476250"/>
                </a:lnTo>
                <a:cubicBezTo>
                  <a:pt x="34116" y="476250"/>
                  <a:pt x="0" y="442134"/>
                  <a:pt x="0" y="4000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1B3A5C"/>
          </a:solidFill>
          <a:ln>
            <a:noFill/>
          </a:ln>
        </p:spPr>
      </p:sp>
      <p:sp>
        <p:nvSpPr>
          <p:cNvPr id="38" name="Rectangle 38"/>
          <p:cNvSpPr/>
          <p:nvPr/>
        </p:nvSpPr>
        <p:spPr>
          <a:xfrm>
            <a:off x="6667500" y="1428750"/>
            <a:ext cx="4953000" cy="190500"/>
          </a:xfrm>
          <a:prstGeom prst="rect">
            <a:avLst/>
          </a:prstGeom>
          <a:solidFill>
            <a:srgbClr val="1B3A5C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8755494" y="1311592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范例演示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947154" y="1870710"/>
            <a:ext cx="105536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87722"/>
                </a:solidFill>
                <a:latin typeface="Microsoft YaHei"/>
                <a:ea typeface="Microsoft YaHei"/>
                <a:cs typeface="Microsoft YaHei"/>
              </a:rPr>
              <a:t>钩子 + 结论：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7042404" y="2156460"/>
            <a:ext cx="147157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领导，关于A项目，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042404" y="2394585"/>
            <a:ext cx="13045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我建议立即启动。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947154" y="2823210"/>
            <a:ext cx="8602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观点摘要：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042404" y="3108960"/>
            <a:ext cx="203956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第一，市场窗口仅剩3个月；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7042404" y="3347085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第二，技术方案已验证；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042404" y="3585210"/>
            <a:ext cx="146608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第三，团队已就绪。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6947154" y="4013835"/>
            <a:ext cx="8602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87722"/>
                </a:solidFill>
                <a:latin typeface="Microsoft YaHei"/>
                <a:ea typeface="Microsoft YaHei"/>
                <a:cs typeface="Microsoft YaHei"/>
              </a:rPr>
              <a:t>行动指南：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042404" y="4299585"/>
            <a:ext cx="178917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建议本周五前完成立项。</a:t>
            </a:r>
          </a:p>
        </p:txBody>
      </p:sp>
      <p:sp>
        <p:nvSpPr>
          <p:cNvPr id="49" name="Line 49"/>
          <p:cNvSpPr/>
          <p:nvPr/>
        </p:nvSpPr>
        <p:spPr>
          <a:xfrm>
            <a:off x="6953250" y="4762500"/>
            <a:ext cx="4381500" cy="9525"/>
          </a:xfrm>
          <a:custGeom>
            <a:avLst/>
            <a:gdLst/>
            <a:ahLst/>
            <a:cxnLst/>
            <a:rect l="l" t="t" r="r" b="b"/>
            <a:pathLst>
              <a:path w="4381500" h="9525">
                <a:moveTo>
                  <a:pt x="0" y="0"/>
                </a:moveTo>
                <a:lnTo>
                  <a:pt x="4381500" y="0"/>
                </a:lnTo>
              </a:path>
            </a:pathLst>
          </a:custGeom>
          <a:noFill/>
          <a:ln w="9525">
            <a:solidFill>
              <a:srgbClr val="E0E0E0"/>
            </a:solidFill>
          </a:ln>
        </p:spPr>
      </p:sp>
      <p:sp>
        <p:nvSpPr>
          <p:cNvPr id="50" name="TextBox 50"/>
          <p:cNvSpPr txBox="1"/>
          <p:nvPr/>
        </p:nvSpPr>
        <p:spPr>
          <a:xfrm>
            <a:off x="6948297" y="4942999"/>
            <a:ext cx="152589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钩子具体（项目名+需求）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948297" y="5181124"/>
            <a:ext cx="132245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结论果断（不绕弯子）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6948297" y="5419249"/>
            <a:ext cx="869623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观点不超过3个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948297" y="5657374"/>
            <a:ext cx="145370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行动明确（给时间节点）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6948297" y="5895499"/>
            <a:ext cx="132245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语言口语化、自信严谨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857250"/>
          </a:xfrm>
          <a:prstGeom prst="rect">
            <a:avLst/>
          </a:prstGeom>
          <a:solidFill>
            <a:srgbClr val="1B3A5C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60832" y="325755"/>
            <a:ext cx="3583381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实战模板：内部汇报发言稿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141640" y="4391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06 / 06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4642" y="1092518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B3A5C"/>
                </a:solidFill>
                <a:latin typeface="Microsoft YaHei"/>
                <a:ea typeface="Microsoft YaHei"/>
                <a:cs typeface="Microsoft YaHei"/>
              </a:rPr>
              <a:t>结构要求</a:t>
            </a:r>
          </a:p>
        </p:txBody>
      </p:sp>
      <p:sp>
        <p:nvSpPr>
          <p:cNvPr id="7" name="Rectangle 7"/>
          <p:cNvSpPr/>
          <p:nvPr/>
        </p:nvSpPr>
        <p:spPr>
          <a:xfrm>
            <a:off x="571500" y="1333500"/>
            <a:ext cx="381000" cy="19050"/>
          </a:xfrm>
          <a:prstGeom prst="rect">
            <a:avLst/>
          </a:prstGeom>
          <a:solidFill>
            <a:srgbClr val="E87722"/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571500" y="1524000"/>
            <a:ext cx="3524250" cy="1524000"/>
          </a:xfrm>
          <a:custGeom>
            <a:avLst/>
            <a:gdLst/>
            <a:ahLst/>
            <a:cxnLst/>
            <a:rect l="l" t="t" r="r" b="b"/>
            <a:pathLst>
              <a:path w="3524250" h="152400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1447800"/>
                </a:lnTo>
                <a:cubicBezTo>
                  <a:pt x="3524250" y="1489884"/>
                  <a:pt x="3490134" y="1524000"/>
                  <a:pt x="3448050" y="1524000"/>
                </a:cubicBezTo>
                <a:lnTo>
                  <a:pt x="76200" y="1524000"/>
                </a:lnTo>
                <a:cubicBezTo>
                  <a:pt x="34116" y="1524000"/>
                  <a:pt x="0" y="1489884"/>
                  <a:pt x="0" y="1447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9" name="Ellipse 9"/>
          <p:cNvSpPr/>
          <p:nvPr/>
        </p:nvSpPr>
        <p:spPr>
          <a:xfrm>
            <a:off x="781050" y="1685925"/>
            <a:ext cx="342900" cy="342900"/>
          </a:xfrm>
          <a:prstGeom prst="ellipse">
            <a:avLst/>
          </a:prstGeom>
          <a:solidFill>
            <a:srgbClr val="4A90D9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06351" y="1801178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79398" y="1776889"/>
            <a:ext cx="1094289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1B3A5C"/>
                </a:solidFill>
                <a:latin typeface="Microsoft YaHei"/>
                <a:ea typeface="Microsoft YaHei"/>
                <a:cs typeface="Microsoft YaHei"/>
              </a:rPr>
              <a:t>结论放第一句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56666" y="2172652"/>
            <a:ext cx="128282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开门见山，先说结论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56666" y="2410778"/>
            <a:ext cx="7174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再展开理由</a:t>
            </a:r>
          </a:p>
        </p:txBody>
      </p:sp>
      <p:sp>
        <p:nvSpPr>
          <p:cNvPr id="14" name="Rectangle 14"/>
          <p:cNvSpPr/>
          <p:nvPr/>
        </p:nvSpPr>
        <p:spPr>
          <a:xfrm>
            <a:off x="762000" y="2714625"/>
            <a:ext cx="314325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757047" y="2818924"/>
            <a:ext cx="161170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范例：关于X，建议启动。</a:t>
            </a:r>
          </a:p>
        </p:txBody>
      </p:sp>
      <p:sp>
        <p:nvSpPr>
          <p:cNvPr id="16" name="Freeform 16"/>
          <p:cNvSpPr/>
          <p:nvPr/>
        </p:nvSpPr>
        <p:spPr>
          <a:xfrm>
            <a:off x="4333875" y="1524000"/>
            <a:ext cx="3524250" cy="1524000"/>
          </a:xfrm>
          <a:custGeom>
            <a:avLst/>
            <a:gdLst/>
            <a:ahLst/>
            <a:cxnLst/>
            <a:rect l="l" t="t" r="r" b="b"/>
            <a:pathLst>
              <a:path w="3524250" h="152400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1447800"/>
                </a:lnTo>
                <a:cubicBezTo>
                  <a:pt x="3524250" y="1489884"/>
                  <a:pt x="3490134" y="1524000"/>
                  <a:pt x="3448050" y="1524000"/>
                </a:cubicBezTo>
                <a:lnTo>
                  <a:pt x="76200" y="1524000"/>
                </a:lnTo>
                <a:cubicBezTo>
                  <a:pt x="34116" y="1524000"/>
                  <a:pt x="0" y="1489884"/>
                  <a:pt x="0" y="1447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17" name="Ellipse 17"/>
          <p:cNvSpPr/>
          <p:nvPr/>
        </p:nvSpPr>
        <p:spPr>
          <a:xfrm>
            <a:off x="4543425" y="1685925"/>
            <a:ext cx="342900" cy="342900"/>
          </a:xfrm>
          <a:prstGeom prst="ellipse">
            <a:avLst/>
          </a:prstGeom>
          <a:solidFill>
            <a:srgbClr val="4A90D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4668726" y="1801178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041773" y="1776889"/>
            <a:ext cx="905055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1B3A5C"/>
                </a:solidFill>
                <a:latin typeface="Microsoft YaHei"/>
                <a:ea typeface="Microsoft YaHei"/>
                <a:cs typeface="Microsoft YaHei"/>
              </a:rPr>
              <a:t>2-3 个理由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519041" y="2172652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用第一第二第三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519041" y="2410778"/>
            <a:ext cx="57607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清晰列出</a:t>
            </a:r>
          </a:p>
        </p:txBody>
      </p:sp>
      <p:sp>
        <p:nvSpPr>
          <p:cNvPr id="22" name="Rectangle 22"/>
          <p:cNvSpPr/>
          <p:nvPr/>
        </p:nvSpPr>
        <p:spPr>
          <a:xfrm>
            <a:off x="4524375" y="2714625"/>
            <a:ext cx="314325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4519422" y="2818924"/>
            <a:ext cx="1407766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范例：第一…第二…第三…</a:t>
            </a:r>
          </a:p>
        </p:txBody>
      </p:sp>
      <p:sp>
        <p:nvSpPr>
          <p:cNvPr id="24" name="Freeform 24"/>
          <p:cNvSpPr/>
          <p:nvPr/>
        </p:nvSpPr>
        <p:spPr>
          <a:xfrm>
            <a:off x="8096250" y="1524000"/>
            <a:ext cx="3524250" cy="1524000"/>
          </a:xfrm>
          <a:custGeom>
            <a:avLst/>
            <a:gdLst/>
            <a:ahLst/>
            <a:cxnLst/>
            <a:rect l="l" t="t" r="r" b="b"/>
            <a:pathLst>
              <a:path w="3524250" h="1524000">
                <a:moveTo>
                  <a:pt x="76200" y="0"/>
                </a:moveTo>
                <a:lnTo>
                  <a:pt x="3448050" y="0"/>
                </a:lnTo>
                <a:cubicBezTo>
                  <a:pt x="3490134" y="0"/>
                  <a:pt x="3524250" y="34116"/>
                  <a:pt x="3524250" y="76200"/>
                </a:cubicBezTo>
                <a:lnTo>
                  <a:pt x="3524250" y="1447800"/>
                </a:lnTo>
                <a:cubicBezTo>
                  <a:pt x="3524250" y="1489884"/>
                  <a:pt x="3490134" y="1524000"/>
                  <a:pt x="3448050" y="1524000"/>
                </a:cubicBezTo>
                <a:lnTo>
                  <a:pt x="76200" y="1524000"/>
                </a:lnTo>
                <a:cubicBezTo>
                  <a:pt x="34116" y="1524000"/>
                  <a:pt x="0" y="1489884"/>
                  <a:pt x="0" y="14478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25" name="Ellipse 25"/>
          <p:cNvSpPr/>
          <p:nvPr/>
        </p:nvSpPr>
        <p:spPr>
          <a:xfrm>
            <a:off x="8305800" y="1685925"/>
            <a:ext cx="342900" cy="342900"/>
          </a:xfrm>
          <a:prstGeom prst="ellipse">
            <a:avLst/>
          </a:prstGeom>
          <a:solidFill>
            <a:srgbClr val="4A90D9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8431101" y="1801178"/>
            <a:ext cx="922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804148" y="1776889"/>
            <a:ext cx="73384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b="1" dirty="0">
                <a:solidFill>
                  <a:srgbClr val="1B3A5C"/>
                </a:solidFill>
                <a:latin typeface="Microsoft YaHei"/>
                <a:ea typeface="Microsoft YaHei"/>
                <a:cs typeface="Microsoft YaHei"/>
              </a:rPr>
              <a:t>建议收尾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281416" y="2172652"/>
            <a:ext cx="102839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我的建议是____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281416" y="2410778"/>
            <a:ext cx="100012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给出明确行动项</a:t>
            </a:r>
          </a:p>
        </p:txBody>
      </p:sp>
      <p:sp>
        <p:nvSpPr>
          <p:cNvPr id="30" name="Rectangle 30"/>
          <p:cNvSpPr/>
          <p:nvPr/>
        </p:nvSpPr>
        <p:spPr>
          <a:xfrm>
            <a:off x="8286750" y="2714625"/>
            <a:ext cx="3143250" cy="9525"/>
          </a:xfrm>
          <a:prstGeom prst="rect">
            <a:avLst/>
          </a:prstGeom>
          <a:solidFill>
            <a:srgbClr val="E0E0E0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8281797" y="2818924"/>
            <a:ext cx="1584960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8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范例：建议本周五前立项。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64642" y="3426142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B3A5C"/>
                </a:solidFill>
                <a:latin typeface="Microsoft YaHei"/>
                <a:ea typeface="Microsoft YaHei"/>
                <a:cs typeface="Microsoft YaHei"/>
              </a:rPr>
              <a:t>风格要求</a:t>
            </a:r>
          </a:p>
        </p:txBody>
      </p:sp>
      <p:sp>
        <p:nvSpPr>
          <p:cNvPr id="33" name="Rectangle 33"/>
          <p:cNvSpPr/>
          <p:nvPr/>
        </p:nvSpPr>
        <p:spPr>
          <a:xfrm>
            <a:off x="571500" y="3667125"/>
            <a:ext cx="381000" cy="19050"/>
          </a:xfrm>
          <a:prstGeom prst="rect">
            <a:avLst/>
          </a:prstGeom>
          <a:solidFill>
            <a:srgbClr val="E87722"/>
          </a:solidFill>
          <a:ln>
            <a:noFill/>
          </a:ln>
        </p:spPr>
      </p:sp>
      <p:sp>
        <p:nvSpPr>
          <p:cNvPr id="34" name="Freeform 34"/>
          <p:cNvSpPr/>
          <p:nvPr/>
        </p:nvSpPr>
        <p:spPr>
          <a:xfrm>
            <a:off x="571500" y="3857625"/>
            <a:ext cx="1714500" cy="523875"/>
          </a:xfrm>
          <a:custGeom>
            <a:avLst/>
            <a:gdLst/>
            <a:ahLst/>
            <a:cxnLst/>
            <a:rect l="l" t="t" r="r" b="b"/>
            <a:pathLst>
              <a:path w="1714500" h="523875">
                <a:moveTo>
                  <a:pt x="57150" y="0"/>
                </a:moveTo>
                <a:lnTo>
                  <a:pt x="1657350" y="0"/>
                </a:lnTo>
                <a:cubicBezTo>
                  <a:pt x="1688913" y="0"/>
                  <a:pt x="1714500" y="25587"/>
                  <a:pt x="1714500" y="57150"/>
                </a:cubicBezTo>
                <a:lnTo>
                  <a:pt x="1714500" y="466725"/>
                </a:lnTo>
                <a:cubicBezTo>
                  <a:pt x="1714500" y="498288"/>
                  <a:pt x="1688913" y="523875"/>
                  <a:pt x="1657350" y="523875"/>
                </a:cubicBezTo>
                <a:lnTo>
                  <a:pt x="57150" y="523875"/>
                </a:lnTo>
                <a:cubicBezTo>
                  <a:pt x="25587" y="523875"/>
                  <a:pt x="0" y="498288"/>
                  <a:pt x="0" y="46672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8F0"/>
          </a:solidFill>
          <a:ln>
            <a:noFill/>
          </a:ln>
        </p:spPr>
      </p:sp>
      <p:sp>
        <p:nvSpPr>
          <p:cNvPr id="35" name="TextBox 35"/>
          <p:cNvSpPr txBox="1"/>
          <p:nvPr/>
        </p:nvSpPr>
        <p:spPr>
          <a:xfrm>
            <a:off x="1083412" y="4061460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E87722"/>
                </a:solidFill>
                <a:latin typeface="Microsoft YaHei"/>
                <a:ea typeface="Microsoft YaHei"/>
                <a:cs typeface="Microsoft YaHei"/>
              </a:rPr>
              <a:t>自信果断</a:t>
            </a:r>
          </a:p>
        </p:txBody>
      </p:sp>
      <p:sp>
        <p:nvSpPr>
          <p:cNvPr id="36" name="Freeform 36"/>
          <p:cNvSpPr/>
          <p:nvPr/>
        </p:nvSpPr>
        <p:spPr>
          <a:xfrm>
            <a:off x="2428875" y="3857625"/>
            <a:ext cx="1714500" cy="523875"/>
          </a:xfrm>
          <a:custGeom>
            <a:avLst/>
            <a:gdLst/>
            <a:ahLst/>
            <a:cxnLst/>
            <a:rect l="l" t="t" r="r" b="b"/>
            <a:pathLst>
              <a:path w="1714500" h="523875">
                <a:moveTo>
                  <a:pt x="57150" y="0"/>
                </a:moveTo>
                <a:lnTo>
                  <a:pt x="1657350" y="0"/>
                </a:lnTo>
                <a:cubicBezTo>
                  <a:pt x="1688913" y="0"/>
                  <a:pt x="1714500" y="25587"/>
                  <a:pt x="1714500" y="57150"/>
                </a:cubicBezTo>
                <a:lnTo>
                  <a:pt x="1714500" y="466725"/>
                </a:lnTo>
                <a:cubicBezTo>
                  <a:pt x="1714500" y="498288"/>
                  <a:pt x="1688913" y="523875"/>
                  <a:pt x="1657350" y="523875"/>
                </a:cubicBezTo>
                <a:lnTo>
                  <a:pt x="57150" y="523875"/>
                </a:lnTo>
                <a:cubicBezTo>
                  <a:pt x="25587" y="523875"/>
                  <a:pt x="0" y="498288"/>
                  <a:pt x="0" y="46672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FF8F0"/>
          </a:solidFill>
          <a:ln>
            <a:noFill/>
          </a:ln>
        </p:spPr>
      </p:sp>
      <p:sp>
        <p:nvSpPr>
          <p:cNvPr id="37" name="TextBox 37"/>
          <p:cNvSpPr txBox="1"/>
          <p:nvPr/>
        </p:nvSpPr>
        <p:spPr>
          <a:xfrm>
            <a:off x="2940787" y="4061460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E87722"/>
                </a:solidFill>
                <a:latin typeface="Microsoft YaHei"/>
                <a:ea typeface="Microsoft YaHei"/>
                <a:cs typeface="Microsoft YaHei"/>
              </a:rPr>
              <a:t>严谨冷静</a:t>
            </a:r>
          </a:p>
        </p:txBody>
      </p:sp>
      <p:sp>
        <p:nvSpPr>
          <p:cNvPr id="38" name="Freeform 38"/>
          <p:cNvSpPr/>
          <p:nvPr/>
        </p:nvSpPr>
        <p:spPr>
          <a:xfrm>
            <a:off x="4286250" y="3857625"/>
            <a:ext cx="1714500" cy="523875"/>
          </a:xfrm>
          <a:custGeom>
            <a:avLst/>
            <a:gdLst/>
            <a:ahLst/>
            <a:cxnLst/>
            <a:rect l="l" t="t" r="r" b="b"/>
            <a:pathLst>
              <a:path w="1714500" h="523875">
                <a:moveTo>
                  <a:pt x="57150" y="0"/>
                </a:moveTo>
                <a:lnTo>
                  <a:pt x="1657350" y="0"/>
                </a:lnTo>
                <a:cubicBezTo>
                  <a:pt x="1688913" y="0"/>
                  <a:pt x="1714500" y="25587"/>
                  <a:pt x="1714500" y="57150"/>
                </a:cubicBezTo>
                <a:lnTo>
                  <a:pt x="1714500" y="466725"/>
                </a:lnTo>
                <a:cubicBezTo>
                  <a:pt x="1714500" y="498288"/>
                  <a:pt x="1688913" y="523875"/>
                  <a:pt x="1657350" y="523875"/>
                </a:cubicBezTo>
                <a:lnTo>
                  <a:pt x="57150" y="523875"/>
                </a:lnTo>
                <a:cubicBezTo>
                  <a:pt x="25587" y="523875"/>
                  <a:pt x="0" y="498288"/>
                  <a:pt x="0" y="46672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BF4FC"/>
          </a:solidFill>
          <a:ln>
            <a:noFill/>
          </a:ln>
        </p:spPr>
      </p:sp>
      <p:sp>
        <p:nvSpPr>
          <p:cNvPr id="39" name="TextBox 39"/>
          <p:cNvSpPr txBox="1"/>
          <p:nvPr/>
        </p:nvSpPr>
        <p:spPr>
          <a:xfrm>
            <a:off x="4882972" y="4061460"/>
            <a:ext cx="5210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口语化</a:t>
            </a:r>
          </a:p>
        </p:txBody>
      </p:sp>
      <p:sp>
        <p:nvSpPr>
          <p:cNvPr id="40" name="Freeform 40"/>
          <p:cNvSpPr/>
          <p:nvPr/>
        </p:nvSpPr>
        <p:spPr>
          <a:xfrm>
            <a:off x="6143625" y="3857625"/>
            <a:ext cx="1714500" cy="523875"/>
          </a:xfrm>
          <a:custGeom>
            <a:avLst/>
            <a:gdLst/>
            <a:ahLst/>
            <a:cxnLst/>
            <a:rect l="l" t="t" r="r" b="b"/>
            <a:pathLst>
              <a:path w="1714500" h="523875">
                <a:moveTo>
                  <a:pt x="57150" y="0"/>
                </a:moveTo>
                <a:lnTo>
                  <a:pt x="1657350" y="0"/>
                </a:lnTo>
                <a:cubicBezTo>
                  <a:pt x="1688913" y="0"/>
                  <a:pt x="1714500" y="25587"/>
                  <a:pt x="1714500" y="57150"/>
                </a:cubicBezTo>
                <a:lnTo>
                  <a:pt x="1714500" y="466725"/>
                </a:lnTo>
                <a:cubicBezTo>
                  <a:pt x="1714500" y="498288"/>
                  <a:pt x="1688913" y="523875"/>
                  <a:pt x="1657350" y="523875"/>
                </a:cubicBezTo>
                <a:lnTo>
                  <a:pt x="57150" y="523875"/>
                </a:lnTo>
                <a:cubicBezTo>
                  <a:pt x="25587" y="523875"/>
                  <a:pt x="0" y="498288"/>
                  <a:pt x="0" y="46672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BF4FC"/>
          </a:solidFill>
          <a:ln>
            <a:noFill/>
          </a:ln>
        </p:spPr>
      </p:sp>
      <p:sp>
        <p:nvSpPr>
          <p:cNvPr id="41" name="TextBox 41"/>
          <p:cNvSpPr txBox="1"/>
          <p:nvPr/>
        </p:nvSpPr>
        <p:spPr>
          <a:xfrm>
            <a:off x="6655537" y="4061460"/>
            <a:ext cx="6906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短句为主</a:t>
            </a:r>
          </a:p>
        </p:txBody>
      </p:sp>
      <p:sp>
        <p:nvSpPr>
          <p:cNvPr id="42" name="Freeform 42"/>
          <p:cNvSpPr/>
          <p:nvPr/>
        </p:nvSpPr>
        <p:spPr>
          <a:xfrm>
            <a:off x="8001000" y="3857625"/>
            <a:ext cx="1714500" cy="523875"/>
          </a:xfrm>
          <a:custGeom>
            <a:avLst/>
            <a:gdLst/>
            <a:ahLst/>
            <a:cxnLst/>
            <a:rect l="l" t="t" r="r" b="b"/>
            <a:pathLst>
              <a:path w="1714500" h="523875">
                <a:moveTo>
                  <a:pt x="57150" y="0"/>
                </a:moveTo>
                <a:lnTo>
                  <a:pt x="1657350" y="0"/>
                </a:lnTo>
                <a:cubicBezTo>
                  <a:pt x="1688913" y="0"/>
                  <a:pt x="1714500" y="25587"/>
                  <a:pt x="1714500" y="57150"/>
                </a:cubicBezTo>
                <a:lnTo>
                  <a:pt x="1714500" y="466725"/>
                </a:lnTo>
                <a:cubicBezTo>
                  <a:pt x="1714500" y="498288"/>
                  <a:pt x="1688913" y="523875"/>
                  <a:pt x="1657350" y="523875"/>
                </a:cubicBezTo>
                <a:lnTo>
                  <a:pt x="57150" y="523875"/>
                </a:lnTo>
                <a:cubicBezTo>
                  <a:pt x="25587" y="523875"/>
                  <a:pt x="0" y="498288"/>
                  <a:pt x="0" y="46672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BF4FC"/>
          </a:solidFill>
          <a:ln>
            <a:noFill/>
          </a:ln>
        </p:spPr>
      </p:sp>
      <p:sp>
        <p:nvSpPr>
          <p:cNvPr id="43" name="TextBox 43"/>
          <p:cNvSpPr txBox="1"/>
          <p:nvPr/>
        </p:nvSpPr>
        <p:spPr>
          <a:xfrm>
            <a:off x="8343290" y="4061460"/>
            <a:ext cx="1029919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避免术语嵌套</a:t>
            </a:r>
          </a:p>
        </p:txBody>
      </p:sp>
      <p:sp>
        <p:nvSpPr>
          <p:cNvPr id="44" name="Freeform 44"/>
          <p:cNvSpPr/>
          <p:nvPr/>
        </p:nvSpPr>
        <p:spPr>
          <a:xfrm>
            <a:off x="9858375" y="3857625"/>
            <a:ext cx="1714500" cy="523875"/>
          </a:xfrm>
          <a:custGeom>
            <a:avLst/>
            <a:gdLst/>
            <a:ahLst/>
            <a:cxnLst/>
            <a:rect l="l" t="t" r="r" b="b"/>
            <a:pathLst>
              <a:path w="1714500" h="523875">
                <a:moveTo>
                  <a:pt x="57150" y="0"/>
                </a:moveTo>
                <a:lnTo>
                  <a:pt x="1657350" y="0"/>
                </a:lnTo>
                <a:cubicBezTo>
                  <a:pt x="1688913" y="0"/>
                  <a:pt x="1714500" y="25587"/>
                  <a:pt x="1714500" y="57150"/>
                </a:cubicBezTo>
                <a:lnTo>
                  <a:pt x="1714500" y="466725"/>
                </a:lnTo>
                <a:cubicBezTo>
                  <a:pt x="1714500" y="498288"/>
                  <a:pt x="1688913" y="523875"/>
                  <a:pt x="1657350" y="523875"/>
                </a:cubicBezTo>
                <a:lnTo>
                  <a:pt x="57150" y="523875"/>
                </a:lnTo>
                <a:cubicBezTo>
                  <a:pt x="25587" y="523875"/>
                  <a:pt x="0" y="498288"/>
                  <a:pt x="0" y="466725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EBF4FC"/>
          </a:solidFill>
          <a:ln>
            <a:noFill/>
          </a:ln>
        </p:spPr>
      </p:sp>
      <p:sp>
        <p:nvSpPr>
          <p:cNvPr id="45" name="TextBox 45"/>
          <p:cNvSpPr txBox="1"/>
          <p:nvPr/>
        </p:nvSpPr>
        <p:spPr>
          <a:xfrm>
            <a:off x="10285476" y="4061460"/>
            <a:ext cx="86029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允许语气词</a:t>
            </a:r>
          </a:p>
        </p:txBody>
      </p:sp>
      <p:sp>
        <p:nvSpPr>
          <p:cNvPr id="46" name="Freeform 46"/>
          <p:cNvSpPr/>
          <p:nvPr/>
        </p:nvSpPr>
        <p:spPr>
          <a:xfrm>
            <a:off x="571500" y="4667250"/>
            <a:ext cx="11049000" cy="952500"/>
          </a:xfrm>
          <a:custGeom>
            <a:avLst/>
            <a:gdLst/>
            <a:ahLst/>
            <a:cxnLst/>
            <a:rect l="l" t="t" r="r" b="b"/>
            <a:pathLst>
              <a:path w="11049000" h="95250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876300"/>
                </a:lnTo>
                <a:cubicBezTo>
                  <a:pt x="11049000" y="918384"/>
                  <a:pt x="11014884" y="952500"/>
                  <a:pt x="10972800" y="952500"/>
                </a:cubicBezTo>
                <a:lnTo>
                  <a:pt x="76200" y="952500"/>
                </a:lnTo>
                <a:cubicBezTo>
                  <a:pt x="34116" y="952500"/>
                  <a:pt x="0" y="918384"/>
                  <a:pt x="0" y="87630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5F7FA"/>
          </a:solidFill>
          <a:ln>
            <a:noFill/>
          </a:ln>
        </p:spPr>
      </p:sp>
      <p:sp>
        <p:nvSpPr>
          <p:cNvPr id="47" name="TextBox 47"/>
          <p:cNvSpPr txBox="1"/>
          <p:nvPr/>
        </p:nvSpPr>
        <p:spPr>
          <a:xfrm>
            <a:off x="756285" y="4831556"/>
            <a:ext cx="64751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b="1" dirty="0">
                <a:solidFill>
                  <a:srgbClr val="1B3A5C"/>
                </a:solidFill>
                <a:latin typeface="Microsoft YaHei"/>
                <a:ea typeface="Microsoft YaHei"/>
                <a:cs typeface="Microsoft YaHei"/>
              </a:rPr>
              <a:t>完整范例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56285" y="5098256"/>
            <a:ext cx="466801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领导，关于X项目，我建议立即启动。第一，市场窗口仅剩3个月；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756285" y="5336381"/>
            <a:ext cx="5160645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第二，技术方案已验证；第三，团队已就绪。我的建议是本周五前完成立项。</a:t>
            </a:r>
          </a:p>
        </p:txBody>
      </p:sp>
      <p:sp>
        <p:nvSpPr>
          <p:cNvPr id="50" name="Freeform 50"/>
          <p:cNvSpPr/>
          <p:nvPr/>
        </p:nvSpPr>
        <p:spPr>
          <a:xfrm>
            <a:off x="571500" y="5905500"/>
            <a:ext cx="11049000" cy="666750"/>
          </a:xfrm>
          <a:custGeom>
            <a:avLst/>
            <a:gdLst/>
            <a:ahLst/>
            <a:cxnLst/>
            <a:rect l="l" t="t" r="r" b="b"/>
            <a:pathLst>
              <a:path w="11049000" h="666750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590550"/>
                </a:lnTo>
                <a:cubicBezTo>
                  <a:pt x="11049000" y="632634"/>
                  <a:pt x="11014884" y="666750"/>
                  <a:pt x="10972800" y="666750"/>
                </a:cubicBezTo>
                <a:lnTo>
                  <a:pt x="76200" y="666750"/>
                </a:lnTo>
                <a:cubicBezTo>
                  <a:pt x="34116" y="666750"/>
                  <a:pt x="0" y="632634"/>
                  <a:pt x="0" y="5905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1B3A5C"/>
          </a:solidFill>
          <a:ln>
            <a:noFill/>
          </a:ln>
        </p:spPr>
      </p:sp>
      <p:sp>
        <p:nvSpPr>
          <p:cNvPr id="51" name="TextBox 51"/>
          <p:cNvSpPr txBox="1"/>
          <p:nvPr/>
        </p:nvSpPr>
        <p:spPr>
          <a:xfrm>
            <a:off x="3720342" y="6156008"/>
            <a:ext cx="4751316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E87722"/>
                </a:solidFill>
                <a:latin typeface="Microsoft YaHei"/>
                <a:ea typeface="Microsoft YaHei"/>
                <a:cs typeface="Microsoft YaHei"/>
              </a:rPr>
              <a:t>核心：让听众轻松听懂 — 感觉轻松 = 感觉正确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4A90D9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757424" y="505778"/>
            <a:ext cx="67715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b="1" dirty="0">
                <a:solidFill>
                  <a:srgbClr val="4A90D9"/>
                </a:solidFill>
                <a:latin typeface="Microsoft YaHei"/>
                <a:ea typeface="Microsoft YaHei"/>
                <a:cs typeface="Microsoft YaHei"/>
              </a:rPr>
              <a:t>SUMMARY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001711" y="724852"/>
            <a:ext cx="2188578" cy="4987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550" b="1" dirty="0">
                <a:solidFill>
                  <a:srgbClr val="1B3A5C"/>
                </a:solidFill>
                <a:latin typeface="Microsoft YaHei"/>
                <a:ea typeface="Microsoft YaHei"/>
                <a:cs typeface="Microsoft YaHei"/>
              </a:rPr>
              <a:t>核心要点回顾</a:t>
            </a:r>
          </a:p>
        </p:txBody>
      </p:sp>
      <p:sp>
        <p:nvSpPr>
          <p:cNvPr id="6" name="Freeform 6"/>
          <p:cNvSpPr/>
          <p:nvPr/>
        </p:nvSpPr>
        <p:spPr>
          <a:xfrm>
            <a:off x="5715000" y="1143000"/>
            <a:ext cx="762000" cy="28575"/>
          </a:xfrm>
          <a:custGeom>
            <a:avLst/>
            <a:gdLst/>
            <a:ahLst/>
            <a:cxnLst/>
            <a:rect l="l" t="t" r="r" b="b"/>
            <a:pathLst>
              <a:path w="762000" h="28575">
                <a:moveTo>
                  <a:pt x="14288" y="0"/>
                </a:moveTo>
                <a:lnTo>
                  <a:pt x="747712" y="0"/>
                </a:lnTo>
                <a:cubicBezTo>
                  <a:pt x="755603" y="0"/>
                  <a:pt x="762000" y="6397"/>
                  <a:pt x="762000" y="14288"/>
                </a:cubicBezTo>
                <a:lnTo>
                  <a:pt x="762000" y="14288"/>
                </a:lnTo>
                <a:cubicBezTo>
                  <a:pt x="762000" y="22178"/>
                  <a:pt x="755603" y="28575"/>
                  <a:pt x="747712" y="28575"/>
                </a:cubicBezTo>
                <a:lnTo>
                  <a:pt x="14288" y="28575"/>
                </a:lnTo>
                <a:cubicBezTo>
                  <a:pt x="6397" y="28575"/>
                  <a:pt x="0" y="22178"/>
                  <a:pt x="0" y="14288"/>
                </a:cubicBezTo>
                <a:lnTo>
                  <a:pt x="0" y="14288"/>
                </a:lnTo>
                <a:cubicBezTo>
                  <a:pt x="0" y="6397"/>
                  <a:pt x="6397" y="0"/>
                  <a:pt x="14288" y="0"/>
                </a:cubicBezTo>
                <a:close/>
              </a:path>
            </a:pathLst>
          </a:custGeom>
          <a:solidFill>
            <a:srgbClr val="E87722"/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571500" y="1476375"/>
            <a:ext cx="5429250" cy="809625"/>
          </a:xfrm>
          <a:custGeom>
            <a:avLst/>
            <a:gdLst/>
            <a:ahLst/>
            <a:cxnLst/>
            <a:rect l="l" t="t" r="r" b="b"/>
            <a:pathLst>
              <a:path w="5429250" h="809625">
                <a:moveTo>
                  <a:pt x="76200" y="0"/>
                </a:moveTo>
                <a:lnTo>
                  <a:pt x="5353050" y="0"/>
                </a:lnTo>
                <a:cubicBezTo>
                  <a:pt x="5395134" y="0"/>
                  <a:pt x="5429250" y="34116"/>
                  <a:pt x="5429250" y="76200"/>
                </a:cubicBezTo>
                <a:lnTo>
                  <a:pt x="5429250" y="733425"/>
                </a:lnTo>
                <a:cubicBezTo>
                  <a:pt x="5429250" y="775509"/>
                  <a:pt x="5395134" y="809625"/>
                  <a:pt x="5353050" y="809625"/>
                </a:cubicBezTo>
                <a:lnTo>
                  <a:pt x="76200" y="809625"/>
                </a:lnTo>
                <a:cubicBezTo>
                  <a:pt x="34116" y="809625"/>
                  <a:pt x="0" y="775509"/>
                  <a:pt x="0" y="73342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571500" y="1476375"/>
            <a:ext cx="57150" cy="809625"/>
          </a:xfrm>
          <a:custGeom>
            <a:avLst/>
            <a:gdLst/>
            <a:ahLst/>
            <a:cxnLst/>
            <a:rect l="l" t="t" r="r" b="b"/>
            <a:pathLst>
              <a:path w="57150" h="809625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781050"/>
                </a:lnTo>
                <a:cubicBezTo>
                  <a:pt x="57150" y="796832"/>
                  <a:pt x="44357" y="809625"/>
                  <a:pt x="28575" y="809625"/>
                </a:cubicBezTo>
                <a:lnTo>
                  <a:pt x="28575" y="809625"/>
                </a:lnTo>
                <a:cubicBezTo>
                  <a:pt x="12793" y="809625"/>
                  <a:pt x="0" y="796832"/>
                  <a:pt x="0" y="781050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4A90D9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846582" y="1583055"/>
            <a:ext cx="347857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b="1" dirty="0">
                <a:solidFill>
                  <a:srgbClr val="4A90D9">
                    <a:alphaMod val="15000"/>
                  </a:srgbClr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69517" y="1664018"/>
            <a:ext cx="11586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B3A5C"/>
                </a:solidFill>
                <a:latin typeface="Microsoft YaHei"/>
                <a:ea typeface="Microsoft YaHei"/>
                <a:cs typeface="Microsoft YaHei"/>
              </a:rPr>
              <a:t>目的决定形式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70660" y="1955006"/>
            <a:ext cx="228314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技巧需要灵魂支撑，否则就是套路</a:t>
            </a:r>
          </a:p>
        </p:txBody>
      </p:sp>
      <p:sp>
        <p:nvSpPr>
          <p:cNvPr id="12" name="Freeform 12"/>
          <p:cNvSpPr/>
          <p:nvPr/>
        </p:nvSpPr>
        <p:spPr>
          <a:xfrm>
            <a:off x="6191250" y="1476375"/>
            <a:ext cx="5429250" cy="809625"/>
          </a:xfrm>
          <a:custGeom>
            <a:avLst/>
            <a:gdLst/>
            <a:ahLst/>
            <a:cxnLst/>
            <a:rect l="l" t="t" r="r" b="b"/>
            <a:pathLst>
              <a:path w="5429250" h="809625">
                <a:moveTo>
                  <a:pt x="76200" y="0"/>
                </a:moveTo>
                <a:lnTo>
                  <a:pt x="5353050" y="0"/>
                </a:lnTo>
                <a:cubicBezTo>
                  <a:pt x="5395134" y="0"/>
                  <a:pt x="5429250" y="34116"/>
                  <a:pt x="5429250" y="76200"/>
                </a:cubicBezTo>
                <a:lnTo>
                  <a:pt x="5429250" y="733425"/>
                </a:lnTo>
                <a:cubicBezTo>
                  <a:pt x="5429250" y="775509"/>
                  <a:pt x="5395134" y="809625"/>
                  <a:pt x="5353050" y="809625"/>
                </a:cubicBezTo>
                <a:lnTo>
                  <a:pt x="76200" y="809625"/>
                </a:lnTo>
                <a:cubicBezTo>
                  <a:pt x="34116" y="809625"/>
                  <a:pt x="0" y="775509"/>
                  <a:pt x="0" y="73342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3" name="Freeform 13"/>
          <p:cNvSpPr/>
          <p:nvPr/>
        </p:nvSpPr>
        <p:spPr>
          <a:xfrm>
            <a:off x="6191250" y="1476375"/>
            <a:ext cx="57150" cy="809625"/>
          </a:xfrm>
          <a:custGeom>
            <a:avLst/>
            <a:gdLst/>
            <a:ahLst/>
            <a:cxnLst/>
            <a:rect l="l" t="t" r="r" b="b"/>
            <a:pathLst>
              <a:path w="57150" h="809625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781050"/>
                </a:lnTo>
                <a:cubicBezTo>
                  <a:pt x="57150" y="796832"/>
                  <a:pt x="44357" y="809625"/>
                  <a:pt x="28575" y="809625"/>
                </a:cubicBezTo>
                <a:lnTo>
                  <a:pt x="28575" y="809625"/>
                </a:lnTo>
                <a:cubicBezTo>
                  <a:pt x="12793" y="809625"/>
                  <a:pt x="0" y="796832"/>
                  <a:pt x="0" y="781050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E87722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6466332" y="1583055"/>
            <a:ext cx="347857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b="1" dirty="0">
                <a:solidFill>
                  <a:srgbClr val="E87722">
                    <a:alphaMod val="15000"/>
                  </a:srgbClr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089267" y="1664018"/>
            <a:ext cx="9678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B3A5C"/>
                </a:solidFill>
                <a:latin typeface="Microsoft YaHei"/>
                <a:ea typeface="Microsoft YaHei"/>
                <a:cs typeface="Microsoft YaHei"/>
              </a:rPr>
              <a:t>尊重注意力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090410" y="1955006"/>
            <a:ext cx="243459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三点原则、简化语言、主动标定重点</a:t>
            </a:r>
          </a:p>
        </p:txBody>
      </p:sp>
      <p:sp>
        <p:nvSpPr>
          <p:cNvPr id="17" name="Freeform 17"/>
          <p:cNvSpPr/>
          <p:nvPr/>
        </p:nvSpPr>
        <p:spPr>
          <a:xfrm>
            <a:off x="571500" y="2428875"/>
            <a:ext cx="5429250" cy="809625"/>
          </a:xfrm>
          <a:custGeom>
            <a:avLst/>
            <a:gdLst/>
            <a:ahLst/>
            <a:cxnLst/>
            <a:rect l="l" t="t" r="r" b="b"/>
            <a:pathLst>
              <a:path w="5429250" h="809625">
                <a:moveTo>
                  <a:pt x="76200" y="0"/>
                </a:moveTo>
                <a:lnTo>
                  <a:pt x="5353050" y="0"/>
                </a:lnTo>
                <a:cubicBezTo>
                  <a:pt x="5395134" y="0"/>
                  <a:pt x="5429250" y="34116"/>
                  <a:pt x="5429250" y="76200"/>
                </a:cubicBezTo>
                <a:lnTo>
                  <a:pt x="5429250" y="733425"/>
                </a:lnTo>
                <a:cubicBezTo>
                  <a:pt x="5429250" y="775509"/>
                  <a:pt x="5395134" y="809625"/>
                  <a:pt x="5353050" y="809625"/>
                </a:cubicBezTo>
                <a:lnTo>
                  <a:pt x="76200" y="809625"/>
                </a:lnTo>
                <a:cubicBezTo>
                  <a:pt x="34116" y="809625"/>
                  <a:pt x="0" y="775509"/>
                  <a:pt x="0" y="73342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8" name="Freeform 18"/>
          <p:cNvSpPr/>
          <p:nvPr/>
        </p:nvSpPr>
        <p:spPr>
          <a:xfrm>
            <a:off x="571500" y="2428875"/>
            <a:ext cx="57150" cy="809625"/>
          </a:xfrm>
          <a:custGeom>
            <a:avLst/>
            <a:gdLst/>
            <a:ahLst/>
            <a:cxnLst/>
            <a:rect l="l" t="t" r="r" b="b"/>
            <a:pathLst>
              <a:path w="57150" h="809625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781050"/>
                </a:lnTo>
                <a:cubicBezTo>
                  <a:pt x="57150" y="796832"/>
                  <a:pt x="44357" y="809625"/>
                  <a:pt x="28575" y="809625"/>
                </a:cubicBezTo>
                <a:lnTo>
                  <a:pt x="28575" y="809625"/>
                </a:lnTo>
                <a:cubicBezTo>
                  <a:pt x="12793" y="809625"/>
                  <a:pt x="0" y="796832"/>
                  <a:pt x="0" y="781050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E87722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46582" y="2535555"/>
            <a:ext cx="347857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b="1" dirty="0">
                <a:solidFill>
                  <a:srgbClr val="E87722">
                    <a:alphaMod val="15000"/>
                  </a:srgbClr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69517" y="2616518"/>
            <a:ext cx="9678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B3A5C"/>
                </a:solidFill>
                <a:latin typeface="Microsoft YaHei"/>
                <a:ea typeface="Microsoft YaHei"/>
                <a:cs typeface="Microsoft YaHei"/>
              </a:rPr>
              <a:t>信任与权威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70660" y="2907506"/>
            <a:ext cx="228314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信任靠自信流畅，权威靠数据逻辑</a:t>
            </a:r>
          </a:p>
        </p:txBody>
      </p:sp>
      <p:sp>
        <p:nvSpPr>
          <p:cNvPr id="22" name="Freeform 22"/>
          <p:cNvSpPr/>
          <p:nvPr/>
        </p:nvSpPr>
        <p:spPr>
          <a:xfrm>
            <a:off x="6191250" y="2428875"/>
            <a:ext cx="5429250" cy="809625"/>
          </a:xfrm>
          <a:custGeom>
            <a:avLst/>
            <a:gdLst/>
            <a:ahLst/>
            <a:cxnLst/>
            <a:rect l="l" t="t" r="r" b="b"/>
            <a:pathLst>
              <a:path w="5429250" h="809625">
                <a:moveTo>
                  <a:pt x="76200" y="0"/>
                </a:moveTo>
                <a:lnTo>
                  <a:pt x="5353050" y="0"/>
                </a:lnTo>
                <a:cubicBezTo>
                  <a:pt x="5395134" y="0"/>
                  <a:pt x="5429250" y="34116"/>
                  <a:pt x="5429250" y="76200"/>
                </a:cubicBezTo>
                <a:lnTo>
                  <a:pt x="5429250" y="733425"/>
                </a:lnTo>
                <a:cubicBezTo>
                  <a:pt x="5429250" y="775509"/>
                  <a:pt x="5395134" y="809625"/>
                  <a:pt x="5353050" y="809625"/>
                </a:cubicBezTo>
                <a:lnTo>
                  <a:pt x="76200" y="809625"/>
                </a:lnTo>
                <a:cubicBezTo>
                  <a:pt x="34116" y="809625"/>
                  <a:pt x="0" y="775509"/>
                  <a:pt x="0" y="73342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3" name="Freeform 23"/>
          <p:cNvSpPr/>
          <p:nvPr/>
        </p:nvSpPr>
        <p:spPr>
          <a:xfrm>
            <a:off x="6191250" y="2428875"/>
            <a:ext cx="57150" cy="809625"/>
          </a:xfrm>
          <a:custGeom>
            <a:avLst/>
            <a:gdLst/>
            <a:ahLst/>
            <a:cxnLst/>
            <a:rect l="l" t="t" r="r" b="b"/>
            <a:pathLst>
              <a:path w="57150" h="809625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781050"/>
                </a:lnTo>
                <a:cubicBezTo>
                  <a:pt x="57150" y="796832"/>
                  <a:pt x="44357" y="809625"/>
                  <a:pt x="28575" y="809625"/>
                </a:cubicBezTo>
                <a:lnTo>
                  <a:pt x="28575" y="809625"/>
                </a:lnTo>
                <a:cubicBezTo>
                  <a:pt x="12793" y="809625"/>
                  <a:pt x="0" y="796832"/>
                  <a:pt x="0" y="781050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4CAF50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6466332" y="2535555"/>
            <a:ext cx="347857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b="1" dirty="0">
                <a:solidFill>
                  <a:srgbClr val="4CAF50">
                    <a:alphaMod val="15000"/>
                  </a:srgbClr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089267" y="2616518"/>
            <a:ext cx="9678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B3A5C"/>
                </a:solidFill>
                <a:latin typeface="Microsoft YaHei"/>
                <a:ea typeface="Microsoft YaHei"/>
                <a:cs typeface="Microsoft YaHei"/>
              </a:rPr>
              <a:t>流畅性启发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090410" y="2907506"/>
            <a:ext cx="276020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感觉轻松 = 感觉正确，流畅比正确更重要</a:t>
            </a:r>
          </a:p>
        </p:txBody>
      </p:sp>
      <p:sp>
        <p:nvSpPr>
          <p:cNvPr id="27" name="Freeform 27"/>
          <p:cNvSpPr/>
          <p:nvPr/>
        </p:nvSpPr>
        <p:spPr>
          <a:xfrm>
            <a:off x="571500" y="3381375"/>
            <a:ext cx="11049000" cy="809625"/>
          </a:xfrm>
          <a:custGeom>
            <a:avLst/>
            <a:gdLst/>
            <a:ahLst/>
            <a:cxnLst/>
            <a:rect l="l" t="t" r="r" b="b"/>
            <a:pathLst>
              <a:path w="11049000" h="809625">
                <a:moveTo>
                  <a:pt x="76200" y="0"/>
                </a:moveTo>
                <a:lnTo>
                  <a:pt x="10972800" y="0"/>
                </a:lnTo>
                <a:cubicBezTo>
                  <a:pt x="11014884" y="0"/>
                  <a:pt x="11049000" y="34116"/>
                  <a:pt x="11049000" y="76200"/>
                </a:cubicBezTo>
                <a:lnTo>
                  <a:pt x="11049000" y="733425"/>
                </a:lnTo>
                <a:cubicBezTo>
                  <a:pt x="11049000" y="775509"/>
                  <a:pt x="11014884" y="809625"/>
                  <a:pt x="10972800" y="809625"/>
                </a:cubicBezTo>
                <a:lnTo>
                  <a:pt x="76200" y="809625"/>
                </a:lnTo>
                <a:cubicBezTo>
                  <a:pt x="34116" y="809625"/>
                  <a:pt x="0" y="775509"/>
                  <a:pt x="0" y="73342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8" name="Freeform 28"/>
          <p:cNvSpPr/>
          <p:nvPr/>
        </p:nvSpPr>
        <p:spPr>
          <a:xfrm>
            <a:off x="571500" y="3381375"/>
            <a:ext cx="57150" cy="809625"/>
          </a:xfrm>
          <a:custGeom>
            <a:avLst/>
            <a:gdLst/>
            <a:ahLst/>
            <a:cxnLst/>
            <a:rect l="l" t="t" r="r" b="b"/>
            <a:pathLst>
              <a:path w="57150" h="809625">
                <a:moveTo>
                  <a:pt x="28575" y="0"/>
                </a:moveTo>
                <a:lnTo>
                  <a:pt x="28575" y="0"/>
                </a:lnTo>
                <a:cubicBezTo>
                  <a:pt x="44357" y="0"/>
                  <a:pt x="57150" y="12793"/>
                  <a:pt x="57150" y="28575"/>
                </a:cubicBezTo>
                <a:lnTo>
                  <a:pt x="57150" y="781050"/>
                </a:lnTo>
                <a:cubicBezTo>
                  <a:pt x="57150" y="796832"/>
                  <a:pt x="44357" y="809625"/>
                  <a:pt x="28575" y="809625"/>
                </a:cubicBezTo>
                <a:lnTo>
                  <a:pt x="28575" y="809625"/>
                </a:lnTo>
                <a:cubicBezTo>
                  <a:pt x="12793" y="809625"/>
                  <a:pt x="0" y="796832"/>
                  <a:pt x="0" y="781050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</a:path>
            </a:pathLst>
          </a:custGeom>
          <a:solidFill>
            <a:srgbClr val="E87722"/>
          </a:solidFill>
          <a:ln>
            <a:noFill/>
          </a:ln>
        </p:spPr>
      </p:sp>
      <p:sp>
        <p:nvSpPr>
          <p:cNvPr id="29" name="TextBox 29"/>
          <p:cNvSpPr txBox="1"/>
          <p:nvPr/>
        </p:nvSpPr>
        <p:spPr>
          <a:xfrm>
            <a:off x="846582" y="3488055"/>
            <a:ext cx="347857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b="1" dirty="0">
                <a:solidFill>
                  <a:srgbClr val="E87722">
                    <a:alphaMod val="15000"/>
                  </a:srgbClr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469517" y="3569018"/>
            <a:ext cx="77701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B3A5C"/>
                </a:solidFill>
                <a:latin typeface="Microsoft YaHei"/>
                <a:ea typeface="Microsoft YaHei"/>
                <a:cs typeface="Microsoft YaHei"/>
              </a:rPr>
              <a:t>场景公式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2945892" y="3569018"/>
            <a:ext cx="209460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钩子 → 结论 → 观点 → 行动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470660" y="3860006"/>
            <a:ext cx="243459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四步结构化表达，降低听众认知负担</a:t>
            </a:r>
          </a:p>
        </p:txBody>
      </p:sp>
      <p:sp>
        <p:nvSpPr>
          <p:cNvPr id="33" name="Freeform 33"/>
          <p:cNvSpPr/>
          <p:nvPr/>
        </p:nvSpPr>
        <p:spPr>
          <a:xfrm>
            <a:off x="571500" y="4667250"/>
            <a:ext cx="11049000" cy="1238250"/>
          </a:xfrm>
          <a:custGeom>
            <a:avLst/>
            <a:gdLst/>
            <a:ahLst/>
            <a:cxnLst/>
            <a:rect l="l" t="t" r="r" b="b"/>
            <a:pathLst>
              <a:path w="11049000" h="1238250">
                <a:moveTo>
                  <a:pt x="114300" y="0"/>
                </a:moveTo>
                <a:lnTo>
                  <a:pt x="10934700" y="0"/>
                </a:lnTo>
                <a:cubicBezTo>
                  <a:pt x="10997826" y="0"/>
                  <a:pt x="11049000" y="51174"/>
                  <a:pt x="11049000" y="114300"/>
                </a:cubicBezTo>
                <a:lnTo>
                  <a:pt x="11049000" y="1123950"/>
                </a:lnTo>
                <a:cubicBezTo>
                  <a:pt x="11049000" y="1187076"/>
                  <a:pt x="10997826" y="1238250"/>
                  <a:pt x="10934700" y="1238250"/>
                </a:cubicBezTo>
                <a:lnTo>
                  <a:pt x="114300" y="1238250"/>
                </a:lnTo>
                <a:cubicBezTo>
                  <a:pt x="51174" y="1238250"/>
                  <a:pt x="0" y="1187076"/>
                  <a:pt x="0" y="11239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1B3A5C"/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4335351" y="4948238"/>
            <a:ext cx="3521297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250" b="1" dirty="0">
                <a:solidFill>
                  <a:srgbClr val="E87722"/>
                </a:solidFill>
                <a:latin typeface="Microsoft YaHei"/>
                <a:ea typeface="Microsoft YaHei"/>
                <a:cs typeface="Microsoft YaHei"/>
              </a:rPr>
              <a:t>说对话，比说好话更重要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362956" y="5442585"/>
            <a:ext cx="146608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dirty="0">
                <a:solidFill>
                  <a:srgbClr val="8FAFC4"/>
                </a:solidFill>
                <a:latin typeface="Microsoft YaHei"/>
                <a:ea typeface="Microsoft YaHei"/>
                <a:cs typeface="Microsoft YaHei"/>
              </a:rPr>
              <a:t>即时表达的终极奥义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995196" y="6363652"/>
            <a:ext cx="220160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感谢聆听 · 表达力训练系列 · 2026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2026-07-01T07:28:35Z</dcterms:created>
  <dcterms:modified xsi:type="dcterms:W3CDTF">2026-07-01T07:28:35Z</dcterms:modified>
  <cp:category/>
  <cp:contentStatus/>
</cp:coreProperties>
</file>