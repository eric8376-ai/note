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7" r:id="rId5"/>
    <p:sldId id="370" r:id="rId15"/>
    <p:sldId id="371" r:id="rId16"/>
    <p:sldId id="372" r:id="rId17"/>
    <p:sldId id="373" r:id="rId18"/>
    <p:sldId id="374" r:id="rId19"/>
    <p:sldId id="375" r:id="rId20"/>
    <p:sldId id="263" r:id="rId9"/>
  </p:sldIdLst>
  <p:sldSz cx="9144000" cy="5143500" type="screen16x9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u" initials="q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244" y="52"/>
      </p:cViewPr>
      <p:guideLst>
        <p:guide orient="horz" pos="1536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commentAuthors" Target="commentAuthors.xml"/><Relationship Id="rId14" Type="http://schemas.openxmlformats.org/officeDocument/2006/relationships/tags" Target="tags/tag95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1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74325" y="514440"/>
            <a:ext cx="5512050" cy="144610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337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74325" y="2003075"/>
            <a:ext cx="5512050" cy="82837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spc="200">
                <a:uFillTx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685" indent="0" algn="ctr">
              <a:buNone/>
              <a:defRPr sz="900"/>
            </a:lvl7pPr>
            <a:lvl8pPr marL="1800860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598984"/>
            <a:ext cx="6170175" cy="3969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424" y="1135856"/>
            <a:ext cx="6170295" cy="238029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2165104"/>
            <a:ext cx="4369950" cy="43140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247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2596505"/>
            <a:ext cx="4369950" cy="488111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01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571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68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86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342285"/>
            <a:ext cx="6170175" cy="3969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844573"/>
            <a:ext cx="2911950" cy="267144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844573"/>
            <a:ext cx="2911950" cy="2671442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342285"/>
            <a:ext cx="6170175" cy="3969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804066"/>
            <a:ext cx="3005100" cy="214688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12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685" indent="0">
              <a:buNone/>
              <a:defRPr sz="900" b="1"/>
            </a:lvl7pPr>
            <a:lvl8pPr marL="1800860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1043057"/>
            <a:ext cx="3005100" cy="247295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10" y="799862"/>
            <a:ext cx="3005100" cy="21468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12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685" indent="0">
              <a:buNone/>
              <a:defRPr sz="900" b="1"/>
            </a:lvl7pPr>
            <a:lvl8pPr marL="1800860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10" y="1043057"/>
            <a:ext cx="3005100" cy="247295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342285"/>
            <a:ext cx="6170175" cy="3969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186" y="874905"/>
            <a:ext cx="2943582" cy="259256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9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874953"/>
            <a:ext cx="2940300" cy="259245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514440"/>
            <a:ext cx="587250" cy="282942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1575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514440"/>
            <a:ext cx="5157675" cy="2829420"/>
          </a:xfrm>
        </p:spPr>
        <p:txBody>
          <a:bodyPr vert="eaVert" lIns="46800" tIns="46800" rIns="46800" bIns="46800"/>
          <a:lstStyle>
            <a:lvl1pPr marL="128905" indent="-128270">
              <a:spcAft>
                <a:spcPts val="1000"/>
              </a:spcAft>
              <a:defRPr spc="300"/>
            </a:lvl1pPr>
            <a:lvl2pPr marL="386080" indent="-128270">
              <a:defRPr spc="300"/>
            </a:lvl2pPr>
            <a:lvl3pPr marL="643255" indent="-128270">
              <a:defRPr spc="300"/>
            </a:lvl3pPr>
            <a:lvl4pPr marL="900430" indent="-128270">
              <a:defRPr spc="300"/>
            </a:lvl4pPr>
            <a:lvl5pPr marL="1157605" indent="-12827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435452"/>
            <a:ext cx="6172200" cy="308461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1397495"/>
            <a:ext cx="5512050" cy="573176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375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2003075"/>
            <a:ext cx="5512050" cy="26532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35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tags" Target="../tags/tag57.xml"/><Relationship Id="rId14" Type="http://schemas.openxmlformats.org/officeDocument/2006/relationships/tags" Target="../tags/tag58.xml"/><Relationship Id="rId15" Type="http://schemas.openxmlformats.org/officeDocument/2006/relationships/tags" Target="../tags/tag59.xml"/><Relationship Id="rId16" Type="http://schemas.openxmlformats.org/officeDocument/2006/relationships/tags" Target="../tags/tag60.xml"/><Relationship Id="rId17" Type="http://schemas.openxmlformats.org/officeDocument/2006/relationships/tags" Target="../tags/tag61.xml"/><Relationship Id="rId18" Type="http://schemas.openxmlformats.org/officeDocument/2006/relationships/tags" Target="../tags/tag6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342225" y="342285"/>
            <a:ext cx="6170175" cy="3969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342225" y="838497"/>
            <a:ext cx="6170175" cy="267751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344250" y="3552471"/>
            <a:ext cx="1518750" cy="178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56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2315250" y="3552471"/>
            <a:ext cx="2227500" cy="178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6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4993650" y="3552471"/>
            <a:ext cx="1518750" cy="178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56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fontAlgn="auto" latinLnBrk="0" hangingPunct="1">
        <a:lnSpc>
          <a:spcPct val="100000"/>
        </a:lnSpc>
        <a:spcBef>
          <a:spcPct val="0"/>
        </a:spcBef>
        <a:buNone/>
        <a:defRPr sz="2025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289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0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86080" indent="-128270" algn="l" defTabSz="51435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906145" algn="l"/>
          <a:tab pos="906145" algn="l"/>
          <a:tab pos="906145" algn="l"/>
          <a:tab pos="906145" algn="l"/>
        </a:tabLst>
        <a:defRPr sz="9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643255" indent="-128270" algn="l" defTabSz="51435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9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900430" indent="-128270" algn="l" defTabSz="51435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7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157605" indent="-128270" algn="l" defTabSz="51435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7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4147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68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803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tags" Target="../tags/tag63.xml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tags" Target="../tags/tag66.xml"/><Relationship Id="rId3" Type="http://schemas.openxmlformats.org/officeDocument/2006/relationships/tags" Target="../tags/tag67.xml"/><Relationship Id="rId4" Type="http://schemas.openxmlformats.org/officeDocument/2006/relationships/tags" Target="../tags/tag68.xml"/><Relationship Id="rId5" Type="http://schemas.openxmlformats.org/officeDocument/2006/relationships/tags" Target="../tags/tag69.xml"/><Relationship Id="rId6" Type="http://schemas.openxmlformats.org/officeDocument/2006/relationships/tags" Target="../tags/tag70.xml"/><Relationship Id="rId7" Type="http://schemas.openxmlformats.org/officeDocument/2006/relationships/tags" Target="../tags/tag71.xml"/><Relationship Id="rId8" Type="http://schemas.openxmlformats.org/officeDocument/2006/relationships/tags" Target="../tags/tag72.xml"/><Relationship Id="rId9" Type="http://schemas.openxmlformats.org/officeDocument/2006/relationships/tags" Target="../tags/tag73.xml"/><Relationship Id="rId10" Type="http://schemas.openxmlformats.org/officeDocument/2006/relationships/tags" Target="../tags/tag74.xml"/><Relationship Id="rId11" Type="http://schemas.openxmlformats.org/officeDocument/2006/relationships/tags" Target="../tags/tag75.xml"/><Relationship Id="rId12" Type="http://schemas.openxmlformats.org/officeDocument/2006/relationships/tags" Target="../tags/tag76.xml"/><Relationship Id="rId13" Type="http://schemas.openxmlformats.org/officeDocument/2006/relationships/tags" Target="../tags/tag77.xml"/><Relationship Id="rId14" Type="http://schemas.openxmlformats.org/officeDocument/2006/relationships/tags" Target="../tags/tag78.xml"/><Relationship Id="rId15" Type="http://schemas.openxmlformats.org/officeDocument/2006/relationships/tags" Target="../tags/tag79.xml"/><Relationship Id="rId16" Type="http://schemas.openxmlformats.org/officeDocument/2006/relationships/tags" Target="../tags/tag80.xml"/><Relationship Id="rId17" Type="http://schemas.openxmlformats.org/officeDocument/2006/relationships/tags" Target="../tags/tag81.xml"/><Relationship Id="rId18" Type="http://schemas.openxmlformats.org/officeDocument/2006/relationships/tags" Target="../tags/tag82.xml"/><Relationship Id="rId19" Type="http://schemas.openxmlformats.org/officeDocument/2006/relationships/tags" Target="../tags/tag83.xml"/><Relationship Id="rId20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tags" Target="../tags/tag87.xml"/><Relationship Id="rId3" Type="http://schemas.openxmlformats.org/officeDocument/2006/relationships/tags" Target="../tags/tag88.xml"/><Relationship Id="rId4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91.xml"/><Relationship Id="rId2" Type="http://schemas.openxmlformats.org/officeDocument/2006/relationships/tags" Target="../tags/tag92.xml"/><Relationship Id="rId3" Type="http://schemas.openxmlformats.org/officeDocument/2006/relationships/image" Target="../media/image3.png"/><Relationship Id="rId4" Type="http://schemas.openxmlformats.org/officeDocument/2006/relationships/tags" Target="../tags/tag93.xml"/><Relationship Id="rId5" Type="http://schemas.openxmlformats.org/officeDocument/2006/relationships/tags" Target="../tags/tag94.xml"/><Relationship Id="rId6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70610" y="537845"/>
            <a:ext cx="6744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237729" y="1281143"/>
            <a:ext cx="6141492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600" b="1">
                <a:latin typeface="微软雅黑"/>
              </a:rPr>
              <a:t>即时表达</a:t>
            </a:r>
            <a:endParaRPr lang="en-US" altLang="zh-CN" sz="3200" b="1" dirty="0">
              <a:ea typeface="微软雅黑" panose="020B0503020204020204" pitchFamily="34" charset="-122"/>
            </a:endParaRPr>
          </a:p>
          <a:p>
            <a:r>
              <a:rPr sz="2000" b="0">
                <a:latin typeface="微软雅黑"/>
              </a:rPr>
              <a:t>公众发言的核心艺术</a:t>
            </a:r>
          </a:p>
          <a:p/>
          <a:p>
            <a:r>
              <a:rPr sz="1400" b="0">
                <a:latin typeface="微软雅黑"/>
              </a:rPr>
              <a:t>汇报人：xxx       部门：xxx</a:t>
            </a:r>
          </a:p>
          <a:p/>
          <a:p>
            <a:r>
              <a:rPr sz="1400" b="0">
                <a:latin typeface="微软雅黑"/>
              </a:rPr>
              <a:t>  2026年6月</a:t>
            </a: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>
            <p:custDataLst>
              <p:tags r:id="rId2"/>
            </p:custDataLst>
          </p:nvPr>
        </p:nvGrpSpPr>
        <p:grpSpPr>
          <a:xfrm>
            <a:off x="2636415" y="1656080"/>
            <a:ext cx="3547745" cy="1564640"/>
            <a:chOff x="4023" y="3712"/>
            <a:chExt cx="5587" cy="2464"/>
          </a:xfrm>
        </p:grpSpPr>
        <p:sp>
          <p:nvSpPr>
            <p:cNvPr id="25" name="文本框 24"/>
            <p:cNvSpPr txBox="1"/>
            <p:nvPr>
              <p:custDataLst>
                <p:tags r:id="rId3"/>
              </p:custDataLst>
            </p:nvPr>
          </p:nvSpPr>
          <p:spPr>
            <a:xfrm>
              <a:off x="4573" y="3712"/>
              <a:ext cx="4823" cy="58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4023" y="4654"/>
              <a:ext cx="4917" cy="580"/>
              <a:chOff x="2678" y="2474"/>
              <a:chExt cx="4917" cy="580"/>
            </a:xfrm>
          </p:grpSpPr>
          <p:sp>
            <p:nvSpPr>
              <p:cNvPr id="28" name="文本框 2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228" y="2474"/>
                <a:ext cx="436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1" name="圆角矩形 50"/>
              <p:cNvSpPr/>
              <p:nvPr>
                <p:custDataLst>
                  <p:tags r:id="rId5"/>
                </p:custDataLst>
              </p:nvPr>
            </p:nvSpPr>
            <p:spPr>
              <a:xfrm>
                <a:off x="2678" y="2641"/>
                <a:ext cx="240" cy="240"/>
              </a:xfrm>
              <a:prstGeom prst="round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4023" y="5596"/>
              <a:ext cx="5587" cy="580"/>
              <a:chOff x="2678" y="3725"/>
              <a:chExt cx="5587" cy="580"/>
            </a:xfrm>
          </p:grpSpPr>
          <p:sp>
            <p:nvSpPr>
              <p:cNvPr id="31" name="文本框 3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228" y="3725"/>
                <a:ext cx="503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2" name="圆角矩形 51"/>
              <p:cNvSpPr/>
              <p:nvPr>
                <p:custDataLst>
                  <p:tags r:id="rId7"/>
                </p:custDataLst>
              </p:nvPr>
            </p:nvSpPr>
            <p:spPr>
              <a:xfrm>
                <a:off x="2678" y="3893"/>
                <a:ext cx="240" cy="24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2985770" y="3077845"/>
            <a:ext cx="4236085" cy="1162050"/>
            <a:chOff x="4279" y="4659"/>
            <a:chExt cx="6671" cy="1830"/>
          </a:xfrm>
        </p:grpSpPr>
        <p:sp>
          <p:nvSpPr>
            <p:cNvPr id="3" name="矩形 2"/>
            <p:cNvSpPr/>
            <p:nvPr>
              <p:custDataLst>
                <p:tags r:id="rId9"/>
              </p:custDataLst>
            </p:nvPr>
          </p:nvSpPr>
          <p:spPr>
            <a:xfrm>
              <a:off x="5216" y="4659"/>
              <a:ext cx="5537" cy="1243"/>
            </a:xfrm>
            <a:prstGeom prst="rect">
              <a:avLst/>
            </a:prstGeom>
            <a:ln w="15875">
              <a:noFill/>
            </a:ln>
          </p:spPr>
          <p:txBody>
            <a:bodyPr wrap="square" lIns="51435" tIns="25718" rIns="51435" bIns="25718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10"/>
              </p:custDataLst>
            </p:nvPr>
          </p:nvSpPr>
          <p:spPr>
            <a:xfrm>
              <a:off x="4279" y="5246"/>
              <a:ext cx="6671" cy="1243"/>
            </a:xfrm>
            <a:prstGeom prst="rect">
              <a:avLst/>
            </a:prstGeom>
            <a:ln w="15875">
              <a:noFill/>
            </a:ln>
          </p:spPr>
          <p:txBody>
            <a:bodyPr wrap="square" lIns="51435" tIns="25718" rIns="51435" bIns="25718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工作计划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altLang="zh-CN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09880" y="895350"/>
            <a:ext cx="2804160" cy="1315085"/>
            <a:chOff x="2" y="905"/>
            <a:chExt cx="4416" cy="2071"/>
          </a:xfrm>
        </p:grpSpPr>
        <p:sp>
          <p:nvSpPr>
            <p:cNvPr id="10" name="文本框 5"/>
            <p:cNvSpPr txBox="1"/>
            <p:nvPr>
              <p:custDataLst>
                <p:tags r:id="rId11"/>
              </p:custDataLst>
            </p:nvPr>
          </p:nvSpPr>
          <p:spPr>
            <a:xfrm>
              <a:off x="1224" y="1958"/>
              <a:ext cx="3194" cy="10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contents</a:t>
              </a:r>
              <a:endPara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2"/>
              </p:custDataLst>
            </p:nvPr>
          </p:nvSpPr>
          <p:spPr>
            <a:xfrm>
              <a:off x="2" y="1516"/>
              <a:ext cx="719" cy="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3"/>
              </p:custDataLst>
            </p:nvPr>
          </p:nvSpPr>
          <p:spPr>
            <a:xfrm>
              <a:off x="883" y="2344"/>
              <a:ext cx="296" cy="2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14"/>
              </p:custDataLst>
            </p:nvPr>
          </p:nvSpPr>
          <p:spPr>
            <a:xfrm>
              <a:off x="1164" y="905"/>
              <a:ext cx="2859" cy="152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lvl="0" algn="l"/>
              <a:r>
                <a:rPr lang="zh-CN" altLang="en-US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</a:t>
              </a:r>
              <a:r>
                <a:rPr lang="en-US" altLang="zh-CN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</a:t>
              </a:r>
              <a:endPara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>
            <p:custDataLst>
              <p:tags r:id="rId15"/>
            </p:custDataLst>
          </p:nvPr>
        </p:nvSpPr>
        <p:spPr>
          <a:xfrm rot="16200000">
            <a:off x="4242435" y="407035"/>
            <a:ext cx="76200" cy="2956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6"/>
            </p:custDataLst>
          </p:nvPr>
        </p:nvSpPr>
        <p:spPr>
          <a:xfrm>
            <a:off x="3012440" y="2254250"/>
            <a:ext cx="4236085" cy="789305"/>
          </a:xfrm>
          <a:prstGeom prst="rect">
            <a:avLst/>
          </a:prstGeom>
          <a:ln w="15875">
            <a:noFill/>
          </a:ln>
        </p:spPr>
        <p:txBody>
          <a:bodyPr wrap="square" lIns="51435" tIns="25718" rIns="51435" bIns="25718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工作成效</a:t>
            </a:r>
            <a:endParaRPr lang="zh-CN" sz="24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sz="24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17"/>
            </p:custDataLst>
          </p:nvPr>
        </p:nvSpPr>
        <p:spPr>
          <a:xfrm>
            <a:off x="2649750" y="3619500"/>
            <a:ext cx="152400" cy="152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18"/>
            </p:custDataLst>
          </p:nvPr>
        </p:nvSpPr>
        <p:spPr>
          <a:xfrm>
            <a:off x="3012440" y="2852420"/>
            <a:ext cx="4236085" cy="789305"/>
          </a:xfrm>
          <a:prstGeom prst="rect">
            <a:avLst/>
          </a:prstGeom>
          <a:ln w="15875">
            <a:noFill/>
          </a:ln>
        </p:spPr>
        <p:txBody>
          <a:bodyPr wrap="square" lIns="51435" tIns="25718" rIns="51435" bIns="25718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存在问题</a:t>
            </a:r>
            <a:endParaRPr lang="zh-CN" sz="24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sz="24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r>
              <a:rPr lang="en-US" altLang="zh-CN" sz="4400" spc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2022年度工作总结</a:t>
            </a:r>
            <a:r>
              <a:rPr lang="zh-CN" altLang="en-US" sz="4400" spc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报告</a:t>
            </a:r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Arial" panose="020B0604020202020204" pitchFamily="34" charset="0"/>
              </a:rPr>
              <a:t>一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Arial" panose="020B0604020202020204" pitchFamily="34" charset="0"/>
              </a:rPr>
              <a:t>、</a:t>
            </a:r>
            <a:r>
              <a:rPr 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Arial" panose="020B0604020202020204" pitchFamily="34" charset="0"/>
              </a:rPr>
              <a:t>工作成效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文本框 99"/>
          <p:cNvSpPr txBox="1"/>
          <p:nvPr>
            <p:custDataLst>
              <p:tags r:id="rId3"/>
            </p:custDataLst>
          </p:nvPr>
        </p:nvSpPr>
        <p:spPr>
          <a:xfrm>
            <a:off x="690245" y="1284605"/>
            <a:ext cx="7430135" cy="4502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ts val="2800"/>
              </a:lnSpc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1.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对一季度经营分析会上的工作部署落实情况作专项汇报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1365" y="2918460"/>
            <a:ext cx="6387465" cy="4502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>
              <a:lnSpc>
                <a:spcPts val="2800"/>
              </a:lnSpc>
              <a:buClrTx/>
              <a:buSzTx/>
              <a:buFontTx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2.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其他重点工作成效，须聚焦问题及总结优秀做法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r>
              <a:rPr lang="en-US" altLang="zh-CN" sz="4400" spc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2022年度工作总结</a:t>
            </a:r>
            <a:r>
              <a:rPr lang="zh-CN" altLang="en-US" sz="4400" spc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报告</a:t>
            </a:r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268704" y="897803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Arial" panose="020B0604020202020204" pitchFamily="34" charset="0"/>
              </a:rPr>
              <a:t>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+mn-ea"/>
              </a:rPr>
              <a:t>存在问题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en-US" alt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r>
              <a:rPr lang="en-US" altLang="zh-CN" sz="4400" spc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2022年度工作总结</a:t>
            </a:r>
            <a:r>
              <a:rPr lang="zh-CN" altLang="en-US" sz="4400" spc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报告</a:t>
            </a:r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268704" y="897803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三</a:t>
            </a:r>
            <a:r>
              <a:rPr 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Arial" panose="020B0604020202020204" pitchFamily="34" charset="0"/>
              </a:rPr>
              <a:t>、</a:t>
            </a:r>
            <a:r>
              <a:rPr 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下一步</a:t>
            </a:r>
            <a:r>
              <a:rPr 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工作计划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en-US" alt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000" y="14684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defTabSz="266700"/>
            <a:r>
              <a:rPr lang="zh-CN" altLang="en-US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须针对问题提出解决思路及措施</a:t>
            </a:r>
            <a:endParaRPr lang="zh-CN" altLang="en-US" sz="16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785464" y="1803736"/>
            <a:ext cx="35725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  <a:endParaRPr lang="zh-CN" altLang="en-US" sz="5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4"/>
            </p:custDataLst>
          </p:nvPr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600" b="1">
                <a:solidFill>
                  <a:srgbClr val="1E3A5F"/>
                </a:solidFill>
                <a:latin typeface="微软雅黑"/>
              </a:rPr>
              <a:t>    一、表达的本质：内容与方式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0000" y="900000"/>
            <a:ext cx="4200000" cy="29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0000" y="900000"/>
            <a:ext cx="4200000" cy="32000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0000" y="950000"/>
            <a:ext cx="4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表达内容 (WHAT)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000" y="1320000"/>
            <a:ext cx="39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/>
              </a:rPr>
              <a:t>半书面 = 口头 + 书面底稿 + 审查</a:t>
            </a:r>
          </a:p>
          <a:p/>
          <a:p/>
          <a:p>
            <a:r>
              <a:rPr sz="1200">
                <a:solidFill>
                  <a:srgbClr val="333333"/>
                </a:solidFill>
                <a:latin typeface="微软雅黑"/>
              </a:rPr>
              <a:t>● 前端：流畅自信的口头语言</a:t>
            </a:r>
          </a:p>
          <a:p/>
          <a:p>
            <a:r>
              <a:rPr sz="1200">
                <a:solidFill>
                  <a:srgbClr val="333333"/>
                </a:solidFill>
                <a:latin typeface="微软雅黑"/>
              </a:rPr>
              <a:t>● 后端：PPT/数据/逻辑链底稿</a:t>
            </a:r>
          </a:p>
          <a:p/>
          <a:p>
            <a:r>
              <a:rPr sz="1200">
                <a:solidFill>
                  <a:srgbClr val="333333"/>
                </a:solidFill>
                <a:latin typeface="微软雅黑"/>
              </a:rPr>
              <a:t>● 护城河：预判挑战点和答案</a:t>
            </a:r>
          </a:p>
          <a:p/>
          <a:p/>
          <a:p>
            <a:r>
              <a:rPr sz="1200">
                <a:solidFill>
                  <a:srgbClr val="333333"/>
                </a:solidFill>
                <a:latin typeface="微软雅黑"/>
              </a:rPr>
              <a:t>经得起审查的公众发言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50000" y="900000"/>
            <a:ext cx="4200000" cy="2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50000" y="900000"/>
            <a:ext cx="4200000" cy="32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0000" y="950000"/>
            <a:ext cx="4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表达方式 (HOW)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000" y="1320000"/>
            <a:ext cx="39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/>
              </a:rPr>
              <a:t>本质：一种认知压榨</a:t>
            </a:r>
          </a:p>
          <a:p/>
          <a:p>
            <a:r>
              <a:rPr sz="1200">
                <a:solidFill>
                  <a:srgbClr val="333333"/>
                </a:solidFill>
                <a:latin typeface="微软雅黑"/>
              </a:rPr>
              <a:t>① 流畅性启发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  感觉轻松 = 感觉正确</a:t>
            </a:r>
          </a:p>
          <a:p/>
          <a:p>
            <a:r>
              <a:rPr sz="1200">
                <a:solidFill>
                  <a:srgbClr val="333333"/>
                </a:solidFill>
                <a:latin typeface="微软雅黑"/>
              </a:rPr>
              <a:t>② 场景表达模式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  钩子+结论+观点+行动</a:t>
            </a:r>
          </a:p>
          <a:p/>
          <a:p/>
          <a:p>
            <a:r>
              <a:rPr sz="1200">
                <a:solidFill>
                  <a:srgbClr val="333333"/>
                </a:solidFill>
                <a:latin typeface="微软雅黑"/>
              </a:rPr>
              <a:t>更重要的是"表达方式"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600" b="1">
                <a:solidFill>
                  <a:srgbClr val="1E3A5F"/>
                </a:solidFill>
                <a:latin typeface="微软雅黑"/>
              </a:rPr>
              <a:t>    二、表达内容四大原则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0000" y="900000"/>
            <a:ext cx="8450000" cy="6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0000" y="900000"/>
            <a:ext cx="50000" cy="62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0000" y="1030000"/>
            <a:ext cx="360000" cy="36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000" y="103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000" y="101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微软雅黑"/>
              </a:rPr>
              <a:t>目的决定形式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000" y="1260000"/>
            <a:ext cx="77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没有野心，技巧沦为套路，大脑拒绝全力运转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000" y="1620000"/>
            <a:ext cx="8450000" cy="6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0000" y="1620000"/>
            <a:ext cx="50000" cy="62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0000" y="1750000"/>
            <a:ext cx="360000" cy="3600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0000" y="175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000" y="173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微软雅黑"/>
              </a:rPr>
              <a:t>时间有限性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000" y="1980000"/>
            <a:ext cx="77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注意力窗口有限，耐心有限，说太多引起反感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0000" y="2340000"/>
            <a:ext cx="8450000" cy="6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0000" y="2340000"/>
            <a:ext cx="50000" cy="62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00000" y="2470000"/>
            <a:ext cx="360000" cy="360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0000" y="247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0000" y="245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微软雅黑"/>
              </a:rPr>
              <a:t>时间线性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000" y="2700000"/>
            <a:ext cx="77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说完就没了，无法倒带。短句+重复+口语词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0000" y="3060000"/>
            <a:ext cx="8450000" cy="62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0000" y="3060000"/>
            <a:ext cx="50000" cy="620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00000" y="3190000"/>
            <a:ext cx="360000" cy="3600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0000" y="319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000" y="317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认知带宽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0000" y="3420000"/>
            <a:ext cx="77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DD5EA"/>
                </a:solidFill>
                <a:latin typeface="微软雅黑"/>
              </a:rPr>
              <a:t>需要低压信息，废话是缓冲带，双线任务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600" b="1">
                <a:solidFill>
                  <a:srgbClr val="1E3A5F"/>
                </a:solidFill>
                <a:latin typeface="微软雅黑"/>
              </a:rPr>
              <a:t>    三、权威来源：信任 vs 权威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0000" y="900000"/>
            <a:ext cx="4200000" cy="17000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00000" y="1100000"/>
            <a:ext cx="2000000" cy="2000000"/>
          </a:xfrm>
          <a:prstGeom prst="ellipse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00000" y="160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3A5F"/>
                </a:solidFill>
                <a:latin typeface="微软雅黑"/>
              </a:rPr>
              <a:t>信任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0000" y="19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/>
              </a:rPr>
              <a:t>✓ 自信流畅  ✓ 眼神交流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0000" y="22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/>
              </a:rPr>
              <a:t>情感层面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50000" y="900000"/>
            <a:ext cx="4200000" cy="17000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50000" y="1100000"/>
            <a:ext cx="2000000" cy="2000000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50000" y="160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3A5F"/>
                </a:solidFill>
                <a:latin typeface="微软雅黑"/>
              </a:rPr>
              <a:t>权威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50000" y="19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/>
              </a:rPr>
              <a:t>✓ 数据支撑  ✓ 逻辑自洽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50000" y="22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/>
              </a:rPr>
              <a:t>理性层面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0000" y="3300000"/>
            <a:ext cx="8450000" cy="6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0000" y="3300000"/>
            <a:ext cx="50000" cy="60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0000" y="3350000"/>
            <a:ext cx="82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微软雅黑"/>
              </a:rPr>
              <a:t>信任：哪怕逻辑有瑕疵，直觉会被带着走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0000" y="3600000"/>
            <a:ext cx="82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5F"/>
                </a:solidFill>
                <a:latin typeface="微软雅黑"/>
              </a:rPr>
              <a:t>权威：哪怕文笔枯燥，默认为"专业资料"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600" b="1">
                <a:solidFill>
                  <a:srgbClr val="1E3A5F"/>
                </a:solidFill>
                <a:latin typeface="微软雅黑"/>
              </a:rPr>
              <a:t>    四、流畅性启发（核心原理）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3372000" y="1000000"/>
            <a:ext cx="1400000" cy="1400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22000" y="1150000"/>
            <a:ext cx="1100000" cy="1100000"/>
          </a:xfrm>
          <a:prstGeom prst="ellipse">
            <a:avLst/>
          </a:prstGeom>
          <a:solidFill>
            <a:srgbClr val="1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2000" y="1450000"/>
            <a:ext cx="1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流畅性启发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2000" y="1700000"/>
            <a:ext cx="1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3C5FD"/>
                </a:solidFill>
                <a:latin typeface="微软雅黑"/>
              </a:rPr>
              <a:t>认知压榨的本质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00000" y="750000"/>
            <a:ext cx="6400000" cy="3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00000" y="800000"/>
            <a:ext cx="6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</a:rPr>
              <a:t>大脑依赖"信息处理的主观体验"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000" y="2600000"/>
            <a:ext cx="3900000" cy="35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0000" y="2620000"/>
            <a:ext cx="3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微软雅黑"/>
              </a:rPr>
              <a:t>感觉轻松 = 感觉正确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00000" y="2600000"/>
            <a:ext cx="3900000" cy="3500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0" y="2620000"/>
            <a:ext cx="3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62828"/>
                </a:solidFill>
                <a:latin typeface="微软雅黑"/>
              </a:rPr>
              <a:t>感觉困难 = 感觉可疑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0000" y="3300000"/>
            <a:ext cx="8450000" cy="4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0000" y="3330000"/>
            <a:ext cx="84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7722"/>
                </a:solidFill>
                <a:latin typeface="微软雅黑"/>
              </a:rPr>
              <a:t>启示：表达流畅比内容正确更重要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600" b="1">
                <a:solidFill>
                  <a:srgbClr val="1E3A5F"/>
                </a:solidFill>
                <a:latin typeface="微软雅黑"/>
              </a:rPr>
              <a:t>    五、场景表达模式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0000" y="980000"/>
            <a:ext cx="8450000" cy="6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0000" y="980000"/>
            <a:ext cx="50000" cy="62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0000" y="1110000"/>
            <a:ext cx="360000" cy="36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000" y="111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000" y="109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微软雅黑"/>
              </a:rPr>
              <a:t>钩子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000" y="1340000"/>
            <a:ext cx="77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「关于X，我需要您……」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00" y="1700000"/>
            <a:ext cx="8270000" cy="6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0000" y="1700000"/>
            <a:ext cx="50000" cy="62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80000" y="1830000"/>
            <a:ext cx="360000" cy="3600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000" y="183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" y="181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微软雅黑"/>
              </a:rPr>
              <a:t>结论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000" y="2060000"/>
            <a:ext cx="757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直接说出核心结论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0000" y="2420000"/>
            <a:ext cx="8090000" cy="6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0000" y="2420000"/>
            <a:ext cx="50000" cy="62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60000" y="2550000"/>
            <a:ext cx="360000" cy="360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0000" y="255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40000" y="253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微软雅黑"/>
              </a:rPr>
              <a:t>观点摘要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0000" y="2780000"/>
            <a:ext cx="73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重要观点简要概括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0000" y="3140000"/>
            <a:ext cx="7910000" cy="6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0000" y="3140000"/>
            <a:ext cx="50000" cy="620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40000" y="3270000"/>
            <a:ext cx="360000" cy="3600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0000" y="327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20000" y="325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微软雅黑"/>
              </a:rPr>
              <a:t>行动指南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20000" y="3500000"/>
            <a:ext cx="721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下一步具体建议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600" b="1">
                <a:solidFill>
                  <a:srgbClr val="1E3A5F"/>
                </a:solidFill>
                <a:latin typeface="微软雅黑"/>
              </a:rPr>
              <a:t>    六、实战模板：内部汇报发言稿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0000" y="900000"/>
            <a:ext cx="2700000" cy="19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0000" y="1000000"/>
            <a:ext cx="360000" cy="36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000" y="100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000" y="1030000"/>
            <a:ext cx="2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结论放第一句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000" y="1500000"/>
            <a:ext cx="2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开门见山，先说结论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0000" y="1800000"/>
            <a:ext cx="2540000" cy="1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0000" y="1900000"/>
            <a:ext cx="2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</a:rPr>
              <a:t>范例："关于X，建议启动。"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50000" y="900000"/>
            <a:ext cx="2700000" cy="19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250000" y="1000000"/>
            <a:ext cx="360000" cy="36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0000" y="100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0000" y="1030000"/>
            <a:ext cx="2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2-3个理由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50000" y="1500000"/>
            <a:ext cx="2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"第一、第二、第三"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30000" y="1800000"/>
            <a:ext cx="2540000" cy="1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50000" y="1900000"/>
            <a:ext cx="2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</a:rPr>
              <a:t>范例："第一…第二…第三…"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00000" y="900000"/>
            <a:ext cx="2700000" cy="19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00000" y="1000000"/>
            <a:ext cx="360000" cy="36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00000" y="100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0000" y="1030000"/>
            <a:ext cx="2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微软雅黑"/>
              </a:rPr>
              <a:t>建议收尾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00000" y="1500000"/>
            <a:ext cx="2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"我的建议是____"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000" y="1800000"/>
            <a:ext cx="2540000" cy="1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00000" y="1900000"/>
            <a:ext cx="2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</a:rPr>
              <a:t>范例："建议本周五前立项。"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0000" y="3000000"/>
            <a:ext cx="84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微软雅黑"/>
              </a:rPr>
              <a:t>风格要求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0000" y="3300000"/>
            <a:ext cx="1550000" cy="350000"/>
          </a:xfrm>
          <a:prstGeom prst="roundRect">
            <a:avLst/>
          </a:prstGeom>
          <a:solidFill>
            <a:srgbClr val="FFF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0000" y="3320000"/>
            <a:ext cx="15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微软雅黑"/>
              </a:rPr>
              <a:t>自信果断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20000" y="3300000"/>
            <a:ext cx="1550000" cy="350000"/>
          </a:xfrm>
          <a:prstGeom prst="roundRect">
            <a:avLst/>
          </a:prstGeom>
          <a:solidFill>
            <a:srgbClr val="FFF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0000" y="3320000"/>
            <a:ext cx="15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微软雅黑"/>
              </a:rPr>
              <a:t>严谨冷静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40000" y="3300000"/>
            <a:ext cx="1550000" cy="35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40000" y="3320000"/>
            <a:ext cx="15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90D9"/>
                </a:solidFill>
                <a:latin typeface="微软雅黑"/>
              </a:rPr>
              <a:t>口语化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60000" y="3300000"/>
            <a:ext cx="1550000" cy="35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60000" y="3320000"/>
            <a:ext cx="15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90D9"/>
                </a:solidFill>
                <a:latin typeface="微软雅黑"/>
              </a:rPr>
              <a:t>短句为主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80000" y="3300000"/>
            <a:ext cx="1550000" cy="35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80000" y="3320000"/>
            <a:ext cx="15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90D9"/>
                </a:solidFill>
                <a:latin typeface="微软雅黑"/>
              </a:rPr>
              <a:t>避免术语嵌套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0000" y="3800000"/>
            <a:ext cx="8450000" cy="35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0000" y="3830000"/>
            <a:ext cx="8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4AF37"/>
                </a:solidFill>
                <a:latin typeface="微软雅黑"/>
              </a:rPr>
              <a:t>核心：让听众"轻松听懂"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DIAGRAM_VIRTUALLY_FRAME" val="{&quot;height&quot;:203.45,&quot;left&quot;:207.59173228346458,&quot;top&quot;:130.4,&quot;width&quot;:363.1582677165354}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72.xml><?xml version="1.0" encoding="utf-8"?>
<p:tagLst xmlns:p="http://schemas.openxmlformats.org/presentationml/2006/main">
  <p:tag name="KSO_WM_DIAGRAM_VIRTUALLY_FRAME" val="{&quot;height&quot;:203.45,&quot;left&quot;:207.59173228346458,&quot;top&quot;:130.4,&quot;width&quot;:363.1582677165354}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4.xml><?xml version="1.0" encoding="utf-8"?>
<p:tagLst xmlns:p="http://schemas.openxmlformats.org/presentationml/2006/main">
  <p:tag name="KSO_WM_UNIT_TEXT_PART_ID_V2" val="a-4-1"/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2565_1*a*1"/>
  <p:tag name="KSO_WM_TEMPLATE_CATEGORY" val="diagram"/>
  <p:tag name="KSO_WM_TEMPLATE_INDEX" val="20202565"/>
  <p:tag name="KSO_WM_UNIT_LAYERLEVEL" val="1"/>
  <p:tag name="KSO_WM_TAG_VERSION" val="1.0"/>
  <p:tag name="KSO_WM_BEAUTIFY_FLAG" val=""/>
  <p:tag name="KSO_WM_UNIT_PRESET_TEXT" val="单击此处可添加您的大标题内容"/>
  <p:tag name="KSO_WM_UNIT_ISNUMDGMTITLE" val="0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7.xml><?xml version="1.0" encoding="utf-8"?>
<p:tagLst xmlns:p="http://schemas.openxmlformats.org/presentationml/2006/main">
  <p:tag name="KSO_WM_UNIT_TEXT_PART_ID_V2" val="a-4-1"/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2565_1*a*1"/>
  <p:tag name="KSO_WM_TEMPLATE_CATEGORY" val="diagram"/>
  <p:tag name="KSO_WM_TEMPLATE_INDEX" val="20202565"/>
  <p:tag name="KSO_WM_UNIT_LAYERLEVEL" val="1"/>
  <p:tag name="KSO_WM_TAG_VERSION" val="1.0"/>
  <p:tag name="KSO_WM_BEAUTIFY_FLAG" val=""/>
  <p:tag name="KSO_WM_UNIT_PRESET_TEXT" val="单击此处可添加您的大标题内容"/>
  <p:tag name="KSO_WM_UNIT_ISNUMDGMTITLE" val="0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9.xml><?xml version="1.0" encoding="utf-8"?>
<p:tagLst xmlns:p="http://schemas.openxmlformats.org/presentationml/2006/main">
  <p:tag name="KSO_WM_UNIT_TEXT_PART_ID_V2" val="a-4-1"/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2565_1*a*1"/>
  <p:tag name="KSO_WM_TEMPLATE_CATEGORY" val="diagram"/>
  <p:tag name="KSO_WM_TEMPLATE_INDEX" val="20202565"/>
  <p:tag name="KSO_WM_UNIT_LAYERLEVEL" val="1"/>
  <p:tag name="KSO_WM_TAG_VERSION" val="1.0"/>
  <p:tag name="KSO_WM_BEAUTIFY_FLAG" val=""/>
  <p:tag name="KSO_WM_UNIT_PRESET_TEXT" val="单击此处可添加您的大标题内容"/>
  <p:tag name="KSO_WM_UNIT_ISNUMDGMTITLE" val="0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5.xml><?xml version="1.0" encoding="utf-8"?>
<p:tagLst xmlns:p="http://schemas.openxmlformats.org/presentationml/2006/main">
  <p:tag name="KSO_WPP_MARK_KEY" val="86028773-9ae1-4153-8d47-594399716c73"/>
  <p:tag name="COMMONDATA" val="eyJoZGlkIjoiNjNhNmZiNWY5MmQzNzRmNzM0ZjA4ODE3MjcyMjYwOTUifQ=="/>
</p:tagLst>
</file>

<file path=ppt/theme/theme1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WPS 演示</Application>
  <PresentationFormat>全屏显示(16:9)</PresentationFormat>
  <Paragraphs>46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黑体</vt:lpstr>
      <vt:lpstr>华文细黑</vt:lpstr>
      <vt:lpstr>微软雅黑 Light</vt:lpstr>
      <vt:lpstr>仿宋</vt:lpstr>
      <vt:lpstr>Arial Unicode MS</vt:lpstr>
      <vt:lpstr>Calibri</vt:lpstr>
      <vt:lpstr>1_Office 主题​​</vt:lpstr>
      <vt:lpstr>PowerPoint 演示文稿</vt:lpstr>
      <vt:lpstr>PowerPoint 演示文稿</vt:lpstr>
      <vt:lpstr>2022年度工作总结报告</vt:lpstr>
      <vt:lpstr>2022年度工作总结报告</vt:lpstr>
      <vt:lpstr>2022年度工作总结报告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辰辰</cp:lastModifiedBy>
  <cp:revision>395</cp:revision>
  <dcterms:created xsi:type="dcterms:W3CDTF">2019-06-19T02:08:00Z</dcterms:created>
  <dcterms:modified xsi:type="dcterms:W3CDTF">2026-06-02T07:32:16Z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52CED4A2683F43BA9530C626FD48A505_13</vt:lpwstr>
  </property>
</Properties>
</file>