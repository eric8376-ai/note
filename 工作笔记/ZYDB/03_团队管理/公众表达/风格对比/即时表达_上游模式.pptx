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8763000" y="0"/>
            <a:ext cx="3429000" cy="6858000"/>
          </a:xfrm>
          <a:custGeom>
            <a:avLst/>
            <a:gdLst/>
            <a:ahLst/>
            <a:cxnLst/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lnTo>
                  <a:pt x="0" y="6858000"/>
                </a:lnTo>
                <a:lnTo>
                  <a:pt x="1524000" y="0"/>
                </a:lnTo>
                <a:close/>
              </a:path>
            </a:pathLst>
          </a:custGeom>
          <a:solidFill>
            <a:srgbClr val="16365A">
              <a:alpha val="60000"/>
            </a:srgbClr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9715500" y="0"/>
            <a:ext cx="2476500" cy="6858000"/>
          </a:xfrm>
          <a:custGeom>
            <a:avLst/>
            <a:gdLst/>
            <a:ahLst/>
            <a:cxnLst/>
            <a:rect l="l" t="t" r="r" b="b"/>
            <a:pathLst>
              <a:path w="2476500" h="6858000">
                <a:moveTo>
                  <a:pt x="2476500" y="0"/>
                </a:moveTo>
                <a:lnTo>
                  <a:pt x="2476500" y="6858000"/>
                </a:lnTo>
                <a:lnTo>
                  <a:pt x="0" y="6858000"/>
                </a:lnTo>
                <a:lnTo>
                  <a:pt x="1143000" y="0"/>
                </a:lnTo>
                <a:close/>
              </a:path>
            </a:pathLst>
          </a:custGeom>
          <a:solidFill>
            <a:srgbClr val="1B447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401300" y="1828800"/>
            <a:ext cx="152400" cy="1524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058400" y="2628900"/>
            <a:ext cx="76200" cy="76200"/>
          </a:xfrm>
          <a:prstGeom prst="ellipse">
            <a:avLst/>
          </a:prstGeom>
          <a:solidFill>
            <a:srgbClr val="5B9BD5">
              <a:alpha val="6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896600" y="3276600"/>
            <a:ext cx="114300" cy="114300"/>
          </a:xfrm>
          <a:prstGeom prst="ellipse">
            <a:avLst/>
          </a:prstGeom>
          <a:solidFill>
            <a:srgbClr val="E8A838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905000"/>
            <a:ext cx="38100" cy="171450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28700" y="2118360"/>
            <a:ext cx="241279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即时表达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7844" y="2932748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7EB8E0"/>
                </a:solidFill>
                <a:latin typeface="Microsoft YaHei"/>
                <a:ea typeface="Microsoft YaHei"/>
                <a:cs typeface="Microsoft YaHei"/>
              </a:rPr>
              <a:t>公众发言的核心艺术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047750" y="3524250"/>
            <a:ext cx="1905000" cy="9525"/>
          </a:xfrm>
          <a:prstGeom prst="rect">
            <a:avLst/>
          </a:prstGeom>
          <a:solidFill>
            <a:srgbClr val="3A5D8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41654" y="3870960"/>
            <a:ext cx="2231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EXPRESSIVE COMMUNICATION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16" y="6077902"/>
            <a:ext cx="14736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7A9A"/>
                </a:solidFill>
                <a:latin typeface="Microsoft YaHei"/>
                <a:ea typeface="Microsoft YaHei"/>
                <a:cs typeface="Microsoft YaHei"/>
              </a:rPr>
              <a:t>表达力训练系列 · 2026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0" y="6191250"/>
            <a:ext cx="2857500" cy="9525"/>
          </a:xfrm>
          <a:prstGeom prst="rect">
            <a:avLst/>
          </a:prstGeom>
          <a:solidFill>
            <a:srgbClr val="2A4A6E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表达的本质：内容与方式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85800"/>
            <a:ext cx="5715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077499" y="410528"/>
            <a:ext cx="548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047750"/>
            <a:ext cx="5334000" cy="5143500"/>
          </a:xfrm>
          <a:custGeom>
            <a:avLst/>
            <a:gdLst/>
            <a:ahLst/>
            <a:cxnLst/>
            <a:rect l="l" t="t" r="r" b="b"/>
            <a:pathLst>
              <a:path w="5334000" h="5143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5067300"/>
                </a:lnTo>
                <a:cubicBezTo>
                  <a:pt x="5334000" y="5109384"/>
                  <a:pt x="5299884" y="5143500"/>
                  <a:pt x="5257800" y="5143500"/>
                </a:cubicBezTo>
                <a:lnTo>
                  <a:pt x="76200" y="5143500"/>
                </a:lnTo>
                <a:cubicBezTo>
                  <a:pt x="34116" y="5143500"/>
                  <a:pt x="0" y="5109384"/>
                  <a:pt x="0" y="506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63660" y="1345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表达内容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69362" y="1648778"/>
            <a:ext cx="11382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9BD5"/>
                </a:solidFill>
                <a:latin typeface="Microsoft YaHei"/>
                <a:ea typeface="Microsoft YaHei"/>
                <a:cs typeface="Microsoft YaHei"/>
              </a:rPr>
              <a:t>WHAT — 你说什么</a:t>
            </a:r>
          </a:p>
        </p:txBody>
      </p:sp>
      <p:sp>
        <p:nvSpPr>
          <p:cNvPr id="10" name="Line 10"/>
          <p:cNvSpPr/>
          <p:nvPr/>
        </p:nvSpPr>
        <p:spPr>
          <a:xfrm>
            <a:off x="952500" y="20002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2A4A6E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000125" y="2381250"/>
            <a:ext cx="95250" cy="9525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31773" y="233886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2535" y="2593181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BFD8"/>
                </a:solidFill>
                <a:latin typeface="Microsoft YaHei"/>
                <a:ea typeface="Microsoft YaHei"/>
                <a:cs typeface="Microsoft YaHei"/>
              </a:rPr>
              <a:t>流畅、自信、有节奏的口头语言</a:t>
            </a:r>
          </a:p>
        </p:txBody>
      </p:sp>
      <p:sp>
        <p:nvSpPr>
          <p:cNvPr id="14" name="Ellipse 14"/>
          <p:cNvSpPr/>
          <p:nvPr/>
        </p:nvSpPr>
        <p:spPr>
          <a:xfrm>
            <a:off x="1000125" y="3143250"/>
            <a:ext cx="95250" cy="9525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31773" y="310086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2535" y="3355181"/>
            <a:ext cx="2355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BFD8"/>
                </a:solidFill>
                <a:latin typeface="Microsoft YaHei"/>
                <a:ea typeface="Microsoft YaHei"/>
                <a:cs typeface="Microsoft YaHei"/>
              </a:rPr>
              <a:t>PPT、数据、逻辑链里的严谨底稿</a:t>
            </a:r>
          </a:p>
        </p:txBody>
      </p:sp>
      <p:sp>
        <p:nvSpPr>
          <p:cNvPr id="17" name="Ellipse 17"/>
          <p:cNvSpPr/>
          <p:nvPr/>
        </p:nvSpPr>
        <p:spPr>
          <a:xfrm>
            <a:off x="1000125" y="3905250"/>
            <a:ext cx="95250" cy="9525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31773" y="3862864"/>
            <a:ext cx="5536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2535" y="411718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BFD8"/>
                </a:solidFill>
                <a:latin typeface="Microsoft YaHei"/>
                <a:ea typeface="Microsoft YaHei"/>
                <a:cs typeface="Microsoft YaHei"/>
              </a:rPr>
              <a:t>预判听众挑战点和对应答案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2500" y="4762500"/>
            <a:ext cx="4572000" cy="952500"/>
          </a:xfrm>
          <a:custGeom>
            <a:avLst/>
            <a:gdLst/>
            <a:ahLst/>
            <a:cxnLst/>
            <a:rect l="l" t="t" r="r" b="b"/>
            <a:pathLst>
              <a:path w="4572000" h="952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895350"/>
                </a:lnTo>
                <a:cubicBezTo>
                  <a:pt x="4572000" y="926913"/>
                  <a:pt x="4546413" y="952500"/>
                  <a:pt x="4514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6365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06891" y="5013960"/>
            <a:ext cx="24632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半书面 = 口头 + 书面底稿 + 审查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46020" y="5323999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EB8E0"/>
                </a:solidFill>
                <a:latin typeface="Microsoft YaHei"/>
                <a:ea typeface="Microsoft YaHei"/>
                <a:cs typeface="Microsoft YaHei"/>
              </a:rPr>
              <a:t>经得起听众审查的公众发言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047750"/>
            <a:ext cx="5334000" cy="5143500"/>
          </a:xfrm>
          <a:custGeom>
            <a:avLst/>
            <a:gdLst/>
            <a:ahLst/>
            <a:cxnLst/>
            <a:rect l="l" t="t" r="r" b="b"/>
            <a:pathLst>
              <a:path w="5334000" h="5143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5067300"/>
                </a:lnTo>
                <a:cubicBezTo>
                  <a:pt x="5334000" y="5109384"/>
                  <a:pt x="5299884" y="5143500"/>
                  <a:pt x="5257800" y="5143500"/>
                </a:cubicBezTo>
                <a:lnTo>
                  <a:pt x="76200" y="5143500"/>
                </a:lnTo>
                <a:cubicBezTo>
                  <a:pt x="34116" y="5143500"/>
                  <a:pt x="0" y="5109384"/>
                  <a:pt x="0" y="506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5B9BD5"/>
            </a:solidFill>
            <a:custDash>
              <a:ds d="300000" sp="200000"/>
            </a:custDash>
          </a:ln>
        </p:spPr>
      </p:sp>
      <p:sp>
        <p:nvSpPr>
          <p:cNvPr id="24" name="TextBox 24"/>
          <p:cNvSpPr txBox="1"/>
          <p:nvPr/>
        </p:nvSpPr>
        <p:spPr>
          <a:xfrm>
            <a:off x="8478660" y="1345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表达方式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10499" y="1648778"/>
            <a:ext cx="10860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HOW — 你怎么说</a:t>
            </a:r>
          </a:p>
        </p:txBody>
      </p:sp>
      <p:sp>
        <p:nvSpPr>
          <p:cNvPr id="26" name="Line 26"/>
          <p:cNvSpPr/>
          <p:nvPr/>
        </p:nvSpPr>
        <p:spPr>
          <a:xfrm>
            <a:off x="6667500" y="20002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6667500" y="2286000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533400"/>
                </a:lnTo>
                <a:cubicBezTo>
                  <a:pt x="4572000" y="554442"/>
                  <a:pt x="4554942" y="571500"/>
                  <a:pt x="4533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0F6F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087935" y="25022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本质：一种认知压榨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1404" y="3156585"/>
            <a:ext cx="10044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① 流畅性启发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52285" y="3450431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感觉轻松 = 感觉正确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53047" y="3704749"/>
            <a:ext cx="18474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大脑依赖处理体验而非内容本身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61404" y="4204335"/>
            <a:ext cx="11740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② 场景表达模式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52285" y="4498181"/>
            <a:ext cx="1745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53047" y="4752499"/>
            <a:ext cx="1453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结构化降低听众认知负担</a:t>
            </a:r>
          </a:p>
        </p:txBody>
      </p:sp>
      <p:sp>
        <p:nvSpPr>
          <p:cNvPr id="35" name="Freeform 35"/>
          <p:cNvSpPr/>
          <p:nvPr/>
        </p:nvSpPr>
        <p:spPr>
          <a:xfrm>
            <a:off x="6667500" y="5238750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628650"/>
                </a:lnTo>
                <a:cubicBezTo>
                  <a:pt x="4572000" y="649692"/>
                  <a:pt x="4554942" y="666750"/>
                  <a:pt x="4533900" y="666750"/>
                </a:cubicBezTo>
                <a:lnTo>
                  <a:pt x="38100" y="666750"/>
                </a:lnTo>
                <a:cubicBezTo>
                  <a:pt x="17058" y="666750"/>
                  <a:pt x="0" y="649692"/>
                  <a:pt x="0" y="628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751575" y="5509260"/>
            <a:ext cx="24038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即时表达更重要的是"表达方式"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82464" y="65703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表达内容四大原则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85800"/>
            <a:ext cx="5715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077499" y="410528"/>
            <a:ext cx="548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047750"/>
            <a:ext cx="5429250" cy="2571750"/>
          </a:xfrm>
          <a:custGeom>
            <a:avLst/>
            <a:gdLst/>
            <a:ahLst/>
            <a:cxnLst/>
            <a:rect l="l" t="t" r="r" b="b"/>
            <a:pathLst>
              <a:path w="5429250" h="2571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2495550"/>
                </a:lnTo>
                <a:cubicBezTo>
                  <a:pt x="5429250" y="2537634"/>
                  <a:pt x="5395134" y="2571750"/>
                  <a:pt x="5353050" y="2571750"/>
                </a:cubicBezTo>
                <a:lnTo>
                  <a:pt x="76200" y="2571750"/>
                </a:lnTo>
                <a:cubicBezTo>
                  <a:pt x="34116" y="2571750"/>
                  <a:pt x="0" y="2537634"/>
                  <a:pt x="0" y="2495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BFC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047750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400050"/>
                </a:lnTo>
                <a:cubicBezTo>
                  <a:pt x="5429250" y="442134"/>
                  <a:pt x="5395134" y="476250"/>
                  <a:pt x="535305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333500"/>
            <a:ext cx="5429250" cy="19050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56666" y="124872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6142" y="12163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7754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没有"要改变什么"的野心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088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所有技巧沦为行尸走肉般的套路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2476500"/>
            <a:ext cx="485775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51916" y="2696528"/>
            <a:ext cx="23924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→ 大脑拒绝全力运转，因为潜意识知道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916" y="2934652"/>
            <a:ext cx="21450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这次表达没有"要改变什么"的野心</a:t>
            </a:r>
          </a:p>
        </p:txBody>
      </p:sp>
      <p:sp>
        <p:nvSpPr>
          <p:cNvPr id="17" name="Freeform 17"/>
          <p:cNvSpPr/>
          <p:nvPr/>
        </p:nvSpPr>
        <p:spPr>
          <a:xfrm>
            <a:off x="6191250" y="1047750"/>
            <a:ext cx="5429250" cy="2571750"/>
          </a:xfrm>
          <a:custGeom>
            <a:avLst/>
            <a:gdLst/>
            <a:ahLst/>
            <a:cxnLst/>
            <a:rect l="l" t="t" r="r" b="b"/>
            <a:pathLst>
              <a:path w="5429250" h="2571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2495550"/>
                </a:lnTo>
                <a:cubicBezTo>
                  <a:pt x="5429250" y="2537634"/>
                  <a:pt x="5395134" y="2571750"/>
                  <a:pt x="5353050" y="2571750"/>
                </a:cubicBezTo>
                <a:lnTo>
                  <a:pt x="76200" y="2571750"/>
                </a:lnTo>
                <a:cubicBezTo>
                  <a:pt x="34116" y="2571750"/>
                  <a:pt x="0" y="2537634"/>
                  <a:pt x="0" y="2495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BFC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6191250" y="1047750"/>
            <a:ext cx="57150" cy="2571750"/>
          </a:xfrm>
          <a:custGeom>
            <a:avLst/>
            <a:gdLst/>
            <a:ahLst/>
            <a:cxnLst/>
            <a:rect l="l" t="t" r="r" b="b"/>
            <a:pathLst>
              <a:path w="57150" h="25717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543175"/>
                </a:lnTo>
                <a:cubicBezTo>
                  <a:pt x="57150" y="2558957"/>
                  <a:pt x="44357" y="2571750"/>
                  <a:pt x="28575" y="2571750"/>
                </a:cubicBezTo>
                <a:lnTo>
                  <a:pt x="28575" y="2571750"/>
                </a:lnTo>
                <a:cubicBezTo>
                  <a:pt x="12793" y="2571750"/>
                  <a:pt x="0" y="2558957"/>
                  <a:pt x="0" y="2543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471666" y="12677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5B9BD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51142" y="1235392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时间有限性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70904" y="17754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▸ 注意力有限 — 效用窗口有限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0904" y="2108835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▸ 耐心有限 — 说太多引起反感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2476500"/>
            <a:ext cx="485775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471666" y="2696528"/>
            <a:ext cx="11202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→ 尊重听众的时间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71666" y="2934652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抓重点（只抓三点），忽略复杂论证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3810000"/>
            <a:ext cx="5429250" cy="2571750"/>
          </a:xfrm>
          <a:custGeom>
            <a:avLst/>
            <a:gdLst/>
            <a:ahLst/>
            <a:cxnLst/>
            <a:rect l="l" t="t" r="r" b="b"/>
            <a:pathLst>
              <a:path w="5429250" h="2571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2495550"/>
                </a:lnTo>
                <a:cubicBezTo>
                  <a:pt x="5429250" y="2537634"/>
                  <a:pt x="5395134" y="2571750"/>
                  <a:pt x="5353050" y="2571750"/>
                </a:cubicBezTo>
                <a:lnTo>
                  <a:pt x="76200" y="2571750"/>
                </a:lnTo>
                <a:cubicBezTo>
                  <a:pt x="34116" y="2571750"/>
                  <a:pt x="0" y="2537634"/>
                  <a:pt x="0" y="2495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BFC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742950" y="4029075"/>
            <a:ext cx="419100" cy="419100"/>
          </a:xfrm>
          <a:prstGeom prst="ellipse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5536" y="41919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6642" y="41595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时间线性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1154" y="46329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口头表达说完就没了，听众没法倒带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1154" y="496633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顺着听觉习惯：短句、重复、口语词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57250" y="5334000"/>
            <a:ext cx="485775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51916" y="5554028"/>
            <a:ext cx="23256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→ 主动标定重点（复述或PPT标题）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1916" y="57921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确保信息一次过</a:t>
            </a:r>
          </a:p>
        </p:txBody>
      </p:sp>
      <p:sp>
        <p:nvSpPr>
          <p:cNvPr id="35" name="Freeform 35"/>
          <p:cNvSpPr/>
          <p:nvPr/>
        </p:nvSpPr>
        <p:spPr>
          <a:xfrm>
            <a:off x="6191250" y="3810000"/>
            <a:ext cx="5429250" cy="2571750"/>
          </a:xfrm>
          <a:custGeom>
            <a:avLst/>
            <a:gdLst/>
            <a:ahLst/>
            <a:cxnLst/>
            <a:rect l="l" t="t" r="r" b="b"/>
            <a:pathLst>
              <a:path w="5429250" h="2571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2495550"/>
                </a:lnTo>
                <a:cubicBezTo>
                  <a:pt x="5429250" y="2537634"/>
                  <a:pt x="5395134" y="2571750"/>
                  <a:pt x="5353050" y="2571750"/>
                </a:cubicBezTo>
                <a:lnTo>
                  <a:pt x="76200" y="2571750"/>
                </a:lnTo>
                <a:cubicBezTo>
                  <a:pt x="34116" y="2571750"/>
                  <a:pt x="0" y="2537634"/>
                  <a:pt x="0" y="2495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471666" y="4125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51142" y="4092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认知带宽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70904" y="4632960"/>
            <a:ext cx="22899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0D5EA"/>
                </a:solidFill>
                <a:latin typeface="Microsoft YaHei"/>
                <a:ea typeface="Microsoft YaHei"/>
                <a:cs typeface="Microsoft YaHei"/>
              </a:rPr>
              <a:t>认知带宽有限，需要"低压"信息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70904" y="496633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0D5EA"/>
                </a:solidFill>
                <a:latin typeface="Microsoft YaHei"/>
                <a:ea typeface="Microsoft YaHei"/>
                <a:cs typeface="Microsoft YaHei"/>
              </a:rPr>
              <a:t>允许废话、铺垫、语气词（嗯、啊）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477000" y="5334000"/>
            <a:ext cx="4857750" cy="9525"/>
          </a:xfrm>
          <a:prstGeom prst="rect">
            <a:avLst/>
          </a:prstGeom>
          <a:solidFill>
            <a:srgbClr val="2A4A6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471666" y="5554028"/>
            <a:ext cx="19825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EB8E0"/>
                </a:solidFill>
                <a:latin typeface="Microsoft YaHei"/>
                <a:ea typeface="Microsoft YaHei"/>
                <a:cs typeface="Microsoft YaHei"/>
              </a:rPr>
              <a:t>→ 这些是给大脑休息的"缓冲带"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71666" y="5792152"/>
            <a:ext cx="20107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EB8E0"/>
                </a:solidFill>
                <a:latin typeface="Microsoft YaHei"/>
                <a:ea typeface="Microsoft YaHei"/>
                <a:cs typeface="Microsoft YaHei"/>
              </a:rPr>
              <a:t>听众在理解 + 判断（双线任务）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82464" y="65703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319749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权威来源：信任 vs 权威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85800"/>
            <a:ext cx="5715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077499" y="410528"/>
            <a:ext cx="548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000125"/>
            <a:ext cx="11049000" cy="2381250"/>
          </a:xfrm>
          <a:custGeom>
            <a:avLst/>
            <a:gdLst/>
            <a:ahLst/>
            <a:cxnLst/>
            <a:rect l="l" t="t" r="r" b="b"/>
            <a:pathLst>
              <a:path w="11049000" h="2381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2305050"/>
                </a:lnTo>
                <a:cubicBezTo>
                  <a:pt x="11049000" y="2347134"/>
                  <a:pt x="11014884" y="2381250"/>
                  <a:pt x="1097280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E7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000125"/>
            <a:ext cx="57150" cy="2381250"/>
          </a:xfrm>
          <a:custGeom>
            <a:avLst/>
            <a:gdLst/>
            <a:ahLst/>
            <a:cxnLst/>
            <a:rect l="l" t="t" r="r" b="b"/>
            <a:pathLst>
              <a:path w="57150" h="2381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352675"/>
                </a:lnTo>
                <a:cubicBezTo>
                  <a:pt x="57150" y="2368457"/>
                  <a:pt x="44357" y="2381250"/>
                  <a:pt x="28575" y="2381250"/>
                </a:cubicBezTo>
                <a:lnTo>
                  <a:pt x="28575" y="2381250"/>
                </a:lnTo>
                <a:cubicBezTo>
                  <a:pt x="12793" y="2381250"/>
                  <a:pt x="0" y="2368457"/>
                  <a:pt x="0" y="2352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4118" y="125063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信任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3916" y="1315402"/>
            <a:ext cx="15713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8902A"/>
                </a:solidFill>
                <a:latin typeface="Microsoft YaHei"/>
                <a:ea typeface="Microsoft YaHei"/>
                <a:cs typeface="Microsoft YaHei"/>
              </a:rPr>
              <a:t>情感层面 · EMOTIONAL</a:t>
            </a:r>
          </a:p>
        </p:txBody>
      </p:sp>
      <p:sp>
        <p:nvSpPr>
          <p:cNvPr id="11" name="Freeform 11"/>
          <p:cNvSpPr/>
          <p:nvPr/>
        </p:nvSpPr>
        <p:spPr>
          <a:xfrm>
            <a:off x="952500" y="1666875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628650"/>
                </a:lnTo>
                <a:cubicBezTo>
                  <a:pt x="4953000" y="649692"/>
                  <a:pt x="4935942" y="666750"/>
                  <a:pt x="4914900" y="666750"/>
                </a:cubicBezTo>
                <a:lnTo>
                  <a:pt x="38100" y="666750"/>
                </a:lnTo>
                <a:cubicBezTo>
                  <a:pt x="17058" y="666750"/>
                  <a:pt x="0" y="649692"/>
                  <a:pt x="0" y="628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136523" y="18149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自信流畅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7666" y="207740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斩钉截铁，听众直觉会被带着走</a:t>
            </a:r>
          </a:p>
        </p:txBody>
      </p:sp>
      <p:sp>
        <p:nvSpPr>
          <p:cNvPr id="14" name="Freeform 14"/>
          <p:cNvSpPr/>
          <p:nvPr/>
        </p:nvSpPr>
        <p:spPr>
          <a:xfrm>
            <a:off x="6096000" y="1666875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628650"/>
                </a:lnTo>
                <a:cubicBezTo>
                  <a:pt x="4953000" y="649692"/>
                  <a:pt x="4935942" y="666750"/>
                  <a:pt x="4914900" y="666750"/>
                </a:cubicBezTo>
                <a:lnTo>
                  <a:pt x="38100" y="666750"/>
                </a:lnTo>
                <a:cubicBezTo>
                  <a:pt x="17058" y="666750"/>
                  <a:pt x="0" y="649692"/>
                  <a:pt x="0" y="628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280023" y="18149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眼神交流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81166" y="207740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建立连接，传递诚意与自信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30073" y="26955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3313" y="3061335"/>
            <a:ext cx="30653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哪怕逻辑有瑕疵，听众的直觉会被带着走</a:t>
            </a:r>
          </a:p>
        </p:txBody>
      </p:sp>
      <p:sp>
        <p:nvSpPr>
          <p:cNvPr id="19" name="Freeform 19"/>
          <p:cNvSpPr/>
          <p:nvPr/>
        </p:nvSpPr>
        <p:spPr>
          <a:xfrm>
            <a:off x="571500" y="3619500"/>
            <a:ext cx="11049000" cy="2381250"/>
          </a:xfrm>
          <a:custGeom>
            <a:avLst/>
            <a:gdLst/>
            <a:ahLst/>
            <a:cxnLst/>
            <a:rect l="l" t="t" r="r" b="b"/>
            <a:pathLst>
              <a:path w="11049000" h="2381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2305050"/>
                </a:lnTo>
                <a:cubicBezTo>
                  <a:pt x="11049000" y="2347134"/>
                  <a:pt x="11014884" y="2381250"/>
                  <a:pt x="1097280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6FC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571500" y="3619500"/>
            <a:ext cx="57150" cy="2381250"/>
          </a:xfrm>
          <a:custGeom>
            <a:avLst/>
            <a:gdLst/>
            <a:ahLst/>
            <a:cxnLst/>
            <a:rect l="l" t="t" r="r" b="b"/>
            <a:pathLst>
              <a:path w="57150" h="2381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352675"/>
                </a:lnTo>
                <a:cubicBezTo>
                  <a:pt x="57150" y="2368457"/>
                  <a:pt x="44357" y="2381250"/>
                  <a:pt x="28575" y="2381250"/>
                </a:cubicBezTo>
                <a:lnTo>
                  <a:pt x="28575" y="2381250"/>
                </a:lnTo>
                <a:cubicBezTo>
                  <a:pt x="12793" y="2381250"/>
                  <a:pt x="0" y="2368457"/>
                  <a:pt x="0" y="2352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4118" y="3870008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权威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3916" y="3934778"/>
            <a:ext cx="14295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9BD5"/>
                </a:solidFill>
                <a:latin typeface="Microsoft YaHei"/>
                <a:ea typeface="Microsoft YaHei"/>
                <a:cs typeface="Microsoft YaHei"/>
              </a:rPr>
              <a:t>理性层面 · RATIONAL</a:t>
            </a:r>
          </a:p>
        </p:txBody>
      </p:sp>
      <p:sp>
        <p:nvSpPr>
          <p:cNvPr id="23" name="Freeform 23"/>
          <p:cNvSpPr/>
          <p:nvPr/>
        </p:nvSpPr>
        <p:spPr>
          <a:xfrm>
            <a:off x="952500" y="428625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628650"/>
                </a:lnTo>
                <a:cubicBezTo>
                  <a:pt x="4953000" y="649692"/>
                  <a:pt x="4935942" y="666750"/>
                  <a:pt x="4914900" y="666750"/>
                </a:cubicBezTo>
                <a:lnTo>
                  <a:pt x="38100" y="666750"/>
                </a:lnTo>
                <a:cubicBezTo>
                  <a:pt x="17058" y="666750"/>
                  <a:pt x="0" y="649692"/>
                  <a:pt x="0" y="628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36523" y="44343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数据支撑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7666" y="469677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引用来源真实、可信、可追溯</a:t>
            </a:r>
          </a:p>
        </p:txBody>
      </p:sp>
      <p:sp>
        <p:nvSpPr>
          <p:cNvPr id="26" name="Freeform 26"/>
          <p:cNvSpPr/>
          <p:nvPr/>
        </p:nvSpPr>
        <p:spPr>
          <a:xfrm>
            <a:off x="6096000" y="428625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628650"/>
                </a:lnTo>
                <a:cubicBezTo>
                  <a:pt x="4953000" y="649692"/>
                  <a:pt x="4935942" y="666750"/>
                  <a:pt x="4914900" y="666750"/>
                </a:cubicBezTo>
                <a:lnTo>
                  <a:pt x="38100" y="666750"/>
                </a:lnTo>
                <a:cubicBezTo>
                  <a:pt x="17058" y="666750"/>
                  <a:pt x="0" y="649692"/>
                  <a:pt x="0" y="628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280023" y="44343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逻辑自洽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81166" y="469677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推导严密，经得起推敲和质疑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30073" y="5314950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24453" y="5680710"/>
            <a:ext cx="27430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哪怕文笔枯燥，默认其为"专业资料"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99666" y="6363652"/>
            <a:ext cx="1890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8902A"/>
                </a:solidFill>
                <a:latin typeface="Microsoft YaHei"/>
                <a:ea typeface="Microsoft YaHei"/>
                <a:cs typeface="Microsoft YaHei"/>
              </a:rPr>
              <a:t>关键词：情感 · 感染力 · 气场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14666" y="6363652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9BD5"/>
                </a:solidFill>
                <a:latin typeface="Microsoft YaHei"/>
                <a:ea typeface="Microsoft YaHei"/>
                <a:cs typeface="Microsoft YaHei"/>
              </a:rPr>
              <a:t>关键词：数据 · 逻辑 · 严谨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82464" y="65703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85800"/>
            <a:ext cx="5715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077499" y="410528"/>
            <a:ext cx="548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Polygon 7"/>
          <p:cNvSpPr/>
          <p:nvPr/>
        </p:nvSpPr>
        <p:spPr>
          <a:xfrm>
            <a:off x="4572000" y="104775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285750" y="0"/>
                </a:moveTo>
                <a:lnTo>
                  <a:pt x="2762250" y="0"/>
                </a:lnTo>
                <a:lnTo>
                  <a:pt x="3048000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707494" y="12068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即时表达</a:t>
            </a:r>
          </a:p>
        </p:txBody>
      </p:sp>
      <p:sp>
        <p:nvSpPr>
          <p:cNvPr id="9" name="Polygon 9"/>
          <p:cNvSpPr/>
          <p:nvPr/>
        </p:nvSpPr>
        <p:spPr>
          <a:xfrm>
            <a:off x="3619500" y="1571625"/>
            <a:ext cx="4953000" cy="619125"/>
          </a:xfrm>
          <a:custGeom>
            <a:avLst/>
            <a:gdLst/>
            <a:ahLst/>
            <a:cxnLst/>
            <a:rect l="l" t="t" r="r" b="b"/>
            <a:pathLst>
              <a:path w="4953000" h="619125">
                <a:moveTo>
                  <a:pt x="381000" y="0"/>
                </a:moveTo>
                <a:lnTo>
                  <a:pt x="4572000" y="0"/>
                </a:lnTo>
                <a:lnTo>
                  <a:pt x="4953000" y="619125"/>
                </a:lnTo>
                <a:lnTo>
                  <a:pt x="0" y="619125"/>
                </a:lnTo>
                <a:close/>
              </a:path>
            </a:pathLst>
          </a:custGeom>
          <a:solidFill>
            <a:srgbClr val="1B447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326609" y="1823085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本质：一种认知压榨</a:t>
            </a:r>
          </a:p>
        </p:txBody>
      </p:sp>
      <p:sp>
        <p:nvSpPr>
          <p:cNvPr id="11" name="Polygon 11"/>
          <p:cNvSpPr/>
          <p:nvPr/>
        </p:nvSpPr>
        <p:spPr>
          <a:xfrm>
            <a:off x="2476500" y="2238375"/>
            <a:ext cx="7239000" cy="1000125"/>
          </a:xfrm>
          <a:custGeom>
            <a:avLst/>
            <a:gdLst/>
            <a:ahLst/>
            <a:cxnLst/>
            <a:rect l="l" t="t" r="r" b="b"/>
            <a:pathLst>
              <a:path w="7239000" h="1000125">
                <a:moveTo>
                  <a:pt x="476250" y="0"/>
                </a:moveTo>
                <a:lnTo>
                  <a:pt x="6762750" y="0"/>
                </a:lnTo>
                <a:lnTo>
                  <a:pt x="7239000" y="1000125"/>
                </a:lnTo>
                <a:lnTo>
                  <a:pt x="0" y="1000125"/>
                </a:ln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22234" y="2457450"/>
            <a:ext cx="23475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流畅性启发（核心原理）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2580" y="2783681"/>
            <a:ext cx="21468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5DC"/>
                </a:solidFill>
                <a:latin typeface="Microsoft YaHei"/>
                <a:ea typeface="Microsoft YaHei"/>
                <a:cs typeface="Microsoft YaHei"/>
              </a:rPr>
              <a:t>大脑依赖"信息处理的主观体验"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75384" y="3018949"/>
            <a:ext cx="22412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5DC"/>
                </a:solidFill>
                <a:latin typeface="Microsoft YaHei"/>
                <a:ea typeface="Microsoft YaHei"/>
                <a:cs typeface="Microsoft YaHei"/>
              </a:rPr>
              <a:t>即处理信息的难易程度，而非客观内容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3619500"/>
            <a:ext cx="5334000" cy="1238250"/>
          </a:xfrm>
          <a:custGeom>
            <a:avLst/>
            <a:gdLst/>
            <a:ahLst/>
            <a:cxnLst/>
            <a:rect l="l" t="t" r="r" b="b"/>
            <a:pathLst>
              <a:path w="5334000" h="1238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162050"/>
                </a:lnTo>
                <a:cubicBezTo>
                  <a:pt x="5334000" y="1204134"/>
                  <a:pt x="5299884" y="1238250"/>
                  <a:pt x="5257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800100" y="3848100"/>
            <a:ext cx="304800" cy="3048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99758" y="39376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9868" y="3889058"/>
            <a:ext cx="215081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感觉轻松 = 感觉正确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2535" y="4307681"/>
            <a:ext cx="24497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大脑处理顺畅，下意识判断为"可信"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2916" y="455390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流畅的表达自带说服力</a:t>
            </a:r>
          </a:p>
        </p:txBody>
      </p:sp>
      <p:sp>
        <p:nvSpPr>
          <p:cNvPr id="21" name="Freeform 21"/>
          <p:cNvSpPr/>
          <p:nvPr/>
        </p:nvSpPr>
        <p:spPr>
          <a:xfrm>
            <a:off x="6286500" y="3619500"/>
            <a:ext cx="5334000" cy="1238250"/>
          </a:xfrm>
          <a:custGeom>
            <a:avLst/>
            <a:gdLst/>
            <a:ahLst/>
            <a:cxnLst/>
            <a:rect l="l" t="t" r="r" b="b"/>
            <a:pathLst>
              <a:path w="5334000" h="1238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162050"/>
                </a:lnTo>
                <a:cubicBezTo>
                  <a:pt x="5334000" y="1204134"/>
                  <a:pt x="5299884" y="1238250"/>
                  <a:pt x="5257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515100" y="3848100"/>
            <a:ext cx="304800" cy="3048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14758" y="3937635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44868" y="3889058"/>
            <a:ext cx="215081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感觉困难 = 感觉可疑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47535" y="4307681"/>
            <a:ext cx="24497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大脑处理吃力，下意识产生"不信任"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47916" y="455390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晦涩的表达引发防御心理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5191125"/>
            <a:ext cx="11049000" cy="857250"/>
          </a:xfrm>
          <a:custGeom>
            <a:avLst/>
            <a:gdLst/>
            <a:ahLst/>
            <a:cxnLst/>
            <a:rect l="l" t="t" r="r" b="b"/>
            <a:pathLst>
              <a:path w="11049000" h="857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781050"/>
                </a:lnTo>
                <a:cubicBezTo>
                  <a:pt x="11049000" y="823134"/>
                  <a:pt x="11014884" y="857250"/>
                  <a:pt x="10972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571500" y="5191125"/>
            <a:ext cx="57150" cy="857250"/>
          </a:xfrm>
          <a:custGeom>
            <a:avLst/>
            <a:gdLst/>
            <a:ahLst/>
            <a:cxnLst/>
            <a:rect l="l" t="t" r="r" b="b"/>
            <a:pathLst>
              <a:path w="57150" h="857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828675"/>
                </a:lnTo>
                <a:cubicBezTo>
                  <a:pt x="57150" y="844457"/>
                  <a:pt x="44357" y="857250"/>
                  <a:pt x="28575" y="857250"/>
                </a:cubicBezTo>
                <a:lnTo>
                  <a:pt x="28575" y="857250"/>
                </a:lnTo>
                <a:cubicBezTo>
                  <a:pt x="12793" y="857250"/>
                  <a:pt x="0" y="844457"/>
                  <a:pt x="0" y="828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5642" y="53787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08023" y="53868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表达流畅比内容正确更重要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6785" y="5736431"/>
            <a:ext cx="33432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BFD8"/>
                </a:solidFill>
                <a:latin typeface="Microsoft YaHei"/>
                <a:ea typeface="Microsoft YaHei"/>
                <a:cs typeface="Microsoft YaHei"/>
              </a:rPr>
              <a:t>用短句、口语化、重复强调，降低听众的认知负担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82464" y="65703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场景表达模式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85800"/>
            <a:ext cx="5715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077499" y="410528"/>
            <a:ext cx="548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PART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85224" y="949642"/>
            <a:ext cx="28215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钩子 → 结论 → 观点摘要 → 行动指南</a:t>
            </a:r>
          </a:p>
        </p:txBody>
      </p:sp>
      <p:sp>
        <p:nvSpPr>
          <p:cNvPr id="8" name="Freeform 8"/>
          <p:cNvSpPr/>
          <p:nvPr/>
        </p:nvSpPr>
        <p:spPr>
          <a:xfrm>
            <a:off x="381000" y="1333500"/>
            <a:ext cx="2571750" cy="1905000"/>
          </a:xfrm>
          <a:custGeom>
            <a:avLst/>
            <a:gdLst/>
            <a:ahLst/>
            <a:cxnLst/>
            <a:rect l="l" t="t" r="r" b="b"/>
            <a:pathLst>
              <a:path w="2571750" h="1905000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1828800"/>
                </a:lnTo>
                <a:cubicBezTo>
                  <a:pt x="2571750" y="1870884"/>
                  <a:pt x="2537634" y="1905000"/>
                  <a:pt x="24955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E7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381000" y="1333500"/>
            <a:ext cx="2571750" cy="428625"/>
          </a:xfrm>
          <a:custGeom>
            <a:avLst/>
            <a:gdLst/>
            <a:ahLst/>
            <a:cxnLst/>
            <a:rect l="l" t="t" r="r" b="b"/>
            <a:pathLst>
              <a:path w="2571750" h="428625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352425"/>
                </a:lnTo>
                <a:cubicBezTo>
                  <a:pt x="2571750" y="394509"/>
                  <a:pt x="2537634" y="428625"/>
                  <a:pt x="249555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81000" y="1571625"/>
            <a:ext cx="2571750" cy="19050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6166" y="150590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9193" y="14735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钩子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1776" y="1965960"/>
            <a:ext cx="1130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「关于X项目，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8070" y="2204085"/>
            <a:ext cx="9976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我需要您……」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2571750"/>
            <a:ext cx="2190750" cy="9525"/>
          </a:xfrm>
          <a:prstGeom prst="rect">
            <a:avLst/>
          </a:prstGeom>
          <a:solidFill>
            <a:srgbClr val="E8E0C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02531" y="2733199"/>
            <a:ext cx="9286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具体提到项目名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3630" y="2942749"/>
            <a:ext cx="6464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+ 你的需求</a:t>
            </a:r>
          </a:p>
        </p:txBody>
      </p:sp>
      <p:sp>
        <p:nvSpPr>
          <p:cNvPr id="18" name="Polygon 18"/>
          <p:cNvSpPr/>
          <p:nvPr/>
        </p:nvSpPr>
        <p:spPr>
          <a:xfrm>
            <a:off x="3048000" y="214312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0" y="47625"/>
                </a:moveTo>
                <a:lnTo>
                  <a:pt x="142875" y="0"/>
                </a:lnTo>
                <a:lnTo>
                  <a:pt x="142875" y="95250"/>
                </a:ln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2952750" y="2171700"/>
            <a:ext cx="114300" cy="3810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3238500" y="1333500"/>
            <a:ext cx="2571750" cy="1905000"/>
          </a:xfrm>
          <a:custGeom>
            <a:avLst/>
            <a:gdLst/>
            <a:ahLst/>
            <a:cxnLst/>
            <a:rect l="l" t="t" r="r" b="b"/>
            <a:pathLst>
              <a:path w="2571750" h="1905000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1828800"/>
                </a:lnTo>
                <a:cubicBezTo>
                  <a:pt x="2571750" y="1870884"/>
                  <a:pt x="2537634" y="1905000"/>
                  <a:pt x="24955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6FC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3238500" y="1333500"/>
            <a:ext cx="2571750" cy="428625"/>
          </a:xfrm>
          <a:custGeom>
            <a:avLst/>
            <a:gdLst/>
            <a:ahLst/>
            <a:cxnLst/>
            <a:rect l="l" t="t" r="r" b="b"/>
            <a:pathLst>
              <a:path w="2571750" h="428625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352425"/>
                </a:lnTo>
                <a:cubicBezTo>
                  <a:pt x="2571750" y="394509"/>
                  <a:pt x="2537634" y="428625"/>
                  <a:pt x="249555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3238500" y="1571625"/>
            <a:ext cx="2571750" cy="19050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423666" y="150590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26693" y="14735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95191" y="1965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直接说出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95191" y="2204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429000" y="2571750"/>
            <a:ext cx="2190750" cy="9525"/>
          </a:xfrm>
          <a:prstGeom prst="rect">
            <a:avLst/>
          </a:prstGeom>
          <a:solidFill>
            <a:srgbClr val="D0DDE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256913" y="273319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开门见山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56913" y="294274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不绕弯子</a:t>
            </a:r>
          </a:p>
        </p:txBody>
      </p:sp>
      <p:sp>
        <p:nvSpPr>
          <p:cNvPr id="30" name="Polygon 30"/>
          <p:cNvSpPr/>
          <p:nvPr/>
        </p:nvSpPr>
        <p:spPr>
          <a:xfrm>
            <a:off x="5905500" y="214312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0" y="47625"/>
                </a:moveTo>
                <a:lnTo>
                  <a:pt x="142875" y="0"/>
                </a:lnTo>
                <a:lnTo>
                  <a:pt x="142875" y="95250"/>
                </a:ln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810250" y="2171700"/>
            <a:ext cx="114300" cy="3810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6096000" y="1333500"/>
            <a:ext cx="2571750" cy="1905000"/>
          </a:xfrm>
          <a:custGeom>
            <a:avLst/>
            <a:gdLst/>
            <a:ahLst/>
            <a:cxnLst/>
            <a:rect l="l" t="t" r="r" b="b"/>
            <a:pathLst>
              <a:path w="2571750" h="1905000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1828800"/>
                </a:lnTo>
                <a:cubicBezTo>
                  <a:pt x="2571750" y="1870884"/>
                  <a:pt x="2537634" y="1905000"/>
                  <a:pt x="24955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BFC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6096000" y="1333500"/>
            <a:ext cx="2571750" cy="428625"/>
          </a:xfrm>
          <a:custGeom>
            <a:avLst/>
            <a:gdLst/>
            <a:ahLst/>
            <a:cxnLst/>
            <a:rect l="l" t="t" r="r" b="b"/>
            <a:pathLst>
              <a:path w="2571750" h="428625">
                <a:moveTo>
                  <a:pt x="76200" y="0"/>
                </a:moveTo>
                <a:lnTo>
                  <a:pt x="2495550" y="0"/>
                </a:lnTo>
                <a:cubicBezTo>
                  <a:pt x="2537634" y="0"/>
                  <a:pt x="2571750" y="34116"/>
                  <a:pt x="2571750" y="76200"/>
                </a:cubicBezTo>
                <a:lnTo>
                  <a:pt x="2571750" y="352425"/>
                </a:lnTo>
                <a:cubicBezTo>
                  <a:pt x="2571750" y="394509"/>
                  <a:pt x="2537634" y="428625"/>
                  <a:pt x="249555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096000" y="1571625"/>
            <a:ext cx="2571750" cy="19050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281166" y="150590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93369" y="1473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观点摘要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52691" y="1965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重要观点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052691" y="2204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简要概括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2571750"/>
            <a:ext cx="219075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078318" y="2733199"/>
            <a:ext cx="6071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不超过3个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79714" y="2942749"/>
            <a:ext cx="12043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"第一、第二、第三"</a:t>
            </a:r>
          </a:p>
        </p:txBody>
      </p:sp>
      <p:sp>
        <p:nvSpPr>
          <p:cNvPr id="42" name="Polygon 42"/>
          <p:cNvSpPr/>
          <p:nvPr/>
        </p:nvSpPr>
        <p:spPr>
          <a:xfrm>
            <a:off x="8763000" y="214312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0" y="47625"/>
                </a:moveTo>
                <a:lnTo>
                  <a:pt x="142875" y="0"/>
                </a:lnTo>
                <a:lnTo>
                  <a:pt x="142875" y="95250"/>
                </a:ln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667750" y="2171700"/>
            <a:ext cx="114300" cy="3810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8953500" y="1333500"/>
            <a:ext cx="2857500" cy="1905000"/>
          </a:xfrm>
          <a:custGeom>
            <a:avLst/>
            <a:gdLst/>
            <a:ahLst/>
            <a:cxnLst/>
            <a:rect l="l" t="t" r="r" b="b"/>
            <a:pathLst>
              <a:path w="2857500" h="1905000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1828800"/>
                </a:lnTo>
                <a:cubicBezTo>
                  <a:pt x="2857500" y="1870884"/>
                  <a:pt x="2823384" y="1905000"/>
                  <a:pt x="27813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8953500" y="1333500"/>
            <a:ext cx="2857500" cy="428625"/>
          </a:xfrm>
          <a:custGeom>
            <a:avLst/>
            <a:gdLst/>
            <a:ahLst/>
            <a:cxnLst/>
            <a:rect l="l" t="t" r="r" b="b"/>
            <a:pathLst>
              <a:path w="2857500" h="42862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352425"/>
                </a:lnTo>
                <a:cubicBezTo>
                  <a:pt x="2857500" y="394509"/>
                  <a:pt x="2823384" y="428625"/>
                  <a:pt x="27813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8953500" y="1571625"/>
            <a:ext cx="2857500" cy="19050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138666" y="150590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993744" y="1473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行动指南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133838" y="19659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053066" y="2204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具体建议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144000" y="2571750"/>
            <a:ext cx="2476500" cy="9525"/>
          </a:xfrm>
          <a:prstGeom prst="rect">
            <a:avLst/>
          </a:prstGeom>
          <a:solidFill>
            <a:srgbClr val="E8D5C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852279" y="2733199"/>
            <a:ext cx="10599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给明确的时间节点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904781" y="2942749"/>
            <a:ext cx="9549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"我的建议是……"</a:t>
            </a:r>
          </a:p>
        </p:txBody>
      </p:sp>
      <p:sp>
        <p:nvSpPr>
          <p:cNvPr id="54" name="Freeform 54"/>
          <p:cNvSpPr/>
          <p:nvPr/>
        </p:nvSpPr>
        <p:spPr>
          <a:xfrm>
            <a:off x="381000" y="3619500"/>
            <a:ext cx="11430000" cy="2476500"/>
          </a:xfrm>
          <a:custGeom>
            <a:avLst/>
            <a:gdLst/>
            <a:ahLst/>
            <a:cxnLst/>
            <a:rect l="l" t="t" r="r" b="b"/>
            <a:pathLst>
              <a:path w="11430000" h="24765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2400300"/>
                </a:lnTo>
                <a:cubicBezTo>
                  <a:pt x="11430000" y="2442384"/>
                  <a:pt x="11395884" y="2476500"/>
                  <a:pt x="11353800" y="2476500"/>
                </a:cubicBezTo>
                <a:lnTo>
                  <a:pt x="76200" y="2476500"/>
                </a:lnTo>
                <a:cubicBezTo>
                  <a:pt x="34116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BFC"/>
          </a:solidFill>
          <a:ln w="9525">
            <a:solidFill>
              <a:srgbClr val="E0E0E0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64642" y="38547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范例演示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4095750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565404" y="4347210"/>
            <a:ext cx="30077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「领导，关于A项目，我建议立即启动。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5404" y="4632960"/>
            <a:ext cx="54319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第一，市场窗口期仅剩3个月；第二，技术方案已验证；第三，团队已就绪。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65404" y="49187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我的建议是本周五前完成立项。」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71500" y="5334000"/>
            <a:ext cx="1104900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756666" y="555402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B9BD5"/>
                </a:solidFill>
                <a:latin typeface="Microsoft YaHei"/>
                <a:ea typeface="Microsoft YaHei"/>
                <a:cs typeface="Microsoft YaHei"/>
              </a:rPr>
              <a:t>钩子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7047" y="5781199"/>
            <a:ext cx="7934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"关于A项目"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328416" y="555402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328797" y="5781199"/>
            <a:ext cx="9418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"建议立即启动"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900166" y="555402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观点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900547" y="5781199"/>
            <a:ext cx="10861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"第一/第二/第三"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567166" y="555402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567547" y="5781199"/>
            <a:ext cx="9418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"本周五前立项"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482464" y="65703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358338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实战模板：内部汇报发言稿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85800"/>
            <a:ext cx="5715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077499" y="410528"/>
            <a:ext cx="548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899AA"/>
                </a:solidFill>
                <a:latin typeface="Microsoft YaHei"/>
                <a:ea typeface="Microsoft YaHei"/>
                <a:cs typeface="Microsoft YaHei"/>
              </a:rPr>
              <a:t>PART 06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000125"/>
            <a:ext cx="5334000" cy="3333750"/>
          </a:xfrm>
          <a:custGeom>
            <a:avLst/>
            <a:gdLst/>
            <a:ahLst/>
            <a:cxnLst/>
            <a:rect l="l" t="t" r="r" b="b"/>
            <a:pathLst>
              <a:path w="5334000" h="3333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257550"/>
                </a:lnTo>
                <a:cubicBezTo>
                  <a:pt x="5334000" y="3299634"/>
                  <a:pt x="5299884" y="3333750"/>
                  <a:pt x="5257800" y="3333750"/>
                </a:cubicBezTo>
                <a:lnTo>
                  <a:pt x="76200" y="3333750"/>
                </a:lnTo>
                <a:cubicBezTo>
                  <a:pt x="34116" y="3333750"/>
                  <a:pt x="0" y="3299634"/>
                  <a:pt x="0" y="3257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000125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0050"/>
                </a:lnTo>
                <a:cubicBezTo>
                  <a:pt x="5334000" y="442134"/>
                  <a:pt x="5299884" y="476250"/>
                  <a:pt x="5257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6365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285875"/>
            <a:ext cx="5334000" cy="190500"/>
          </a:xfrm>
          <a:prstGeom prst="rect">
            <a:avLst/>
          </a:prstGeom>
          <a:solidFill>
            <a:srgbClr val="16365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49994" y="1168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结构要求</a:t>
            </a:r>
          </a:p>
        </p:txBody>
      </p:sp>
      <p:sp>
        <p:nvSpPr>
          <p:cNvPr id="11" name="Ellipse 11"/>
          <p:cNvSpPr/>
          <p:nvPr/>
        </p:nvSpPr>
        <p:spPr>
          <a:xfrm>
            <a:off x="876300" y="1733550"/>
            <a:ext cx="342900" cy="3429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1601" y="18488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4267" y="18164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结论放第一句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5791" y="209645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BFD8"/>
                </a:solidFill>
                <a:latin typeface="Microsoft YaHei"/>
                <a:ea typeface="Microsoft YaHei"/>
                <a:cs typeface="Microsoft YaHei"/>
              </a:rPr>
              <a:t>开门见山，先说结论再展开</a:t>
            </a:r>
          </a:p>
        </p:txBody>
      </p:sp>
      <p:sp>
        <p:nvSpPr>
          <p:cNvPr id="15" name="Ellipse 15"/>
          <p:cNvSpPr/>
          <p:nvPr/>
        </p:nvSpPr>
        <p:spPr>
          <a:xfrm>
            <a:off x="876300" y="2447925"/>
            <a:ext cx="342900" cy="3429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01601" y="2563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4267" y="2530792"/>
            <a:ext cx="9582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2-3 个理由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5791" y="2810828"/>
            <a:ext cx="2003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BFD8"/>
                </a:solidFill>
                <a:latin typeface="Microsoft YaHei"/>
                <a:ea typeface="Microsoft YaHei"/>
                <a:cs typeface="Microsoft YaHei"/>
              </a:rPr>
              <a:t>用"第一、第二、第三"清晰列出</a:t>
            </a:r>
          </a:p>
        </p:txBody>
      </p:sp>
      <p:sp>
        <p:nvSpPr>
          <p:cNvPr id="19" name="Ellipse 19"/>
          <p:cNvSpPr/>
          <p:nvPr/>
        </p:nvSpPr>
        <p:spPr>
          <a:xfrm>
            <a:off x="876300" y="3162300"/>
            <a:ext cx="342900" cy="3429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01601" y="32775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4267" y="32451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建议收尾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5791" y="3525202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BFD8"/>
                </a:solidFill>
                <a:latin typeface="Microsoft YaHei"/>
                <a:ea typeface="Microsoft YaHei"/>
                <a:cs typeface="Microsoft YaHei"/>
              </a:rPr>
              <a:t>"我的建议是________"</a:t>
            </a:r>
          </a:p>
        </p:txBody>
      </p:sp>
      <p:sp>
        <p:nvSpPr>
          <p:cNvPr id="23" name="Freeform 23"/>
          <p:cNvSpPr/>
          <p:nvPr/>
        </p:nvSpPr>
        <p:spPr>
          <a:xfrm>
            <a:off x="857250" y="3905250"/>
            <a:ext cx="4762500" cy="285750"/>
          </a:xfrm>
          <a:custGeom>
            <a:avLst/>
            <a:gdLst/>
            <a:ahLst/>
            <a:cxnLst/>
            <a:rect l="l" t="t" r="r" b="b"/>
            <a:pathLst>
              <a:path w="4762500" h="285750">
                <a:moveTo>
                  <a:pt x="38100" y="0"/>
                </a:moveTo>
                <a:lnTo>
                  <a:pt x="4724400" y="0"/>
                </a:lnTo>
                <a:cubicBezTo>
                  <a:pt x="4745442" y="0"/>
                  <a:pt x="4762500" y="17058"/>
                  <a:pt x="4762500" y="38100"/>
                </a:cubicBezTo>
                <a:lnTo>
                  <a:pt x="4762500" y="247650"/>
                </a:lnTo>
                <a:cubicBezTo>
                  <a:pt x="4762500" y="268692"/>
                  <a:pt x="4745442" y="285750"/>
                  <a:pt x="47244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B447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825904" y="3990499"/>
            <a:ext cx="28251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EB8E0"/>
                </a:solidFill>
                <a:latin typeface="Microsoft YaHei"/>
                <a:ea typeface="Microsoft YaHei"/>
                <a:cs typeface="Microsoft YaHei"/>
              </a:rPr>
              <a:t>"领导，关于X，建议启动。第一…第二…第三…"</a:t>
            </a:r>
          </a:p>
        </p:txBody>
      </p:sp>
      <p:sp>
        <p:nvSpPr>
          <p:cNvPr id="25" name="Freeform 25"/>
          <p:cNvSpPr/>
          <p:nvPr/>
        </p:nvSpPr>
        <p:spPr>
          <a:xfrm>
            <a:off x="6286500" y="1000125"/>
            <a:ext cx="5334000" cy="3333750"/>
          </a:xfrm>
          <a:custGeom>
            <a:avLst/>
            <a:gdLst/>
            <a:ahLst/>
            <a:cxnLst/>
            <a:rect l="l" t="t" r="r" b="b"/>
            <a:pathLst>
              <a:path w="5334000" h="3333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257550"/>
                </a:lnTo>
                <a:cubicBezTo>
                  <a:pt x="5334000" y="3299634"/>
                  <a:pt x="5299884" y="3333750"/>
                  <a:pt x="5257800" y="3333750"/>
                </a:cubicBezTo>
                <a:lnTo>
                  <a:pt x="76200" y="3333750"/>
                </a:lnTo>
                <a:cubicBezTo>
                  <a:pt x="34116" y="3333750"/>
                  <a:pt x="0" y="3299634"/>
                  <a:pt x="0" y="3257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BFC"/>
          </a:solidFill>
          <a:ln w="19050">
            <a:solidFill>
              <a:srgbClr val="E8E0C8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6286500" y="1000125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0050"/>
                </a:lnTo>
                <a:cubicBezTo>
                  <a:pt x="5334000" y="442134"/>
                  <a:pt x="5299884" y="476250"/>
                  <a:pt x="5257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E7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286500" y="1285875"/>
            <a:ext cx="5334000" cy="190500"/>
          </a:xfrm>
          <a:prstGeom prst="rect">
            <a:avLst/>
          </a:prstGeom>
          <a:solidFill>
            <a:srgbClr val="FFF8E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564994" y="1168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902A"/>
                </a:solidFill>
                <a:latin typeface="Microsoft YaHei"/>
                <a:ea typeface="Microsoft YaHei"/>
                <a:cs typeface="Microsoft YaHei"/>
              </a:rPr>
              <a:t>风格要求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66154" y="1727835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语调</a:t>
            </a:r>
          </a:p>
        </p:txBody>
      </p:sp>
      <p:sp>
        <p:nvSpPr>
          <p:cNvPr id="30" name="Freeform 30"/>
          <p:cNvSpPr/>
          <p:nvPr/>
        </p:nvSpPr>
        <p:spPr>
          <a:xfrm>
            <a:off x="6572250" y="2000250"/>
            <a:ext cx="2286000" cy="381000"/>
          </a:xfrm>
          <a:custGeom>
            <a:avLst/>
            <a:gdLst/>
            <a:ahLst/>
            <a:cxnLst/>
            <a:rect l="l" t="t" r="r" b="b"/>
            <a:pathLst>
              <a:path w="2286000" h="38100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42900"/>
                </a:lnTo>
                <a:cubicBezTo>
                  <a:pt x="2286000" y="363942"/>
                  <a:pt x="2268942" y="381000"/>
                  <a:pt x="2247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57035" y="2126456"/>
            <a:ext cx="7459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● 自信果断</a:t>
            </a:r>
          </a:p>
        </p:txBody>
      </p:sp>
      <p:sp>
        <p:nvSpPr>
          <p:cNvPr id="32" name="Freeform 32"/>
          <p:cNvSpPr/>
          <p:nvPr/>
        </p:nvSpPr>
        <p:spPr>
          <a:xfrm>
            <a:off x="8953500" y="2000250"/>
            <a:ext cx="2286000" cy="381000"/>
          </a:xfrm>
          <a:custGeom>
            <a:avLst/>
            <a:gdLst/>
            <a:ahLst/>
            <a:cxnLst/>
            <a:rect l="l" t="t" r="r" b="b"/>
            <a:pathLst>
              <a:path w="2286000" h="38100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42900"/>
                </a:lnTo>
                <a:cubicBezTo>
                  <a:pt x="2286000" y="363942"/>
                  <a:pt x="2268942" y="381000"/>
                  <a:pt x="2247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138285" y="2126456"/>
            <a:ext cx="7459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● 严谨冷静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66154" y="2585085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语言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57035" y="2878931"/>
            <a:ext cx="16546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● 口语化，像正常人说话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7035" y="3164681"/>
            <a:ext cx="13517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● 不要长句，用短句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57035" y="3450431"/>
            <a:ext cx="13517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● 避免复杂术语嵌套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57035" y="3736181"/>
            <a:ext cx="1806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● 允许语气词（嗯、那么）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466725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257300"/>
                </a:lnTo>
                <a:cubicBezTo>
                  <a:pt x="11049000" y="1299384"/>
                  <a:pt x="11014884" y="1333500"/>
                  <a:pt x="10972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571500" y="4667250"/>
            <a:ext cx="57150" cy="1333500"/>
          </a:xfrm>
          <a:custGeom>
            <a:avLst/>
            <a:gdLst/>
            <a:ahLst/>
            <a:cxnLst/>
            <a:rect l="l" t="t" r="r" b="b"/>
            <a:pathLst>
              <a:path w="57150" h="1333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04925"/>
                </a:lnTo>
                <a:cubicBezTo>
                  <a:pt x="57150" y="1320707"/>
                  <a:pt x="44357" y="1333500"/>
                  <a:pt x="28575" y="1333500"/>
                </a:cubicBezTo>
                <a:lnTo>
                  <a:pt x="28575" y="1333500"/>
                </a:lnTo>
                <a:cubicBezTo>
                  <a:pt x="12793" y="1333500"/>
                  <a:pt x="0" y="1320707"/>
                  <a:pt x="0" y="1304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45642" y="4950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核心原则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69774" y="5266372"/>
            <a:ext cx="225245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让听众"轻松听懂"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07916" y="5661660"/>
            <a:ext cx="37761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感觉轻松 = 感觉正确 — 这就是流畅性启发的终极应用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82464" y="65703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AAA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9525000" y="0"/>
            <a:ext cx="2667000" cy="3810000"/>
          </a:xfrm>
          <a:custGeom>
            <a:avLst/>
            <a:gdLst/>
            <a:ahLst/>
            <a:cxnLst/>
            <a:rect l="l" t="t" r="r" b="b"/>
            <a:pathLst>
              <a:path w="2667000" h="3810000">
                <a:moveTo>
                  <a:pt x="2667000" y="0"/>
                </a:moveTo>
                <a:lnTo>
                  <a:pt x="2667000" y="3810000"/>
                </a:lnTo>
                <a:lnTo>
                  <a:pt x="0" y="3810000"/>
                </a:lnTo>
                <a:lnTo>
                  <a:pt x="952500" y="0"/>
                </a:lnTo>
                <a:close/>
              </a:path>
            </a:pathLst>
          </a:custGeom>
          <a:solidFill>
            <a:srgbClr val="16365A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191750" y="4953000"/>
            <a:ext cx="1524000" cy="1524000"/>
          </a:xfrm>
          <a:prstGeom prst="ellipse">
            <a:avLst/>
          </a:prstGeom>
          <a:solidFill>
            <a:srgbClr val="E8A838">
              <a:alpha val="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6166" y="505778"/>
            <a:ext cx="6454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B9BD5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308" y="741045"/>
            <a:ext cx="205983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核心要点回顾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43000"/>
            <a:ext cx="762000" cy="28575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5715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42" y="0"/>
                  <a:pt x="381000" y="17058"/>
                  <a:pt x="381000" y="38100"/>
                </a:cubicBezTo>
                <a:lnTo>
                  <a:pt x="381000" y="342900"/>
                </a:lnTo>
                <a:cubicBezTo>
                  <a:pt x="381000" y="363942"/>
                  <a:pt x="363942" y="381000"/>
                  <a:pt x="342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02665" y="16449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5380" y="16287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目的决定形式，技巧需要灵魂支撑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09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42" y="0"/>
                  <a:pt x="381000" y="17058"/>
                  <a:pt x="381000" y="38100"/>
                </a:cubicBezTo>
                <a:lnTo>
                  <a:pt x="381000" y="342900"/>
                </a:lnTo>
                <a:cubicBezTo>
                  <a:pt x="381000" y="363942"/>
                  <a:pt x="363942" y="381000"/>
                  <a:pt x="342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2665" y="22164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5380" y="22002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尊重注意力：三点原则、简化语言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42" y="0"/>
                  <a:pt x="381000" y="17058"/>
                  <a:pt x="381000" y="38100"/>
                </a:cubicBezTo>
                <a:lnTo>
                  <a:pt x="381000" y="342900"/>
                </a:lnTo>
                <a:cubicBezTo>
                  <a:pt x="381000" y="363942"/>
                  <a:pt x="363942" y="381000"/>
                  <a:pt x="342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02665" y="27879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5380" y="277177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信任靠自信流畅，权威靠数据逻辑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42" y="0"/>
                  <a:pt x="381000" y="17058"/>
                  <a:pt x="381000" y="38100"/>
                </a:cubicBezTo>
                <a:lnTo>
                  <a:pt x="381000" y="342900"/>
                </a:lnTo>
                <a:cubicBezTo>
                  <a:pt x="381000" y="363942"/>
                  <a:pt x="363942" y="381000"/>
                  <a:pt x="342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02665" y="33594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5380" y="3343275"/>
            <a:ext cx="30744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流畅性启发：感觉轻松 = 感觉正确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381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42" y="0"/>
                  <a:pt x="381000" y="17058"/>
                  <a:pt x="381000" y="38100"/>
                </a:cubicBezTo>
                <a:lnTo>
                  <a:pt x="381000" y="342900"/>
                </a:lnTo>
                <a:cubicBezTo>
                  <a:pt x="381000" y="363942"/>
                  <a:pt x="363942" y="381000"/>
                  <a:pt x="342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02665" y="39309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380" y="3914775"/>
            <a:ext cx="33369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场景公式：钩子 + 结论 + 观点 + 行动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4762500"/>
            <a:ext cx="11049000" cy="1143000"/>
          </a:xfrm>
          <a:custGeom>
            <a:avLst/>
            <a:gdLst/>
            <a:ahLst/>
            <a:cxnLst/>
            <a:rect l="l" t="t" r="r" b="b"/>
            <a:pathLst>
              <a:path w="11049000" h="1143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066800"/>
                </a:lnTo>
                <a:cubicBezTo>
                  <a:pt x="11049000" y="1108884"/>
                  <a:pt x="11014884" y="1143000"/>
                  <a:pt x="10972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9050">
            <a:solidFill>
              <a:srgbClr val="E8A838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571500" y="4762500"/>
            <a:ext cx="11049000" cy="1143000"/>
          </a:xfrm>
          <a:custGeom>
            <a:avLst/>
            <a:gdLst/>
            <a:ahLst/>
            <a:cxnLst/>
            <a:rect l="l" t="t" r="r" b="b"/>
            <a:pathLst>
              <a:path w="11049000" h="1143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066800"/>
                </a:lnTo>
                <a:cubicBezTo>
                  <a:pt x="11049000" y="1108884"/>
                  <a:pt x="11014884" y="1143000"/>
                  <a:pt x="10972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A838">
              <a:alpha val="8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155891" y="5059680"/>
            <a:ext cx="388021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「说对话，比说好话更重要」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62956" y="54902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EB8E0"/>
                </a:solidFill>
                <a:latin typeface="Microsoft YaHei"/>
                <a:ea typeface="Microsoft YaHei"/>
                <a:cs typeface="Microsoft YaHei"/>
              </a:rPr>
              <a:t>即时表达的终极奥义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2A4A6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231959" y="6458902"/>
            <a:ext cx="17280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A7A9A"/>
                </a:solidFill>
                <a:latin typeface="Microsoft YaHei"/>
                <a:ea typeface="Microsoft YaHei"/>
                <a:cs typeface="Microsoft YaHei"/>
              </a:rPr>
              <a:t>感谢聆听 · 表达力训练系列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2026-06-29T05:55:36Z</dcterms:created>
  <dcterms:modified xsi:type="dcterms:W3CDTF">2026-06-29T05:55:36Z</dcterms:modified>
  <cp:category/>
  <cp:contentStatus/>
</cp:coreProperties>
</file>