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810250" y="1333500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14288" y="0"/>
                </a:moveTo>
                <a:lnTo>
                  <a:pt x="557212" y="0"/>
                </a:lnTo>
                <a:cubicBezTo>
                  <a:pt x="565103" y="0"/>
                  <a:pt x="571500" y="6397"/>
                  <a:pt x="571500" y="14288"/>
                </a:cubicBezTo>
                <a:lnTo>
                  <a:pt x="571500" y="14288"/>
                </a:lnTo>
                <a:cubicBezTo>
                  <a:pt x="571500" y="22178"/>
                  <a:pt x="565103" y="28575"/>
                  <a:pt x="5572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9980" y="1672590"/>
            <a:ext cx="2752039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即时表达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3173" y="2535555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公众发言的核心艺术</a:t>
            </a:r>
          </a:p>
        </p:txBody>
      </p:sp>
      <p:sp>
        <p:nvSpPr>
          <p:cNvPr id="7" name="Ellipse 7"/>
          <p:cNvSpPr/>
          <p:nvPr/>
        </p:nvSpPr>
        <p:spPr>
          <a:xfrm>
            <a:off x="5619750" y="3238500"/>
            <a:ext cx="952500" cy="9525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810250" y="3429000"/>
            <a:ext cx="571500" cy="57150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987415" y="36290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53062" y="59502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表达力训练系列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6473" y="6316028"/>
            <a:ext cx="20390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2026 · 即时表达技巧与实战模板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表达的本质：内容与方式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7166" y="150590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WHAT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2594" y="17421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表达内容</a:t>
            </a:r>
          </a:p>
        </p:txBody>
      </p:sp>
      <p:sp>
        <p:nvSpPr>
          <p:cNvPr id="10" name="Line 10"/>
          <p:cNvSpPr/>
          <p:nvPr/>
        </p:nvSpPr>
        <p:spPr>
          <a:xfrm>
            <a:off x="952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952500" y="2476500"/>
            <a:ext cx="4572000" cy="28575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5642" y="26165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785" y="2878931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流畅、自信、有节奏的口头语言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3333750"/>
            <a:ext cx="4572000" cy="28575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5642" y="34737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785" y="3736181"/>
            <a:ext cx="2355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PPT、数据、逻辑链里的严谨底稿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4191000"/>
            <a:ext cx="4572000" cy="28575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5642" y="43310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785" y="459343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预判听众挑战点和对应答案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2500" y="5143500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609600"/>
                </a:lnTo>
                <a:cubicBezTo>
                  <a:pt x="4572000" y="641163"/>
                  <a:pt x="4546413" y="666750"/>
                  <a:pt x="45148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83866" y="5307806"/>
            <a:ext cx="23092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半书面 = 口头 + 书面底稿 + 审查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46020" y="554307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经得起听众审查的公众发言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286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62166" y="1505902"/>
            <a:ext cx="3321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HOW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7594" y="17421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表达方式</a:t>
            </a:r>
          </a:p>
        </p:txBody>
      </p:sp>
      <p:sp>
        <p:nvSpPr>
          <p:cNvPr id="27" name="Line 27"/>
          <p:cNvSpPr/>
          <p:nvPr/>
        </p:nvSpPr>
        <p:spPr>
          <a:xfrm>
            <a:off x="6667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FDE68A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6667500" y="2476500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087935" y="26927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本质：一种认知压榨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1404" y="3394710"/>
            <a:ext cx="10044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① 流畅性启发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52285" y="366950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感觉轻松 = 感觉正确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53047" y="392382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大脑依赖处理体验而非内容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61404" y="4394835"/>
            <a:ext cx="11740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② 场景表达模式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52285" y="4669631"/>
            <a:ext cx="1745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53047" y="4923949"/>
            <a:ext cx="11911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结构化降低认知负担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5286375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826695" y="5517356"/>
            <a:ext cx="22536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即时表达更重要的是"表达方式"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表达内容四大原则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3450" y="140398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1868" y="13458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9" name="Rectangle 9"/>
          <p:cNvSpPr/>
          <p:nvPr/>
        </p:nvSpPr>
        <p:spPr>
          <a:xfrm>
            <a:off x="2000250" y="1638300"/>
            <a:ext cx="3810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994154" y="1775460"/>
            <a:ext cx="43900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没有"要改变什么"的野心，技巧沦为套路，大脑拒绝全力运转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4916" y="2058352"/>
            <a:ext cx="32405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 潜意识知道这次表达没有野心，所以拒绝全力运转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476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3450" y="278511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1868" y="27270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时间有限性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000250" y="3019425"/>
            <a:ext cx="3810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994154" y="315658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注意力窗口有限，耐心有限，说太多引起反感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94916" y="3439478"/>
            <a:ext cx="25337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 尊重听众的时间，抓重点（只抓三点）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385762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3450" y="416623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1868" y="41081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时间线性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000250" y="4400550"/>
            <a:ext cx="3810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994154" y="45377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说完就没了，无法倒带。用短句、重复、口语词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4916" y="4820602"/>
            <a:ext cx="36100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 主动标定重点（复述或 PPT 标题），确保信息一次过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52387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3450" y="554736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F59E0B">
                    <a:alphaMod val="2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91868" y="548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认知带宽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000250" y="5781675"/>
            <a:ext cx="3810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94154" y="5918835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需要低压信息，废话是缓冲带，听众在理解+判断（双线任务）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94916" y="6201728"/>
            <a:ext cx="29578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 允许语气词（嗯、啊），它们是大脑的休息区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19749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权威来源：信任 vs 权威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1714500" y="1143000"/>
            <a:ext cx="3048000" cy="3048000"/>
          </a:xfrm>
          <a:prstGeom prst="ellipse">
            <a:avLst/>
          </a:prstGeom>
          <a:solidFill>
            <a:srgbClr val="FFFBEB">
              <a:alpha val="90000"/>
            </a:srgbClr>
          </a:solidFill>
          <a:ln w="19050">
            <a:solidFill>
              <a:srgbClr val="F59E0B">
                <a:alpha val="9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817594" y="2077402"/>
            <a:ext cx="8418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EMOTIONAL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0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信任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50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情感层面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40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✓ 自信流畅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0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✓ 眼神交流</a:t>
            </a:r>
          </a:p>
        </p:txBody>
      </p:sp>
      <p:sp>
        <p:nvSpPr>
          <p:cNvPr id="12" name="Ellipse 12"/>
          <p:cNvSpPr/>
          <p:nvPr/>
        </p:nvSpPr>
        <p:spPr>
          <a:xfrm>
            <a:off x="5905500" y="1143000"/>
            <a:ext cx="3048000" cy="3048000"/>
          </a:xfrm>
          <a:prstGeom prst="ellipse">
            <a:avLst/>
          </a:prstGeom>
          <a:solidFill>
            <a:srgbClr val="EFF6FF">
              <a:alpha val="90000"/>
            </a:srgbClr>
          </a:solidFill>
          <a:ln w="19050">
            <a:solidFill>
              <a:srgbClr val="2563EB">
                <a:alpha val="9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083083" y="2077402"/>
            <a:ext cx="6928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RATIONAL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21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权威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41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理性层面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31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✓ 数据支撑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31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✓ 逻辑自洽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32165" y="25617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交叠区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32165" y="27522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最高效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571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6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信任的威力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5642" y="528351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哪怕逻辑有瑕疵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5642" y="556926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听众的直觉会被带着走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7166" y="5887402"/>
            <a:ext cx="1890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关键词：情感 · 感染力 · 气场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286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61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权威的威力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0642" y="52835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哪怕文笔枯燥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0642" y="5569268"/>
            <a:ext cx="16675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默认其为"专业资料"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2166" y="5887402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关键词：数据 · 逻辑 · 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流畅性启发（核心原理）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4953000" y="1619250"/>
            <a:ext cx="2286000" cy="2286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0" y="1809750"/>
            <a:ext cx="1905000" cy="1905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56733" y="2410778"/>
            <a:ext cx="1078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CORE PRINCIPLE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4545" y="267938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5938" y="30108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认知压榨的本质</a:t>
            </a:r>
          </a:p>
        </p:txBody>
      </p:sp>
      <p:sp>
        <p:nvSpPr>
          <p:cNvPr id="11" name="Freeform 11"/>
          <p:cNvSpPr/>
          <p:nvPr/>
        </p:nvSpPr>
        <p:spPr>
          <a:xfrm>
            <a:off x="4191000" y="1238250"/>
            <a:ext cx="3810000" cy="333375"/>
          </a:xfrm>
          <a:custGeom>
            <a:avLst/>
            <a:gdLst/>
            <a:ahLst/>
            <a:cxnLst/>
            <a:rect l="l" t="t" r="r" b="b"/>
            <a:pathLst>
              <a:path w="3810000" h="33337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295275"/>
                </a:lnTo>
                <a:cubicBezTo>
                  <a:pt x="3810000" y="316317"/>
                  <a:pt x="3792942" y="333375"/>
                  <a:pt x="3771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2580" y="1345406"/>
            <a:ext cx="21468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大脑依赖"信息处理的主观体验"</a:t>
            </a:r>
          </a:p>
        </p:txBody>
      </p:sp>
      <p:sp>
        <p:nvSpPr>
          <p:cNvPr id="13" name="Line 13"/>
          <p:cNvSpPr/>
          <p:nvPr/>
        </p:nvSpPr>
        <p:spPr>
          <a:xfrm>
            <a:off x="266700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23812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14" name="Polygon 14"/>
          <p:cNvSpPr/>
          <p:nvPr/>
        </p:nvSpPr>
        <p:spPr>
          <a:xfrm>
            <a:off x="2571750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142875" y="0"/>
                </a:moveTo>
                <a:lnTo>
                  <a:pt x="0" y="47625"/>
                </a:lnTo>
                <a:lnTo>
                  <a:pt x="142875" y="95250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571500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0352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感觉轻松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291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= 感觉正确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4672" y="291417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处理顺畅 → 判断可信</a:t>
            </a:r>
          </a:p>
        </p:txBody>
      </p:sp>
      <p:sp>
        <p:nvSpPr>
          <p:cNvPr id="20" name="Line 20"/>
          <p:cNvSpPr/>
          <p:nvPr/>
        </p:nvSpPr>
        <p:spPr>
          <a:xfrm>
            <a:off x="714375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21" name="Polygon 21"/>
          <p:cNvSpPr/>
          <p:nvPr/>
        </p:nvSpPr>
        <p:spPr>
          <a:xfrm>
            <a:off x="9477375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0" y="0"/>
                </a:moveTo>
                <a:lnTo>
                  <a:pt x="142875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962025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572875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65016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感觉困难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43864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= 感觉可疑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97564" y="2914174"/>
            <a:ext cx="13421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处理吃力 → 产生不信任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4095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6404" y="4299585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88243" y="4489132"/>
            <a:ext cx="28155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表达流畅比内容正确更重要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24362" y="4793456"/>
            <a:ext cx="33432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用短句、口语化、重复强调，降低听众的认知负担</a:t>
            </a:r>
          </a:p>
        </p:txBody>
      </p:sp>
      <p:sp>
        <p:nvSpPr>
          <p:cNvPr id="31" name="Freeform 31"/>
          <p:cNvSpPr/>
          <p:nvPr/>
        </p:nvSpPr>
        <p:spPr>
          <a:xfrm>
            <a:off x="57150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628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策略 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6666" y="583977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提前准备安全观点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7047" y="6085999"/>
            <a:ext cx="1099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调取 + 筛选 + 组织</a:t>
            </a:r>
          </a:p>
        </p:txBody>
      </p:sp>
      <p:sp>
        <p:nvSpPr>
          <p:cNvPr id="35" name="Freeform 35"/>
          <p:cNvSpPr/>
          <p:nvPr/>
        </p:nvSpPr>
        <p:spPr>
          <a:xfrm>
            <a:off x="4333875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518660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策略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19041" y="5839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降低认知负担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9422" y="6085999"/>
            <a:ext cx="12305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短句 + 口语化 + 重复</a:t>
            </a:r>
          </a:p>
        </p:txBody>
      </p:sp>
      <p:sp>
        <p:nvSpPr>
          <p:cNvPr id="39" name="Freeform 39"/>
          <p:cNvSpPr/>
          <p:nvPr/>
        </p:nvSpPr>
        <p:spPr>
          <a:xfrm>
            <a:off x="809625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28103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策略 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81416" y="5839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结构化表达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81797" y="6085999"/>
            <a:ext cx="15127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钩子 + 结论 + 观点 + 行动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场景表达模式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51916" y="136302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868" y="1584008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钩子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9404" y="1632585"/>
            <a:ext cx="18300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「关于X，我需要您……」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916" y="1934528"/>
            <a:ext cx="17280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具体提到项目名 + 你的需求</a:t>
            </a:r>
          </a:p>
        </p:txBody>
      </p:sp>
      <p:sp>
        <p:nvSpPr>
          <p:cNvPr id="12" name="Polygon 12"/>
          <p:cNvSpPr/>
          <p:nvPr/>
        </p:nvSpPr>
        <p:spPr>
          <a:xfrm>
            <a:off x="2857500" y="2333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933700" y="2333625"/>
            <a:ext cx="381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857250" y="252412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857250" y="252412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37666" y="274415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4618" y="296513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89404" y="30137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直接说出核心结论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7666" y="3315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开门见山，不绕弯子</a:t>
            </a:r>
          </a:p>
        </p:txBody>
      </p:sp>
      <p:sp>
        <p:nvSpPr>
          <p:cNvPr id="20" name="Polygon 20"/>
          <p:cNvSpPr/>
          <p:nvPr/>
        </p:nvSpPr>
        <p:spPr>
          <a:xfrm>
            <a:off x="3143250" y="37147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219450" y="3714750"/>
            <a:ext cx="381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1143000" y="390525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43000" y="39052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23416" y="412527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0368" y="4346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观点摘要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46654" y="43948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重要观点简要概括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3416" y="4696778"/>
            <a:ext cx="20814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不超过3个，"第一、第二、第三"</a:t>
            </a:r>
          </a:p>
        </p:txBody>
      </p:sp>
      <p:sp>
        <p:nvSpPr>
          <p:cNvPr id="28" name="Polygon 28"/>
          <p:cNvSpPr/>
          <p:nvPr/>
        </p:nvSpPr>
        <p:spPr>
          <a:xfrm>
            <a:off x="3429000" y="509587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505200" y="5095875"/>
            <a:ext cx="381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1428750" y="528637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1428750" y="528637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709166" y="550640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STEP 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06118" y="57273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行动指南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2404" y="5775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下一步具体建议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9166" y="6077902"/>
            <a:ext cx="21592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给明确时间节点，"我的建议是……"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1143000"/>
            <a:ext cx="4953000" cy="5286375"/>
          </a:xfrm>
          <a:custGeom>
            <a:avLst/>
            <a:gdLst/>
            <a:ahLst/>
            <a:cxnLst/>
            <a:rect l="l" t="t" r="r" b="b"/>
            <a:pathLst>
              <a:path w="4953000" h="5286375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210175"/>
                </a:lnTo>
                <a:cubicBezTo>
                  <a:pt x="4953000" y="5252259"/>
                  <a:pt x="4918884" y="5286375"/>
                  <a:pt x="4876800" y="5286375"/>
                </a:cubicBezTo>
                <a:lnTo>
                  <a:pt x="76200" y="5286375"/>
                </a:lnTo>
                <a:cubicBezTo>
                  <a:pt x="34116" y="5286375"/>
                  <a:pt x="0" y="5252259"/>
                  <a:pt x="0" y="5210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667500" y="11430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00050"/>
                </a:lnTo>
                <a:cubicBezTo>
                  <a:pt x="4953000" y="442134"/>
                  <a:pt x="4918884" y="476250"/>
                  <a:pt x="4876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667500" y="1428750"/>
            <a:ext cx="4953000" cy="1905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55494" y="13115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范例演示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7154" y="1870710"/>
            <a:ext cx="10553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钩子 + 结论：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42404" y="2156460"/>
            <a:ext cx="16422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「领导，关于A项目，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2404" y="2394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我建议立即启动。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7154" y="2823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观点摘要：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42404" y="3108960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第一，市场窗口仅剩3个月；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42404" y="3347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第二，技术方案已验证；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42404" y="35852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第三，团队已就绪。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47154" y="40138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行动指南：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42404" y="429958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建议本周五前完成立项。」</a:t>
            </a:r>
          </a:p>
        </p:txBody>
      </p:sp>
      <p:sp>
        <p:nvSpPr>
          <p:cNvPr id="49" name="Line 49"/>
          <p:cNvSpPr/>
          <p:nvPr/>
        </p:nvSpPr>
        <p:spPr>
          <a:xfrm>
            <a:off x="6953250" y="476250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948297" y="4942999"/>
            <a:ext cx="163746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● 钩子具体（项目名+需求）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8297" y="5181124"/>
            <a:ext cx="143401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● 结论果断（不绕弯子）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48297" y="5419249"/>
            <a:ext cx="9811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● 观点不超过3个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48297" y="5657374"/>
            <a:ext cx="15652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● 行动明确（给时间节点）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948297" y="5895499"/>
            <a:ext cx="143401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● 语言口语化、自信严谨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58338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实战模板：内部汇报发言稿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642" y="1092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结构要求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3810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1050" y="16859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635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9398" y="1776889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结论放第一句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666" y="2172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开门见山，先说结论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666" y="2410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再展开理由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71462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7047" y="2818924"/>
            <a:ext cx="17642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范例："关于X，建议启动。"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4543425" y="16859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68726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41773" y="1776889"/>
            <a:ext cx="90505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2-3 个理由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9041" y="2172652"/>
            <a:ext cx="14383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用"第一、第二、第三"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9041" y="24107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清晰列出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24375" y="271462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519422" y="2818924"/>
            <a:ext cx="155214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范例："第一…第二…第三…"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9625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305800" y="16859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3110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04148" y="17768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建议收尾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81416" y="217265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"我的建议是____"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81416" y="24107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给出明确行动项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286750" y="271462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81797" y="2818924"/>
            <a:ext cx="17293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范例："建议本周五前立项。"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4642" y="3426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风格要求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667125"/>
            <a:ext cx="3810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5715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83412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自信果断</a:t>
            </a:r>
          </a:p>
        </p:txBody>
      </p:sp>
      <p:sp>
        <p:nvSpPr>
          <p:cNvPr id="36" name="Freeform 36"/>
          <p:cNvSpPr/>
          <p:nvPr/>
        </p:nvSpPr>
        <p:spPr>
          <a:xfrm>
            <a:off x="24288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94078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严谨冷静</a:t>
            </a:r>
          </a:p>
        </p:txBody>
      </p:sp>
      <p:sp>
        <p:nvSpPr>
          <p:cNvPr id="38" name="Freeform 38"/>
          <p:cNvSpPr/>
          <p:nvPr/>
        </p:nvSpPr>
        <p:spPr>
          <a:xfrm>
            <a:off x="428625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882972" y="40614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口语化</a:t>
            </a:r>
          </a:p>
        </p:txBody>
      </p:sp>
      <p:sp>
        <p:nvSpPr>
          <p:cNvPr id="40" name="Freeform 40"/>
          <p:cNvSpPr/>
          <p:nvPr/>
        </p:nvSpPr>
        <p:spPr>
          <a:xfrm>
            <a:off x="614362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5553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短句为主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010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343290" y="406146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避免术语嵌套</a:t>
            </a:r>
          </a:p>
        </p:txBody>
      </p:sp>
      <p:sp>
        <p:nvSpPr>
          <p:cNvPr id="44" name="Freeform 44"/>
          <p:cNvSpPr/>
          <p:nvPr/>
        </p:nvSpPr>
        <p:spPr>
          <a:xfrm>
            <a:off x="98583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285476" y="40614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允许语气词</a:t>
            </a:r>
          </a:p>
        </p:txBody>
      </p:sp>
      <p:sp>
        <p:nvSpPr>
          <p:cNvPr id="46" name="Freeform 46"/>
          <p:cNvSpPr/>
          <p:nvPr/>
        </p:nvSpPr>
        <p:spPr>
          <a:xfrm>
            <a:off x="571500" y="4667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56285" y="48315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完整范例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6285" y="5098256"/>
            <a:ext cx="48280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「领导，关于X项目，我建议立即启动。第一，市场窗口仅剩3个月；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6285" y="5336381"/>
            <a:ext cx="53120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第二，技术方案已验证；第三，团队已就绪。我的建议是本周五前完成立项。」</a:t>
            </a:r>
          </a:p>
        </p:txBody>
      </p:sp>
      <p:sp>
        <p:nvSpPr>
          <p:cNvPr id="50" name="Freeform 50"/>
          <p:cNvSpPr/>
          <p:nvPr/>
        </p:nvSpPr>
        <p:spPr>
          <a:xfrm>
            <a:off x="571500" y="5905500"/>
            <a:ext cx="11049000" cy="666750"/>
          </a:xfrm>
          <a:custGeom>
            <a:avLst/>
            <a:gdLst/>
            <a:ahLst/>
            <a:cxnLst/>
            <a:rect l="l" t="t" r="r" b="b"/>
            <a:pathLst>
              <a:path w="11049000" h="666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590550"/>
                </a:lnTo>
                <a:cubicBezTo>
                  <a:pt x="11049000" y="632634"/>
                  <a:pt x="11014884" y="666750"/>
                  <a:pt x="10972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592066" y="6156008"/>
            <a:ext cx="50078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核心：让听众"轻松听懂" — 感觉轻松 = 感觉正确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57424" y="505778"/>
            <a:ext cx="6771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01711" y="724852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核心要点回顾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0" y="1143000"/>
            <a:ext cx="762000" cy="28575"/>
          </a:xfrm>
          <a:custGeom>
            <a:avLst/>
            <a:gdLst/>
            <a:ahLst/>
            <a:cxnLst/>
            <a:rect l="l" t="t" r="r" b="b"/>
            <a:pathLst>
              <a:path w="762000" h="28575">
                <a:moveTo>
                  <a:pt x="14288" y="0"/>
                </a:moveTo>
                <a:lnTo>
                  <a:pt x="747712" y="0"/>
                </a:lnTo>
                <a:cubicBezTo>
                  <a:pt x="755603" y="0"/>
                  <a:pt x="762000" y="6397"/>
                  <a:pt x="762000" y="14288"/>
                </a:cubicBezTo>
                <a:lnTo>
                  <a:pt x="762000" y="14288"/>
                </a:lnTo>
                <a:cubicBezTo>
                  <a:pt x="762000" y="22178"/>
                  <a:pt x="755603" y="28575"/>
                  <a:pt x="747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58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517" y="1664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0660" y="19550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技巧需要灵魂支撑，否则就是套路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619125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EA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6633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EA5E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89267" y="1664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尊重注意力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0410" y="1955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三点原则、简化语言、主动标定重点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57150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658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F59E0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951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信任与权威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0660" y="29075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信任靠自信流畅，权威靠数据逻辑</a:t>
            </a:r>
          </a:p>
        </p:txBody>
      </p:sp>
      <p:sp>
        <p:nvSpPr>
          <p:cNvPr id="22" name="Freeform 22"/>
          <p:cNvSpPr/>
          <p:nvPr/>
        </p:nvSpPr>
        <p:spPr>
          <a:xfrm>
            <a:off x="619125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19125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46633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2C55E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8926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90410" y="2907506"/>
            <a:ext cx="27602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感觉轻松 = 感觉正确，流畅比正确更重要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3381375"/>
            <a:ext cx="11049000" cy="809625"/>
          </a:xfrm>
          <a:custGeom>
            <a:avLst/>
            <a:gdLst/>
            <a:ahLst/>
            <a:cxnLst/>
            <a:rect l="l" t="t" r="r" b="b"/>
            <a:pathLst>
              <a:path w="11049000" h="80962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733425"/>
                </a:lnTo>
                <a:cubicBezTo>
                  <a:pt x="11049000" y="775509"/>
                  <a:pt x="11014884" y="809625"/>
                  <a:pt x="1097280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571500" y="3381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6582" y="3488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A580C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69517" y="3569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场景公式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45892" y="3569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钩子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518916" y="36014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55517" y="3569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28541" y="36014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65142" y="3569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观点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38166" y="36014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74767" y="3569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70660" y="3860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四步结构化表达，降低听众认知负担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46672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123950"/>
                </a:lnTo>
                <a:cubicBezTo>
                  <a:pt x="11049000" y="1187076"/>
                  <a:pt x="10997826" y="1238250"/>
                  <a:pt x="10934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017312" y="4948238"/>
            <a:ext cx="415737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「说对话，比说好话更重要」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62956" y="54425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即时表达的终极奥义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95196" y="6363652"/>
            <a:ext cx="22016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感谢聆听 · 表达力训练系列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2026-06-29T06:17:42Z</dcterms:created>
  <dcterms:modified xsi:type="dcterms:W3CDTF">2026-06-29T06:17:42Z</dcterms:modified>
  <cp:category/>
  <cp:contentStatus/>
</cp:coreProperties>
</file>