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9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77" r:id="rId5"/>
    <p:sldId id="370" r:id="rId15"/>
    <p:sldId id="371" r:id="rId16"/>
    <p:sldId id="372" r:id="rId17"/>
    <p:sldId id="373" r:id="rId18"/>
    <p:sldId id="374" r:id="rId19"/>
    <p:sldId id="375" r:id="rId20"/>
    <p:sldId id="263" r:id="rId9"/>
  </p:sldIdLst>
  <p:sldSz cx="9144000" cy="5143500" type="screen16x9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qiu" initials="q" lastIdx="6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9D9D9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89" d="100"/>
          <a:sy n="89" d="100"/>
        </p:scale>
        <p:origin x="244" y="52"/>
      </p:cViewPr>
      <p:guideLst>
        <p:guide orient="horz" pos="1536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9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ableStyles" Target="tableStyles.xml"/><Relationship Id="rId13" Type="http://schemas.openxmlformats.org/officeDocument/2006/relationships/commentAuthors" Target="commentAuthors.xml"/><Relationship Id="rId14" Type="http://schemas.openxmlformats.org/officeDocument/2006/relationships/tags" Target="tags/tag95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1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tags" Target="../tags/tag8.xml"/><Relationship Id="rId5" Type="http://schemas.openxmlformats.org/officeDocument/2006/relationships/tags" Target="../tags/tag9.xml"/><Relationship Id="rId6" Type="http://schemas.openxmlformats.org/officeDocument/2006/relationships/tags" Target="../tags/tag10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tags" Target="../tags/tag14.xml"/><Relationship Id="rId6" Type="http://schemas.openxmlformats.org/officeDocument/2006/relationships/tags" Target="../tags/tag15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3" Type="http://schemas.openxmlformats.org/officeDocument/2006/relationships/tags" Target="../tags/tag17.xml"/><Relationship Id="rId4" Type="http://schemas.openxmlformats.org/officeDocument/2006/relationships/tags" Target="../tags/tag18.xml"/><Relationship Id="rId5" Type="http://schemas.openxmlformats.org/officeDocument/2006/relationships/tags" Target="../tags/tag19.xml"/><Relationship Id="rId6" Type="http://schemas.openxmlformats.org/officeDocument/2006/relationships/tags" Target="../tags/tag20.xml"/><Relationship Id="rId7" Type="http://schemas.openxmlformats.org/officeDocument/2006/relationships/tags" Target="../tags/tag2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3" Type="http://schemas.openxmlformats.org/officeDocument/2006/relationships/tags" Target="../tags/tag23.xml"/><Relationship Id="rId4" Type="http://schemas.openxmlformats.org/officeDocument/2006/relationships/tags" Target="../tags/tag24.xml"/><Relationship Id="rId5" Type="http://schemas.openxmlformats.org/officeDocument/2006/relationships/tags" Target="../tags/tag25.xml"/><Relationship Id="rId6" Type="http://schemas.openxmlformats.org/officeDocument/2006/relationships/tags" Target="../tags/tag26.xml"/><Relationship Id="rId7" Type="http://schemas.openxmlformats.org/officeDocument/2006/relationships/tags" Target="../tags/tag27.xml"/><Relationship Id="rId8" Type="http://schemas.openxmlformats.org/officeDocument/2006/relationships/tags" Target="../tags/tag28.xml"/><Relationship Id="rId9" Type="http://schemas.openxmlformats.org/officeDocument/2006/relationships/tags" Target="../tags/tag29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0.xml"/><Relationship Id="rId3" Type="http://schemas.openxmlformats.org/officeDocument/2006/relationships/tags" Target="../tags/tag31.xml"/><Relationship Id="rId4" Type="http://schemas.openxmlformats.org/officeDocument/2006/relationships/tags" Target="../tags/tag32.xml"/><Relationship Id="rId5" Type="http://schemas.openxmlformats.org/officeDocument/2006/relationships/tags" Target="../tags/tag3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4.xml"/><Relationship Id="rId3" Type="http://schemas.openxmlformats.org/officeDocument/2006/relationships/tags" Target="../tags/tag35.xml"/><Relationship Id="rId4" Type="http://schemas.openxmlformats.org/officeDocument/2006/relationships/tags" Target="../tags/tag3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3" Type="http://schemas.openxmlformats.org/officeDocument/2006/relationships/tags" Target="../tags/tag38.xml"/><Relationship Id="rId4" Type="http://schemas.openxmlformats.org/officeDocument/2006/relationships/tags" Target="../tags/tag39.xml"/><Relationship Id="rId5" Type="http://schemas.openxmlformats.org/officeDocument/2006/relationships/tags" Target="../tags/tag40.xml"/><Relationship Id="rId6" Type="http://schemas.openxmlformats.org/officeDocument/2006/relationships/tags" Target="../tags/tag41.xml"/><Relationship Id="rId7" Type="http://schemas.openxmlformats.org/officeDocument/2006/relationships/tags" Target="../tags/tag4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3" Type="http://schemas.openxmlformats.org/officeDocument/2006/relationships/tags" Target="../tags/tag44.xml"/><Relationship Id="rId4" Type="http://schemas.openxmlformats.org/officeDocument/2006/relationships/tags" Target="../tags/tag45.xml"/><Relationship Id="rId5" Type="http://schemas.openxmlformats.org/officeDocument/2006/relationships/tags" Target="../tags/tag46.xml"/><Relationship Id="rId6" Type="http://schemas.openxmlformats.org/officeDocument/2006/relationships/tags" Target="../tags/tag47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3" Type="http://schemas.openxmlformats.org/officeDocument/2006/relationships/tags" Target="../tags/tag49.xml"/><Relationship Id="rId4" Type="http://schemas.openxmlformats.org/officeDocument/2006/relationships/tags" Target="../tags/tag50.xml"/><Relationship Id="rId5" Type="http://schemas.openxmlformats.org/officeDocument/2006/relationships/tags" Target="../tags/tag5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2.xml"/><Relationship Id="rId3" Type="http://schemas.openxmlformats.org/officeDocument/2006/relationships/tags" Target="../tags/tag53.xml"/><Relationship Id="rId4" Type="http://schemas.openxmlformats.org/officeDocument/2006/relationships/tags" Target="../tags/tag54.xml"/><Relationship Id="rId5" Type="http://schemas.openxmlformats.org/officeDocument/2006/relationships/tags" Target="../tags/tag55.xml"/><Relationship Id="rId6" Type="http://schemas.openxmlformats.org/officeDocument/2006/relationships/tags" Target="../tags/tag5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674325" y="514440"/>
            <a:ext cx="5512050" cy="1446103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3375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674325" y="2003075"/>
            <a:ext cx="5512050" cy="82837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350" spc="200">
                <a:uFillTx/>
              </a:defRPr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5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685" indent="0" algn="ctr">
              <a:buNone/>
              <a:defRPr sz="900"/>
            </a:lvl7pPr>
            <a:lvl8pPr marL="1800860" indent="0" algn="ctr">
              <a:buNone/>
              <a:defRPr sz="900"/>
            </a:lvl8pPr>
            <a:lvl9pPr marL="2058035" indent="0" algn="ctr">
              <a:buNone/>
              <a:defRPr sz="9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598984"/>
            <a:ext cx="6170175" cy="39697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342424" y="1135856"/>
            <a:ext cx="6170295" cy="2380298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19825" y="2165104"/>
            <a:ext cx="4369950" cy="431401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2475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119825" y="2596505"/>
            <a:ext cx="4369950" cy="488111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01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2571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68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86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803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342285"/>
            <a:ext cx="6170175" cy="39697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342225" y="844573"/>
            <a:ext cx="2911950" cy="2671442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606525" y="844573"/>
            <a:ext cx="2911950" cy="2671442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342285"/>
            <a:ext cx="6170175" cy="39697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342225" y="804066"/>
            <a:ext cx="3005100" cy="214688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12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5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685" indent="0">
              <a:buNone/>
              <a:defRPr sz="900" b="1"/>
            </a:lvl7pPr>
            <a:lvl8pPr marL="1800860" indent="0">
              <a:buNone/>
              <a:defRPr sz="900" b="1"/>
            </a:lvl8pPr>
            <a:lvl9pPr marL="2058035" indent="0">
              <a:buNone/>
              <a:defRPr sz="9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42225" y="1043057"/>
            <a:ext cx="3005100" cy="2472958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3507610" y="799862"/>
            <a:ext cx="3005100" cy="214688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12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5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685" indent="0">
              <a:buNone/>
              <a:defRPr sz="900" b="1"/>
            </a:lvl7pPr>
            <a:lvl8pPr marL="1800860" indent="0">
              <a:buNone/>
              <a:defRPr sz="900" b="1"/>
            </a:lvl8pPr>
            <a:lvl9pPr marL="2058035" indent="0">
              <a:buNone/>
              <a:defRPr sz="9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3507610" y="1043057"/>
            <a:ext cx="3005100" cy="2472958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342285"/>
            <a:ext cx="6170175" cy="39697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342186" y="874905"/>
            <a:ext cx="2943582" cy="2592563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900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3572100" y="874953"/>
            <a:ext cx="2940300" cy="2592454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900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5757075" y="514440"/>
            <a:ext cx="587250" cy="282942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1575"/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14350" y="514440"/>
            <a:ext cx="5157675" cy="2829420"/>
          </a:xfrm>
        </p:spPr>
        <p:txBody>
          <a:bodyPr vert="eaVert" lIns="46800" tIns="46800" rIns="46800" bIns="46800"/>
          <a:lstStyle>
            <a:lvl1pPr marL="128905" indent="-128270">
              <a:spcAft>
                <a:spcPts val="1000"/>
              </a:spcAft>
              <a:defRPr spc="300"/>
            </a:lvl1pPr>
            <a:lvl2pPr marL="386080" indent="-128270">
              <a:defRPr spc="300"/>
            </a:lvl2pPr>
            <a:lvl3pPr marL="643255" indent="-128270">
              <a:defRPr spc="300"/>
            </a:lvl3pPr>
            <a:lvl4pPr marL="900430" indent="-128270">
              <a:defRPr spc="300"/>
            </a:lvl4pPr>
            <a:lvl5pPr marL="1157605" indent="-12827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342225" y="435452"/>
            <a:ext cx="6172200" cy="308461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74325" y="1397495"/>
            <a:ext cx="5512050" cy="573176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3375"/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674325" y="2003075"/>
            <a:ext cx="5512050" cy="265322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35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image" Target="../media/image1.jpeg"/><Relationship Id="rId13" Type="http://schemas.openxmlformats.org/officeDocument/2006/relationships/tags" Target="../tags/tag57.xml"/><Relationship Id="rId14" Type="http://schemas.openxmlformats.org/officeDocument/2006/relationships/tags" Target="../tags/tag58.xml"/><Relationship Id="rId15" Type="http://schemas.openxmlformats.org/officeDocument/2006/relationships/tags" Target="../tags/tag59.xml"/><Relationship Id="rId16" Type="http://schemas.openxmlformats.org/officeDocument/2006/relationships/tags" Target="../tags/tag60.xml"/><Relationship Id="rId17" Type="http://schemas.openxmlformats.org/officeDocument/2006/relationships/tags" Target="../tags/tag61.xml"/><Relationship Id="rId18" Type="http://schemas.openxmlformats.org/officeDocument/2006/relationships/tags" Target="../tags/tag62.xml"/><Relationship Id="rId1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342225" y="342285"/>
            <a:ext cx="6170175" cy="39697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342225" y="838497"/>
            <a:ext cx="6170175" cy="2677518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344250" y="3552471"/>
            <a:ext cx="1518750" cy="1782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565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2315250" y="3552471"/>
            <a:ext cx="2227500" cy="1782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565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4993650" y="3552471"/>
            <a:ext cx="1518750" cy="1782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565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14350" rtl="0" eaLnBrk="1" fontAlgn="auto" latinLnBrk="0" hangingPunct="1">
        <a:lnSpc>
          <a:spcPct val="100000"/>
        </a:lnSpc>
        <a:spcBef>
          <a:spcPct val="0"/>
        </a:spcBef>
        <a:buNone/>
        <a:defRPr sz="2025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128905" indent="-128270" algn="l" defTabSz="51435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01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386080" indent="-128270" algn="l" defTabSz="51435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906145" algn="l"/>
          <a:tab pos="906145" algn="l"/>
          <a:tab pos="906145" algn="l"/>
          <a:tab pos="906145" algn="l"/>
        </a:tabLst>
        <a:defRPr sz="9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643255" indent="-128270" algn="l" defTabSz="51435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9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900430" indent="-128270" algn="l" defTabSz="51435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79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1157605" indent="-128270" algn="l" defTabSz="51435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79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1414780" indent="-128270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671955" indent="-128270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929130" indent="-128270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186305" indent="-128270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54368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80086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05803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tags" Target="../tags/tag63.xml"/><Relationship Id="rId3" Type="http://schemas.openxmlformats.org/officeDocument/2006/relationships/tags" Target="../tags/tag64.xml"/><Relationship Id="rId4" Type="http://schemas.openxmlformats.org/officeDocument/2006/relationships/tags" Target="../tags/tag65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tags" Target="../tags/tag66.xml"/><Relationship Id="rId3" Type="http://schemas.openxmlformats.org/officeDocument/2006/relationships/tags" Target="../tags/tag67.xml"/><Relationship Id="rId4" Type="http://schemas.openxmlformats.org/officeDocument/2006/relationships/tags" Target="../tags/tag68.xml"/><Relationship Id="rId5" Type="http://schemas.openxmlformats.org/officeDocument/2006/relationships/tags" Target="../tags/tag69.xml"/><Relationship Id="rId6" Type="http://schemas.openxmlformats.org/officeDocument/2006/relationships/tags" Target="../tags/tag70.xml"/><Relationship Id="rId7" Type="http://schemas.openxmlformats.org/officeDocument/2006/relationships/tags" Target="../tags/tag71.xml"/><Relationship Id="rId8" Type="http://schemas.openxmlformats.org/officeDocument/2006/relationships/tags" Target="../tags/tag72.xml"/><Relationship Id="rId9" Type="http://schemas.openxmlformats.org/officeDocument/2006/relationships/tags" Target="../tags/tag73.xml"/><Relationship Id="rId10" Type="http://schemas.openxmlformats.org/officeDocument/2006/relationships/tags" Target="../tags/tag74.xml"/><Relationship Id="rId11" Type="http://schemas.openxmlformats.org/officeDocument/2006/relationships/tags" Target="../tags/tag75.xml"/><Relationship Id="rId12" Type="http://schemas.openxmlformats.org/officeDocument/2006/relationships/tags" Target="../tags/tag76.xml"/><Relationship Id="rId13" Type="http://schemas.openxmlformats.org/officeDocument/2006/relationships/tags" Target="../tags/tag77.xml"/><Relationship Id="rId14" Type="http://schemas.openxmlformats.org/officeDocument/2006/relationships/tags" Target="../tags/tag78.xml"/><Relationship Id="rId15" Type="http://schemas.openxmlformats.org/officeDocument/2006/relationships/tags" Target="../tags/tag79.xml"/><Relationship Id="rId16" Type="http://schemas.openxmlformats.org/officeDocument/2006/relationships/tags" Target="../tags/tag80.xml"/><Relationship Id="rId17" Type="http://schemas.openxmlformats.org/officeDocument/2006/relationships/tags" Target="../tags/tag81.xml"/><Relationship Id="rId18" Type="http://schemas.openxmlformats.org/officeDocument/2006/relationships/tags" Target="../tags/tag82.xml"/><Relationship Id="rId19" Type="http://schemas.openxmlformats.org/officeDocument/2006/relationships/tags" Target="../tags/tag83.xml"/><Relationship Id="rId20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91.xml"/><Relationship Id="rId2" Type="http://schemas.openxmlformats.org/officeDocument/2006/relationships/tags" Target="../tags/tag92.xml"/><Relationship Id="rId3" Type="http://schemas.openxmlformats.org/officeDocument/2006/relationships/image" Target="../media/image3.png"/><Relationship Id="rId4" Type="http://schemas.openxmlformats.org/officeDocument/2006/relationships/tags" Target="../tags/tag93.xml"/><Relationship Id="rId5" Type="http://schemas.openxmlformats.org/officeDocument/2006/relationships/tags" Target="../tags/tag94.xml"/><Relationship Id="rId6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070610" y="537845"/>
            <a:ext cx="674433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ctr" fontAlgn="auto">
              <a:lnSpc>
                <a:spcPct val="150000"/>
              </a:lnSpc>
            </a:pP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1237729" y="1281143"/>
            <a:ext cx="6141492" cy="2799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3600" b="1">
                <a:latin typeface="微软雅黑"/>
              </a:rPr>
              <a:t>即时表达</a:t>
            </a:r>
            <a:endParaRPr lang="en-US" altLang="zh-CN" sz="3200" b="1" dirty="0">
              <a:ea typeface="微软雅黑" panose="020B0503020204020204" pitchFamily="34" charset="-122"/>
            </a:endParaRPr>
          </a:p>
          <a:p>
            <a:r>
              <a:rPr sz="2000" b="0">
                <a:latin typeface="微软雅黑"/>
              </a:rPr>
              <a:t>公众发言的核心艺术</a:t>
            </a:r>
          </a:p>
          <a:p/>
          <a:p>
            <a:r>
              <a:rPr sz="1200" b="0">
                <a:latin typeface="微软雅黑"/>
              </a:rPr>
              <a:t>汇报人：xxx       部门：xxx</a:t>
            </a:r>
          </a:p>
          <a:p/>
          <a:p>
            <a:r>
              <a:rPr sz="1200" b="0">
                <a:latin typeface="微软雅黑"/>
              </a:rPr>
              <a:t>  2026年7月</a:t>
            </a:r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微信图片_202310081600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6755" y="255270"/>
            <a:ext cx="1362075" cy="270510"/>
          </a:xfrm>
          <a:prstGeom prst="rect">
            <a:avLst/>
          </a:prstGeom>
        </p:spPr>
      </p:pic>
      <p:cxnSp>
        <p:nvCxnSpPr>
          <p:cNvPr id="8" name="直接连接符 7"/>
          <p:cNvCxnSpPr/>
          <p:nvPr/>
        </p:nvCxnSpPr>
        <p:spPr>
          <a:xfrm>
            <a:off x="1868805" y="241935"/>
            <a:ext cx="0" cy="3308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69" name="组合 68"/>
          <p:cNvGrpSpPr/>
          <p:nvPr>
            <p:custDataLst>
              <p:tags r:id="rId2"/>
            </p:custDataLst>
          </p:nvPr>
        </p:nvGrpSpPr>
        <p:grpSpPr>
          <a:xfrm>
            <a:off x="2636415" y="1656080"/>
            <a:ext cx="3547745" cy="1564640"/>
            <a:chOff x="4023" y="3712"/>
            <a:chExt cx="5587" cy="2464"/>
          </a:xfrm>
        </p:grpSpPr>
        <p:sp>
          <p:nvSpPr>
            <p:cNvPr id="25" name="文本框 24"/>
            <p:cNvSpPr txBox="1"/>
            <p:nvPr>
              <p:custDataLst>
                <p:tags r:id="rId3"/>
              </p:custDataLst>
            </p:nvPr>
          </p:nvSpPr>
          <p:spPr>
            <a:xfrm>
              <a:off x="4573" y="3712"/>
              <a:ext cx="4823" cy="58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grpSp>
          <p:nvGrpSpPr>
            <p:cNvPr id="59" name="组合 58"/>
            <p:cNvGrpSpPr/>
            <p:nvPr/>
          </p:nvGrpSpPr>
          <p:grpSpPr>
            <a:xfrm>
              <a:off x="4023" y="4654"/>
              <a:ext cx="4917" cy="580"/>
              <a:chOff x="2678" y="2474"/>
              <a:chExt cx="4917" cy="580"/>
            </a:xfrm>
          </p:grpSpPr>
          <p:sp>
            <p:nvSpPr>
              <p:cNvPr id="28" name="文本框 27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3228" y="2474"/>
                <a:ext cx="4367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endPara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51" name="圆角矩形 50"/>
              <p:cNvSpPr/>
              <p:nvPr>
                <p:custDataLst>
                  <p:tags r:id="rId5"/>
                </p:custDataLst>
              </p:nvPr>
            </p:nvSpPr>
            <p:spPr>
              <a:xfrm>
                <a:off x="2678" y="2641"/>
                <a:ext cx="240" cy="240"/>
              </a:xfrm>
              <a:prstGeom prst="round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8" name="组合 57"/>
            <p:cNvGrpSpPr/>
            <p:nvPr/>
          </p:nvGrpSpPr>
          <p:grpSpPr>
            <a:xfrm>
              <a:off x="4023" y="5596"/>
              <a:ext cx="5587" cy="580"/>
              <a:chOff x="2678" y="3725"/>
              <a:chExt cx="5587" cy="580"/>
            </a:xfrm>
          </p:grpSpPr>
          <p:sp>
            <p:nvSpPr>
              <p:cNvPr id="31" name="文本框 30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3228" y="3725"/>
                <a:ext cx="5037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endPara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52" name="圆角矩形 51"/>
              <p:cNvSpPr/>
              <p:nvPr>
                <p:custDataLst>
                  <p:tags r:id="rId7"/>
                </p:custDataLst>
              </p:nvPr>
            </p:nvSpPr>
            <p:spPr>
              <a:xfrm>
                <a:off x="2678" y="3893"/>
                <a:ext cx="240" cy="240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5" name="组合 14"/>
          <p:cNvGrpSpPr/>
          <p:nvPr>
            <p:custDataLst>
              <p:tags r:id="rId8"/>
            </p:custDataLst>
          </p:nvPr>
        </p:nvGrpSpPr>
        <p:grpSpPr>
          <a:xfrm>
            <a:off x="2985770" y="3077845"/>
            <a:ext cx="4236085" cy="1162050"/>
            <a:chOff x="4279" y="4659"/>
            <a:chExt cx="6671" cy="1830"/>
          </a:xfrm>
        </p:grpSpPr>
        <p:sp>
          <p:nvSpPr>
            <p:cNvPr id="3" name="矩形 2"/>
            <p:cNvSpPr/>
            <p:nvPr>
              <p:custDataLst>
                <p:tags r:id="rId9"/>
              </p:custDataLst>
            </p:nvPr>
          </p:nvSpPr>
          <p:spPr>
            <a:xfrm>
              <a:off x="5216" y="4659"/>
              <a:ext cx="5537" cy="1243"/>
            </a:xfrm>
            <a:prstGeom prst="rect">
              <a:avLst/>
            </a:prstGeom>
            <a:ln w="15875">
              <a:noFill/>
            </a:ln>
          </p:spPr>
          <p:txBody>
            <a:bodyPr wrap="square" lIns="51435" tIns="25718" rIns="51435" bIns="25718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 </a:t>
              </a:r>
              <a:endParaRPr lang="zh-CN" altLang="en-US" sz="24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矩形 4"/>
            <p:cNvSpPr/>
            <p:nvPr>
              <p:custDataLst>
                <p:tags r:id="rId10"/>
              </p:custDataLst>
            </p:nvPr>
          </p:nvSpPr>
          <p:spPr>
            <a:xfrm>
              <a:off x="4279" y="5246"/>
              <a:ext cx="6671" cy="1243"/>
            </a:xfrm>
            <a:prstGeom prst="rect">
              <a:avLst/>
            </a:prstGeom>
            <a:ln w="15875">
              <a:noFill/>
            </a:ln>
          </p:spPr>
          <p:txBody>
            <a:bodyPr wrap="square" lIns="51435" tIns="25718" rIns="51435" bIns="25718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工作计划</a:t>
              </a:r>
              <a:endParaRPr lang="zh-CN" altLang="en-US" sz="24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altLang="zh-CN" sz="24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09880" y="895350"/>
            <a:ext cx="2804160" cy="1315085"/>
            <a:chOff x="2" y="905"/>
            <a:chExt cx="4416" cy="2071"/>
          </a:xfrm>
        </p:grpSpPr>
        <p:sp>
          <p:nvSpPr>
            <p:cNvPr id="10" name="文本框 5"/>
            <p:cNvSpPr txBox="1"/>
            <p:nvPr>
              <p:custDataLst>
                <p:tags r:id="rId11"/>
              </p:custDataLst>
            </p:nvPr>
          </p:nvSpPr>
          <p:spPr>
            <a:xfrm>
              <a:off x="1224" y="1958"/>
              <a:ext cx="3194" cy="101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 Light" panose="020B0502040204020203" charset="-122"/>
                  <a:ea typeface="微软雅黑 Light" panose="020B0502040204020203" charset="-122"/>
                </a:rPr>
                <a:t>contents</a:t>
              </a:r>
              <a:endParaRPr lang="en-US" altLang="zh-CN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endParaRPr>
            </a:p>
          </p:txBody>
        </p:sp>
        <p:sp>
          <p:nvSpPr>
            <p:cNvPr id="11" name="矩形 10"/>
            <p:cNvSpPr/>
            <p:nvPr>
              <p:custDataLst>
                <p:tags r:id="rId12"/>
              </p:custDataLst>
            </p:nvPr>
          </p:nvSpPr>
          <p:spPr>
            <a:xfrm>
              <a:off x="2" y="1516"/>
              <a:ext cx="719" cy="7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2" name="矩形 11"/>
            <p:cNvSpPr/>
            <p:nvPr>
              <p:custDataLst>
                <p:tags r:id="rId13"/>
              </p:custDataLst>
            </p:nvPr>
          </p:nvSpPr>
          <p:spPr>
            <a:xfrm>
              <a:off x="883" y="2344"/>
              <a:ext cx="296" cy="29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4" name="矩形 13"/>
            <p:cNvSpPr/>
            <p:nvPr>
              <p:custDataLst>
                <p:tags r:id="rId14"/>
              </p:custDataLst>
            </p:nvPr>
          </p:nvSpPr>
          <p:spPr>
            <a:xfrm>
              <a:off x="1164" y="905"/>
              <a:ext cx="2859" cy="1525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lvl="0" algn="l"/>
              <a:r>
                <a:rPr lang="zh-CN" altLang="en-US" sz="4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</a:t>
              </a:r>
              <a:r>
                <a:rPr lang="en-US" altLang="zh-CN" sz="4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4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录</a:t>
              </a:r>
              <a:endPara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2" name="矩形 21"/>
          <p:cNvSpPr/>
          <p:nvPr>
            <p:custDataLst>
              <p:tags r:id="rId15"/>
            </p:custDataLst>
          </p:nvPr>
        </p:nvSpPr>
        <p:spPr>
          <a:xfrm rot="16200000">
            <a:off x="4242435" y="407035"/>
            <a:ext cx="76200" cy="29565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>
            <p:custDataLst>
              <p:tags r:id="rId16"/>
            </p:custDataLst>
          </p:nvPr>
        </p:nvSpPr>
        <p:spPr>
          <a:xfrm>
            <a:off x="3012440" y="2254250"/>
            <a:ext cx="4236085" cy="789305"/>
          </a:xfrm>
          <a:prstGeom prst="rect">
            <a:avLst/>
          </a:prstGeom>
          <a:ln w="15875">
            <a:noFill/>
          </a:ln>
        </p:spPr>
        <p:txBody>
          <a:bodyPr wrap="square" lIns="51435" tIns="25718" rIns="51435" bIns="25718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sz="24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工作成效</a:t>
            </a:r>
            <a:endParaRPr lang="zh-CN" sz="24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sz="2400" b="1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圆角矩形 1"/>
          <p:cNvSpPr/>
          <p:nvPr>
            <p:custDataLst>
              <p:tags r:id="rId17"/>
            </p:custDataLst>
          </p:nvPr>
        </p:nvSpPr>
        <p:spPr>
          <a:xfrm>
            <a:off x="2649750" y="3619500"/>
            <a:ext cx="152400" cy="15240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>
            <p:custDataLst>
              <p:tags r:id="rId18"/>
            </p:custDataLst>
          </p:nvPr>
        </p:nvSpPr>
        <p:spPr>
          <a:xfrm>
            <a:off x="3012440" y="2852420"/>
            <a:ext cx="4236085" cy="789305"/>
          </a:xfrm>
          <a:prstGeom prst="rect">
            <a:avLst/>
          </a:prstGeom>
          <a:ln w="15875">
            <a:noFill/>
          </a:ln>
        </p:spPr>
        <p:txBody>
          <a:bodyPr wrap="square" lIns="51435" tIns="25718" rIns="51435" bIns="25718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sz="24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存在问题</a:t>
            </a:r>
            <a:endParaRPr lang="zh-CN" sz="24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sz="2400" b="1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9"/>
    </p:custData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2950" y="5000000"/>
            <a:ext cx="8226900" cy="529293"/>
          </a:xfrm>
        </p:spPr>
        <p:txBody>
          <a:bodyPr>
            <a:normAutofit fontScale="90000"/>
          </a:bodyPr>
          <a:lstStyle/>
          <a:p>
            <a:endParaRPr lang="zh-CN" altLang="en-US" sz="4400" spc="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1868805" y="241935"/>
            <a:ext cx="0" cy="3308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>
            <p:custDataLst>
              <p:tags r:id="rId2"/>
            </p:custDataLst>
          </p:nvPr>
        </p:nvSpPr>
        <p:spPr>
          <a:xfrm>
            <a:off x="442694" y="875578"/>
            <a:ext cx="7924863" cy="484748"/>
          </a:xfrm>
          <a:prstGeom prst="rect">
            <a:avLst/>
          </a:prstGeom>
          <a:noFill/>
        </p:spPr>
        <p:txBody>
          <a:bodyPr wrap="square" lIns="68580" tIns="34290" rIns="68580" bIns="34290" rtlCol="0"/>
          <a:lstStyle/>
          <a:p>
            <a:r>
              <a:rPr sz="1300" b="1">
                <a:solidFill>
                  <a:srgbClr val="1E3A5F"/>
                </a:solidFill>
                <a:latin typeface="微软雅黑"/>
              </a:rPr>
              <a:t>    一、表达的本质：内容与方式</a:t>
            </a:r>
            <a:endParaRPr lang="zh-CN" sz="2000" b="1" kern="60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101" name="Picture 1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755" y="255270"/>
            <a:ext cx="1362075" cy="270510"/>
          </a:xfrm>
          <a:prstGeom prst="rect">
            <a:avLst/>
          </a:prstGeom>
        </p:spPr>
      </p:pic>
      <p:sp>
        <p:nvSpPr>
          <p:cNvPr id="102" name="Rounded Rectangle 101"/>
          <p:cNvSpPr/>
          <p:nvPr/>
        </p:nvSpPr>
        <p:spPr>
          <a:xfrm>
            <a:off x="300000" y="1400000"/>
            <a:ext cx="4200000" cy="250000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300000" y="1400000"/>
            <a:ext cx="4200000" cy="25000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300000" y="1430000"/>
            <a:ext cx="42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表达内容 (WHAT)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00000" y="1730000"/>
            <a:ext cx="40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3333"/>
                </a:solidFill>
                <a:latin typeface="微软雅黑"/>
              </a:rPr>
              <a:t>半书面 = 口头 + 底稿 + 审查</a:t>
            </a:r>
          </a:p>
          <a:p/>
          <a:p>
            <a:r>
              <a:rPr sz="900">
                <a:solidFill>
                  <a:srgbClr val="333333"/>
                </a:solidFill>
                <a:latin typeface="微软雅黑"/>
              </a:rPr>
              <a:t>● 前端：流畅自信的口头语言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● 后端：PPT/数据/逻辑链底稿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● 护城河：预判挑战点和答案</a:t>
            </a:r>
          </a:p>
          <a:p/>
          <a:p>
            <a:r>
              <a:rPr sz="900">
                <a:solidFill>
                  <a:srgbClr val="333333"/>
                </a:solidFill>
                <a:latin typeface="微软雅黑"/>
              </a:rPr>
              <a:t>经得起审查的公众发言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4600000" y="1400000"/>
            <a:ext cx="4200000" cy="25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4600000" y="1400000"/>
            <a:ext cx="4200000" cy="2500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600000" y="1430000"/>
            <a:ext cx="42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表达方式 (HOW)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700000" y="1730000"/>
            <a:ext cx="40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3333"/>
                </a:solidFill>
                <a:latin typeface="微软雅黑"/>
              </a:rPr>
              <a:t>本质：认知压榨</a:t>
            </a:r>
          </a:p>
          <a:p/>
          <a:p>
            <a:r>
              <a:rPr sz="900">
                <a:solidFill>
                  <a:srgbClr val="333333"/>
                </a:solidFill>
                <a:latin typeface="微软雅黑"/>
              </a:rPr>
              <a:t>① 流畅性启发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  感觉轻松 = 感觉正确</a:t>
            </a:r>
          </a:p>
          <a:p/>
          <a:p>
            <a:r>
              <a:rPr sz="900">
                <a:solidFill>
                  <a:srgbClr val="333333"/>
                </a:solidFill>
                <a:latin typeface="微软雅黑"/>
              </a:rPr>
              <a:t>② 场景表达模式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  钩子+结论+观点+行动</a:t>
            </a:r>
          </a:p>
          <a:p/>
          <a:p>
            <a:r>
              <a:rPr sz="900">
                <a:solidFill>
                  <a:srgbClr val="333333"/>
                </a:solidFill>
                <a:latin typeface="微软雅黑"/>
              </a:rPr>
              <a:t>更重要的是表达方式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2950" y="5000000"/>
            <a:ext cx="8226900" cy="529293"/>
          </a:xfrm>
        </p:spPr>
        <p:txBody>
          <a:bodyPr>
            <a:normAutofit fontScale="90000"/>
          </a:bodyPr>
          <a:lstStyle/>
          <a:p>
            <a:endParaRPr lang="zh-CN" altLang="en-US" sz="4400" spc="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1868805" y="241935"/>
            <a:ext cx="0" cy="3308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>
            <p:custDataLst>
              <p:tags r:id="rId2"/>
            </p:custDataLst>
          </p:nvPr>
        </p:nvSpPr>
        <p:spPr>
          <a:xfrm>
            <a:off x="442694" y="875578"/>
            <a:ext cx="7924863" cy="484748"/>
          </a:xfrm>
          <a:prstGeom prst="rect">
            <a:avLst/>
          </a:prstGeom>
          <a:noFill/>
        </p:spPr>
        <p:txBody>
          <a:bodyPr wrap="square" lIns="68580" tIns="34290" rIns="68580" bIns="34290" rtlCol="0"/>
          <a:lstStyle/>
          <a:p>
            <a:r>
              <a:rPr sz="1300" b="1">
                <a:solidFill>
                  <a:srgbClr val="1E3A5F"/>
                </a:solidFill>
                <a:latin typeface="微软雅黑"/>
              </a:rPr>
              <a:t>    二、表达内容四大原则</a:t>
            </a:r>
            <a:endParaRPr lang="zh-CN" sz="2000" b="1" kern="60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101" name="Picture 1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755" y="255270"/>
            <a:ext cx="1362075" cy="270510"/>
          </a:xfrm>
          <a:prstGeom prst="rect">
            <a:avLst/>
          </a:prstGeom>
        </p:spPr>
      </p:pic>
      <p:sp>
        <p:nvSpPr>
          <p:cNvPr id="102" name="Rounded Rectangle 101"/>
          <p:cNvSpPr/>
          <p:nvPr/>
        </p:nvSpPr>
        <p:spPr>
          <a:xfrm>
            <a:off x="300000" y="1400000"/>
            <a:ext cx="8400000" cy="58000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300000" y="1400000"/>
            <a:ext cx="35000" cy="580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360000" y="1510000"/>
            <a:ext cx="320000" cy="32000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60000" y="1510000"/>
            <a:ext cx="32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/>
              </a:rPr>
              <a:t>00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0000" y="1480000"/>
            <a:ext cx="3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微软雅黑"/>
              </a:rPr>
              <a:t>目的决定形式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20000" y="1710000"/>
            <a:ext cx="79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微软雅黑"/>
              </a:rPr>
              <a:t>没有野心，技巧沦为套路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300000" y="2020000"/>
            <a:ext cx="8400000" cy="58000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300000" y="2020000"/>
            <a:ext cx="35000" cy="580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360000" y="2130000"/>
            <a:ext cx="320000" cy="32000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360000" y="2130000"/>
            <a:ext cx="32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20000" y="2100000"/>
            <a:ext cx="3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微软雅黑"/>
              </a:rPr>
              <a:t>时间有限性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0000" y="2330000"/>
            <a:ext cx="79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微软雅黑"/>
              </a:rPr>
              <a:t>注意力有限，耐心有限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300000" y="2640000"/>
            <a:ext cx="8400000" cy="58000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300000" y="2640000"/>
            <a:ext cx="35000" cy="580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360000" y="2750000"/>
            <a:ext cx="320000" cy="3200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360000" y="2750000"/>
            <a:ext cx="32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20000" y="2720000"/>
            <a:ext cx="3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微软雅黑"/>
              </a:rPr>
              <a:t>时间线性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20000" y="2950000"/>
            <a:ext cx="79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微软雅黑"/>
              </a:rPr>
              <a:t>说完就没了，用短句口语词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300000" y="3260000"/>
            <a:ext cx="8400000" cy="5800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00000" y="3260000"/>
            <a:ext cx="35000" cy="580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360000" y="3370000"/>
            <a:ext cx="320000" cy="32000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360000" y="3370000"/>
            <a:ext cx="32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20000" y="3340000"/>
            <a:ext cx="3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</a:rPr>
              <a:t>认知带宽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20000" y="3570000"/>
            <a:ext cx="79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DD5EA"/>
                </a:solidFill>
                <a:latin typeface="微软雅黑"/>
              </a:rPr>
              <a:t>需要低压信息，废话是缓冲带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2950" y="5000000"/>
            <a:ext cx="8226900" cy="529293"/>
          </a:xfrm>
        </p:spPr>
        <p:txBody>
          <a:bodyPr>
            <a:normAutofit fontScale="90000"/>
          </a:bodyPr>
          <a:lstStyle/>
          <a:p>
            <a:endParaRPr lang="zh-CN" altLang="en-US" sz="4400" spc="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1868805" y="241935"/>
            <a:ext cx="0" cy="3308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>
            <p:custDataLst>
              <p:tags r:id="rId2"/>
            </p:custDataLst>
          </p:nvPr>
        </p:nvSpPr>
        <p:spPr>
          <a:xfrm>
            <a:off x="442694" y="875578"/>
            <a:ext cx="7924863" cy="484748"/>
          </a:xfrm>
          <a:prstGeom prst="rect">
            <a:avLst/>
          </a:prstGeom>
          <a:noFill/>
        </p:spPr>
        <p:txBody>
          <a:bodyPr wrap="square" lIns="68580" tIns="34290" rIns="68580" bIns="34290" rtlCol="0"/>
          <a:lstStyle/>
          <a:p>
            <a:r>
              <a:rPr sz="1300" b="1">
                <a:solidFill>
                  <a:srgbClr val="1E3A5F"/>
                </a:solidFill>
                <a:latin typeface="微软雅黑"/>
              </a:rPr>
              <a:t>    三、权威来源：信任 vs 权威</a:t>
            </a:r>
            <a:endParaRPr lang="zh-CN" sz="2000" b="1" kern="60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101" name="Picture 1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755" y="255270"/>
            <a:ext cx="1362075" cy="270510"/>
          </a:xfrm>
          <a:prstGeom prst="rect">
            <a:avLst/>
          </a:prstGeom>
        </p:spPr>
      </p:pic>
      <p:sp>
        <p:nvSpPr>
          <p:cNvPr id="102" name="Rounded Rectangle 101"/>
          <p:cNvSpPr/>
          <p:nvPr/>
        </p:nvSpPr>
        <p:spPr>
          <a:xfrm>
            <a:off x="300000" y="1400000"/>
            <a:ext cx="4200000" cy="1200000"/>
          </a:xfrm>
          <a:prstGeom prst="round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300000" y="1400000"/>
            <a:ext cx="4200000" cy="25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300000" y="1430000"/>
            <a:ext cx="42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信任（情感）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50000" y="1750000"/>
            <a:ext cx="39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33333"/>
                </a:solidFill>
                <a:latin typeface="微软雅黑"/>
              </a:rPr>
              <a:t>✓ 自信流畅</a:t>
            </a:r>
          </a:p>
          <a:p>
            <a:r>
              <a:rPr sz="1000">
                <a:solidFill>
                  <a:srgbClr val="333333"/>
                </a:solidFill>
                <a:latin typeface="微软雅黑"/>
              </a:rPr>
              <a:t>  斩钉截铁，直觉被带着走</a:t>
            </a:r>
          </a:p>
          <a:p/>
          <a:p>
            <a:r>
              <a:rPr sz="1000">
                <a:solidFill>
                  <a:srgbClr val="333333"/>
                </a:solidFill>
                <a:latin typeface="微软雅黑"/>
              </a:rPr>
              <a:t>✓ 眼神交流</a:t>
            </a:r>
          </a:p>
          <a:p>
            <a:r>
              <a:rPr sz="1000">
                <a:solidFill>
                  <a:srgbClr val="333333"/>
                </a:solidFill>
                <a:latin typeface="微软雅黑"/>
              </a:rPr>
              <a:t>  建立连接，传递诚意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4600000" y="1400000"/>
            <a:ext cx="4200000" cy="1200000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4600000" y="1400000"/>
            <a:ext cx="4200000" cy="2500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600000" y="1430000"/>
            <a:ext cx="42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权威（理性）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750000" y="1750000"/>
            <a:ext cx="39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33333"/>
                </a:solidFill>
                <a:latin typeface="微软雅黑"/>
              </a:rPr>
              <a:t>✓ 数据支撑</a:t>
            </a:r>
          </a:p>
          <a:p>
            <a:r>
              <a:rPr sz="1000">
                <a:solidFill>
                  <a:srgbClr val="333333"/>
                </a:solidFill>
                <a:latin typeface="微软雅黑"/>
              </a:rPr>
              <a:t>  引用来源真实可信</a:t>
            </a:r>
          </a:p>
          <a:p/>
          <a:p>
            <a:r>
              <a:rPr sz="1000">
                <a:solidFill>
                  <a:srgbClr val="333333"/>
                </a:solidFill>
                <a:latin typeface="微软雅黑"/>
              </a:rPr>
              <a:t>✓ 逻辑自洽</a:t>
            </a:r>
          </a:p>
          <a:p>
            <a:r>
              <a:rPr sz="1000">
                <a:solidFill>
                  <a:srgbClr val="333333"/>
                </a:solidFill>
                <a:latin typeface="微软雅黑"/>
              </a:rPr>
              <a:t>  推导严密，经得起推敲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300000" y="2700000"/>
            <a:ext cx="8400000" cy="45000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380000" y="2720000"/>
            <a:ext cx="824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D4AF37"/>
                </a:solidFill>
                <a:latin typeface="微软雅黑"/>
              </a:rPr>
              <a:t>信任：哪怕逻辑有瑕疵，直觉会被带着走</a:t>
            </a:r>
          </a:p>
          <a:p>
            <a:pPr algn="ctr"/>
            <a:r>
              <a:rPr sz="900" b="1">
                <a:solidFill>
                  <a:srgbClr val="1E3A5F"/>
                </a:solidFill>
                <a:latin typeface="微软雅黑"/>
              </a:rPr>
              <a:t>权威：哪怕文笔枯燥，默认为专业资料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2950" y="5000000"/>
            <a:ext cx="8226900" cy="529293"/>
          </a:xfrm>
        </p:spPr>
        <p:txBody>
          <a:bodyPr>
            <a:normAutofit fontScale="90000"/>
          </a:bodyPr>
          <a:lstStyle/>
          <a:p>
            <a:endParaRPr lang="zh-CN" altLang="en-US" sz="4400" spc="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1868805" y="241935"/>
            <a:ext cx="0" cy="3308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>
            <p:custDataLst>
              <p:tags r:id="rId2"/>
            </p:custDataLst>
          </p:nvPr>
        </p:nvSpPr>
        <p:spPr>
          <a:xfrm>
            <a:off x="442694" y="875578"/>
            <a:ext cx="7924863" cy="484748"/>
          </a:xfrm>
          <a:prstGeom prst="rect">
            <a:avLst/>
          </a:prstGeom>
          <a:noFill/>
        </p:spPr>
        <p:txBody>
          <a:bodyPr wrap="square" lIns="68580" tIns="34290" rIns="68580" bIns="34290" rtlCol="0"/>
          <a:lstStyle/>
          <a:p>
            <a:r>
              <a:rPr sz="1300" b="1">
                <a:solidFill>
                  <a:srgbClr val="1E3A5F"/>
                </a:solidFill>
                <a:latin typeface="微软雅黑"/>
              </a:rPr>
              <a:t>    四、流畅性启发（核心原理）</a:t>
            </a:r>
            <a:endParaRPr lang="zh-CN" sz="2000" b="1" kern="60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101" name="Picture 1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755" y="255270"/>
            <a:ext cx="1362075" cy="270510"/>
          </a:xfrm>
          <a:prstGeom prst="rect">
            <a:avLst/>
          </a:prstGeom>
        </p:spPr>
      </p:pic>
      <p:sp>
        <p:nvSpPr>
          <p:cNvPr id="102" name="Oval 101"/>
          <p:cNvSpPr/>
          <p:nvPr/>
        </p:nvSpPr>
        <p:spPr>
          <a:xfrm>
            <a:off x="3622000" y="1420000"/>
            <a:ext cx="900000" cy="9000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3722000" y="1520000"/>
            <a:ext cx="700000" cy="700000"/>
          </a:xfrm>
          <a:prstGeom prst="ellipse">
            <a:avLst/>
          </a:prstGeom>
          <a:solidFill>
            <a:srgbClr val="163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3722000" y="1730000"/>
            <a:ext cx="7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流畅性启发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722000" y="1900000"/>
            <a:ext cx="7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3C5FD"/>
                </a:solidFill>
                <a:latin typeface="微软雅黑"/>
              </a:rPr>
              <a:t>认知压榨本质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300000" y="2450000"/>
            <a:ext cx="3700000" cy="280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00000" y="2470000"/>
            <a:ext cx="37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E7D32"/>
                </a:solidFill>
                <a:latin typeface="微软雅黑"/>
              </a:rPr>
              <a:t>感觉轻松 = 感觉正确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4950000" y="2450000"/>
            <a:ext cx="3700000" cy="28000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950000" y="2470000"/>
            <a:ext cx="37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62828"/>
                </a:solidFill>
                <a:latin typeface="微软雅黑"/>
              </a:rPr>
              <a:t>感觉困难 = 感觉可疑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300000" y="2830000"/>
            <a:ext cx="8400000" cy="2800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300000" y="2850000"/>
            <a:ext cx="84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E87722"/>
                </a:solidFill>
                <a:latin typeface="微软雅黑"/>
              </a:rPr>
              <a:t>启示：表达流畅比内容正确更重要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00000" y="3210000"/>
            <a:ext cx="84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微软雅黑"/>
              </a:rPr>
              <a:t>策略：提前准备 + 降低认知负担 + 结构化表达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2950" y="5000000"/>
            <a:ext cx="8226900" cy="529293"/>
          </a:xfrm>
        </p:spPr>
        <p:txBody>
          <a:bodyPr>
            <a:normAutofit fontScale="90000"/>
          </a:bodyPr>
          <a:lstStyle/>
          <a:p>
            <a:endParaRPr lang="zh-CN" altLang="en-US" sz="4400" spc="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1868805" y="241935"/>
            <a:ext cx="0" cy="3308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>
            <p:custDataLst>
              <p:tags r:id="rId2"/>
            </p:custDataLst>
          </p:nvPr>
        </p:nvSpPr>
        <p:spPr>
          <a:xfrm>
            <a:off x="442694" y="875578"/>
            <a:ext cx="7924863" cy="484748"/>
          </a:xfrm>
          <a:prstGeom prst="rect">
            <a:avLst/>
          </a:prstGeom>
          <a:noFill/>
        </p:spPr>
        <p:txBody>
          <a:bodyPr wrap="square" lIns="68580" tIns="34290" rIns="68580" bIns="34290" rtlCol="0"/>
          <a:lstStyle/>
          <a:p>
            <a:r>
              <a:rPr sz="1300" b="1">
                <a:solidFill>
                  <a:srgbClr val="1E3A5F"/>
                </a:solidFill>
                <a:latin typeface="微软雅黑"/>
              </a:rPr>
              <a:t>    五、场景表达模式</a:t>
            </a:r>
            <a:endParaRPr lang="zh-CN" sz="2000" b="1" kern="60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101" name="Picture 1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755" y="255270"/>
            <a:ext cx="1362075" cy="270510"/>
          </a:xfrm>
          <a:prstGeom prst="rect">
            <a:avLst/>
          </a:prstGeom>
        </p:spPr>
      </p:pic>
      <p:sp>
        <p:nvSpPr>
          <p:cNvPr id="102" name="Rounded Rectangle 101"/>
          <p:cNvSpPr/>
          <p:nvPr/>
        </p:nvSpPr>
        <p:spPr>
          <a:xfrm>
            <a:off x="300000" y="1420000"/>
            <a:ext cx="8400000" cy="42000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300000" y="1420000"/>
            <a:ext cx="35000" cy="420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355000" y="1490000"/>
            <a:ext cx="260000" cy="26000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55000" y="1490000"/>
            <a:ext cx="26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40000" y="1480000"/>
            <a:ext cx="20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微软雅黑"/>
              </a:rPr>
              <a:t>钩子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40000" y="1670000"/>
            <a:ext cx="7980000" cy="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微软雅黑"/>
              </a:rPr>
              <a:t>关于X，我需要您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400000" y="1940000"/>
            <a:ext cx="8300000" cy="42000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400000" y="1940000"/>
            <a:ext cx="35000" cy="420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455000" y="2010000"/>
            <a:ext cx="260000" cy="26000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55000" y="2010000"/>
            <a:ext cx="26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40000" y="2000000"/>
            <a:ext cx="20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微软雅黑"/>
              </a:rPr>
              <a:t>结论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40000" y="2190000"/>
            <a:ext cx="7880000" cy="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微软雅黑"/>
              </a:rPr>
              <a:t>直接说核心结论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500000" y="2460000"/>
            <a:ext cx="8200000" cy="42000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500000" y="2460000"/>
            <a:ext cx="35000" cy="420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55000" y="2530000"/>
            <a:ext cx="260000" cy="2600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555000" y="2530000"/>
            <a:ext cx="26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40000" y="2520000"/>
            <a:ext cx="20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微软雅黑"/>
              </a:rPr>
              <a:t>观点摘要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40000" y="2710000"/>
            <a:ext cx="7780000" cy="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微软雅黑"/>
              </a:rPr>
              <a:t>重要观点概括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600000" y="2980000"/>
            <a:ext cx="8100000" cy="42000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600000" y="2980000"/>
            <a:ext cx="35000" cy="420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655000" y="3050000"/>
            <a:ext cx="260000" cy="26000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55000" y="3050000"/>
            <a:ext cx="26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40000" y="3040000"/>
            <a:ext cx="20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微软雅黑"/>
              </a:rPr>
              <a:t>行动指南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40000" y="3230000"/>
            <a:ext cx="7680000" cy="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微软雅黑"/>
              </a:rPr>
              <a:t>下一步建议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300000" y="3550000"/>
            <a:ext cx="8400000" cy="30000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60000" y="3570000"/>
            <a:ext cx="828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  <a:latin typeface="微软雅黑"/>
              </a:rPr>
              <a:t>范例："领导，关于A，建议启动。第一…第二…第三…。建议本周五前立项。"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2950" y="5000000"/>
            <a:ext cx="8226900" cy="529293"/>
          </a:xfrm>
        </p:spPr>
        <p:txBody>
          <a:bodyPr>
            <a:normAutofit fontScale="90000"/>
          </a:bodyPr>
          <a:lstStyle/>
          <a:p>
            <a:endParaRPr lang="zh-CN" altLang="en-US" sz="4400" spc="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1868805" y="241935"/>
            <a:ext cx="0" cy="3308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>
            <p:custDataLst>
              <p:tags r:id="rId2"/>
            </p:custDataLst>
          </p:nvPr>
        </p:nvSpPr>
        <p:spPr>
          <a:xfrm>
            <a:off x="442694" y="875578"/>
            <a:ext cx="7924863" cy="484748"/>
          </a:xfrm>
          <a:prstGeom prst="rect">
            <a:avLst/>
          </a:prstGeom>
          <a:noFill/>
        </p:spPr>
        <p:txBody>
          <a:bodyPr wrap="square" lIns="68580" tIns="34290" rIns="68580" bIns="34290" rtlCol="0"/>
          <a:lstStyle/>
          <a:p>
            <a:r>
              <a:rPr sz="1300" b="1">
                <a:solidFill>
                  <a:srgbClr val="1E3A5F"/>
                </a:solidFill>
                <a:latin typeface="微软雅黑"/>
              </a:rPr>
              <a:t>    六、实战模板：内部汇报发言稿</a:t>
            </a:r>
            <a:endParaRPr lang="zh-CN" sz="2000" b="1" kern="60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101" name="Picture 1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755" y="255270"/>
            <a:ext cx="1362075" cy="270510"/>
          </a:xfrm>
          <a:prstGeom prst="rect">
            <a:avLst/>
          </a:prstGeom>
        </p:spPr>
      </p:pic>
      <p:sp>
        <p:nvSpPr>
          <p:cNvPr id="102" name="Rounded Rectangle 101"/>
          <p:cNvSpPr/>
          <p:nvPr/>
        </p:nvSpPr>
        <p:spPr>
          <a:xfrm>
            <a:off x="300000" y="1400000"/>
            <a:ext cx="2700000" cy="110000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360000" y="1450000"/>
            <a:ext cx="260000" cy="26000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360000" y="1450000"/>
            <a:ext cx="26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50000" y="1455000"/>
            <a:ext cx="22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微软雅黑"/>
              </a:rPr>
              <a:t>结论放第一句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60000" y="1760000"/>
            <a:ext cx="254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微软雅黑"/>
              </a:rPr>
              <a:t>开门见时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3130000" y="1400000"/>
            <a:ext cx="2700000" cy="110000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3190000" y="1450000"/>
            <a:ext cx="260000" cy="26000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190000" y="1450000"/>
            <a:ext cx="26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480000" y="1455000"/>
            <a:ext cx="22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微软雅黑"/>
              </a:rPr>
              <a:t>2-3个理由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190000" y="1760000"/>
            <a:ext cx="254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微软雅黑"/>
              </a:rPr>
              <a:t>第一第二第三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5960000" y="1400000"/>
            <a:ext cx="2700000" cy="110000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6020000" y="1450000"/>
            <a:ext cx="260000" cy="26000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020000" y="1450000"/>
            <a:ext cx="26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310000" y="1455000"/>
            <a:ext cx="22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微软雅黑"/>
              </a:rPr>
              <a:t>建议收尾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020000" y="1760000"/>
            <a:ext cx="254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微软雅黑"/>
              </a:rPr>
              <a:t>我的建议是___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00000" y="2580000"/>
            <a:ext cx="8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E3A5F"/>
                </a:solidFill>
                <a:latin typeface="微软雅黑"/>
              </a:rPr>
              <a:t>风格：自信果断 · 严谨冷静 · 口语化 · 短句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300000" y="2830000"/>
            <a:ext cx="8400000" cy="40000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360000" y="2850000"/>
            <a:ext cx="828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333333"/>
                </a:solidFill>
                <a:latin typeface="微软雅黑"/>
              </a:rPr>
              <a:t>范例："领导，关于X，建议启动。</a:t>
            </a:r>
          </a:p>
          <a:p>
            <a:r>
              <a:rPr sz="800">
                <a:solidFill>
                  <a:srgbClr val="333333"/>
                </a:solidFill>
                <a:latin typeface="微软雅黑"/>
              </a:rPr>
              <a:t>第一…第二…第三…。建议本周五前立项。"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300000" y="3310000"/>
            <a:ext cx="8400000" cy="2500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00000" y="3325000"/>
            <a:ext cx="84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D4AF37"/>
                </a:solidFill>
                <a:latin typeface="微软雅黑"/>
              </a:rPr>
              <a:t>核心：让听众"轻松听懂"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2785464" y="1803736"/>
            <a:ext cx="35725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感谢聆听</a:t>
            </a:r>
            <a:endParaRPr lang="zh-CN" altLang="en-US" sz="5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 descr="微信图片_2023100816005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976755" y="255270"/>
            <a:ext cx="1362075" cy="270510"/>
          </a:xfrm>
          <a:prstGeom prst="rect">
            <a:avLst/>
          </a:prstGeom>
        </p:spPr>
      </p:pic>
      <p:cxnSp>
        <p:nvCxnSpPr>
          <p:cNvPr id="8" name="直接连接符 7"/>
          <p:cNvCxnSpPr/>
          <p:nvPr>
            <p:custDataLst>
              <p:tags r:id="rId4"/>
            </p:custDataLst>
          </p:nvPr>
        </p:nvCxnSpPr>
        <p:spPr>
          <a:xfrm>
            <a:off x="1868805" y="241935"/>
            <a:ext cx="0" cy="3308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5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DIAGRAM_VIRTUALLY_FRAME" val="{&quot;height&quot;:203.45,&quot;left&quot;:207.59173228346458,&quot;top&quot;:130.4,&quot;width&quot;:363.1582677165354}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  <p:tag name="KSO_WM_DIAGRAM_VIRTUALLY_FRAME" val="{&quot;height&quot;:203.45,&quot;left&quot;:207.59173228346458,&quot;top&quot;:130.4,&quot;width&quot;:363.1582677165354}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  <p:tag name="KSO_WM_DIAGRAM_VIRTUALLY_FRAME" val="{&quot;height&quot;:203.45,&quot;left&quot;:207.59173228346458,&quot;top&quot;:130.4,&quot;width&quot;:363.1582677165354}"/>
</p:tagLst>
</file>

<file path=ppt/tags/tag72.xml><?xml version="1.0" encoding="utf-8"?>
<p:tagLst xmlns:p="http://schemas.openxmlformats.org/presentationml/2006/main">
  <p:tag name="KSO_WM_DIAGRAM_VIRTUALLY_FRAME" val="{&quot;height&quot;:203.45,&quot;left&quot;:207.59173228346458,&quot;top&quot;:130.4,&quot;width&quot;:363.1582677165354}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  <p:tag name="KSO_WM_DIAGRAM_VIRTUALLY_FRAME" val="{&quot;height&quot;:203.45,&quot;left&quot;:207.59173228346458,&quot;top&quot;:130.4,&quot;width&quot;:363.1582677165354}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  <p:tag name="KSO_WM_DIAGRAM_VIRTUALLY_FRAME" val="{&quot;height&quot;:203.45,&quot;left&quot;:207.59173228346458,&quot;top&quot;:130.4,&quot;width&quot;:363.1582677165354}"/>
</p:tagLst>
</file>

<file path=ppt/tags/tag81.xml><?xml version="1.0" encoding="utf-8"?>
<p:tagLst xmlns:p="http://schemas.openxmlformats.org/presentationml/2006/main">
  <p:tag name="KSO_WM_BEAUTIFY_FLAG" val=""/>
  <p:tag name="KSO_WM_DIAGRAM_VIRTUALLY_FRAME" val="{&quot;height&quot;:203.45,&quot;left&quot;:207.59173228346458,&quot;top&quot;:130.4,&quot;width&quot;:363.1582677165354}"/>
</p:tagLst>
</file>

<file path=ppt/tags/tag82.xml><?xml version="1.0" encoding="utf-8"?>
<p:tagLst xmlns:p="http://schemas.openxmlformats.org/presentationml/2006/main">
  <p:tag name="KSO_WM_BEAUTIFY_FLAG" val=""/>
  <p:tag name="KSO_WM_DIAGRAM_VIRTUALLY_FRAME" val="{&quot;height&quot;:203.45,&quot;left&quot;:207.59173228346458,&quot;top&quot;:130.4,&quot;width&quot;:363.1582677165354}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95.xml><?xml version="1.0" encoding="utf-8"?>
<p:tagLst xmlns:p="http://schemas.openxmlformats.org/presentationml/2006/main">
  <p:tag name="KSO_WPP_MARK_KEY" val="86028773-9ae1-4153-8d47-594399716c73"/>
  <p:tag name="COMMONDATA" val="eyJoZGlkIjoiNjNhNmZiNWY5MmQzNzRmNzM0ZjA4ODE3MjcyMjYwOTUifQ=="/>
</p:tagLst>
</file>

<file path=ppt/theme/theme1.xml><?xml version="1.0" encoding="utf-8"?>
<a:theme xmlns:a="http://schemas.openxmlformats.org/drawingml/2006/main" name="1_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213</Words>
  <Application>WPS 演示</Application>
  <PresentationFormat>全屏显示(16:9)</PresentationFormat>
  <Paragraphs>46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Wingdings</vt:lpstr>
      <vt:lpstr>黑体</vt:lpstr>
      <vt:lpstr>华文细黑</vt:lpstr>
      <vt:lpstr>微软雅黑 Light</vt:lpstr>
      <vt:lpstr>仿宋</vt:lpstr>
      <vt:lpstr>Arial Unicode MS</vt:lpstr>
      <vt:lpstr>Calibri</vt:lpstr>
      <vt:lpstr>1_Office 主题​​</vt:lpstr>
      <vt:lpstr>PowerPoint 演示文稿</vt:lpstr>
      <vt:lpstr>PowerPoint 演示文稿</vt:lpstr>
      <vt:lpstr>2022年度工作总结报告</vt:lpstr>
      <vt:lpstr>2022年度工作总结报告</vt:lpstr>
      <vt:lpstr>2022年度工作总结报告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辰辰</cp:lastModifiedBy>
  <cp:revision>395</cp:revision>
  <dcterms:created xsi:type="dcterms:W3CDTF">2019-06-19T02:08:00Z</dcterms:created>
  <dcterms:modified xsi:type="dcterms:W3CDTF">2026-06-02T07:32:16Z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52CED4A2683F43BA9530C626FD48A505_13</vt:lpwstr>
  </property>
</Properties>
</file>