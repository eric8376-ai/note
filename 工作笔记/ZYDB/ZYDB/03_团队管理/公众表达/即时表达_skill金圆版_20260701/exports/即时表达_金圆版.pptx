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7" r:id="rId5"/>
    <p:sldId id="370" r:id="rId15"/>
    <p:sldId id="371" r:id="rId16"/>
    <p:sldId id="372" r:id="rId17"/>
    <p:sldId id="373" r:id="rId18"/>
    <p:sldId id="374" r:id="rId19"/>
    <p:sldId id="375" r:id="rId20"/>
    <p:sldId id="263" r:id="rId9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u" initials="q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244" y="52"/>
      </p:cViewPr>
      <p:guideLst>
        <p:guide orient="horz" pos="153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95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74325" y="514440"/>
            <a:ext cx="5512050" cy="144610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3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74325" y="2003075"/>
            <a:ext cx="5512050" cy="82837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spc="200">
                <a:uFillTx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685" indent="0" algn="ctr">
              <a:buNone/>
              <a:defRPr sz="900"/>
            </a:lvl7pPr>
            <a:lvl8pPr marL="1800860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598984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424" y="1135856"/>
            <a:ext cx="6170295" cy="238029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2165104"/>
            <a:ext cx="4369950" cy="4314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47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2596505"/>
            <a:ext cx="4369950" cy="48811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0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68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86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803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844573"/>
            <a:ext cx="2911950" cy="267144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844573"/>
            <a:ext cx="2911950" cy="2671442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804066"/>
            <a:ext cx="3005100" cy="214688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10" y="799862"/>
            <a:ext cx="3005100" cy="214688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1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685" indent="0">
              <a:buNone/>
              <a:defRPr sz="900" b="1"/>
            </a:lvl7pPr>
            <a:lvl8pPr marL="1800860" indent="0">
              <a:buNone/>
              <a:defRPr sz="900" b="1"/>
            </a:lvl8pPr>
            <a:lvl9pPr marL="2058035" indent="0">
              <a:buNone/>
              <a:defRPr sz="9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10" y="1043057"/>
            <a:ext cx="3005100" cy="247295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342285"/>
            <a:ext cx="6170175" cy="3969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186" y="874905"/>
            <a:ext cx="2943582" cy="259256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874953"/>
            <a:ext cx="2940300" cy="259245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9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514440"/>
            <a:ext cx="587250" cy="282942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575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514440"/>
            <a:ext cx="5157675" cy="2829420"/>
          </a:xfrm>
        </p:spPr>
        <p:txBody>
          <a:bodyPr vert="eaVert" lIns="46800" tIns="46800" rIns="46800" bIns="46800"/>
          <a:lstStyle>
            <a:lvl1pPr marL="128905" indent="-128270">
              <a:spcAft>
                <a:spcPts val="1000"/>
              </a:spcAft>
              <a:defRPr spc="300"/>
            </a:lvl1pPr>
            <a:lvl2pPr marL="386080" indent="-128270">
              <a:defRPr spc="300"/>
            </a:lvl2pPr>
            <a:lvl3pPr marL="643255" indent="-128270">
              <a:defRPr spc="300"/>
            </a:lvl3pPr>
            <a:lvl4pPr marL="900430" indent="-128270">
              <a:defRPr spc="300"/>
            </a:lvl4pPr>
            <a:lvl5pPr marL="1157605" indent="-12827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435452"/>
            <a:ext cx="6172200" cy="308461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1397495"/>
            <a:ext cx="5512050" cy="57317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37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2003075"/>
            <a:ext cx="5512050" cy="2653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35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ags" Target="../tags/tag57.xml"/><Relationship Id="rId14" Type="http://schemas.openxmlformats.org/officeDocument/2006/relationships/tags" Target="../tags/tag58.xml"/><Relationship Id="rId15" Type="http://schemas.openxmlformats.org/officeDocument/2006/relationships/tags" Target="../tags/tag59.xml"/><Relationship Id="rId16" Type="http://schemas.openxmlformats.org/officeDocument/2006/relationships/tags" Target="../tags/tag60.xml"/><Relationship Id="rId17" Type="http://schemas.openxmlformats.org/officeDocument/2006/relationships/tags" Target="../tags/tag61.xml"/><Relationship Id="rId18" Type="http://schemas.openxmlformats.org/officeDocument/2006/relationships/tags" Target="../tags/tag6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342285"/>
            <a:ext cx="6170175" cy="3969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838497"/>
            <a:ext cx="6170175" cy="267751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3552471"/>
            <a:ext cx="222750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3552471"/>
            <a:ext cx="1518750" cy="178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65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fontAlgn="auto" latinLnBrk="0" hangingPunct="1">
        <a:lnSpc>
          <a:spcPct val="100000"/>
        </a:lnSpc>
        <a:spcBef>
          <a:spcPct val="0"/>
        </a:spcBef>
        <a:buNone/>
        <a:defRPr sz="2025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28905" indent="-128270" algn="l" defTabSz="51435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0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8608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906145" algn="l"/>
          <a:tab pos="906145" algn="l"/>
          <a:tab pos="906145" algn="l"/>
          <a:tab pos="906145" algn="l"/>
        </a:tabLst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64325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900430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157605" indent="-128270" algn="l" defTabSz="51435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7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68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803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image" Target="../media/image3.png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70610" y="537845"/>
            <a:ext cx="6744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237729" y="1281143"/>
            <a:ext cx="6141492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600" b="1">
                <a:latin typeface="微软雅黑"/>
              </a:rPr>
              <a:t>即时表达</a:t>
            </a:r>
            <a:endParaRPr lang="en-US" altLang="zh-CN" sz="3200" b="1" dirty="0">
              <a:ea typeface="微软雅黑" panose="020B0503020204020204" pitchFamily="34" charset="-122"/>
            </a:endParaRPr>
          </a:p>
          <a:p>
            <a:r>
              <a:rPr sz="2000" b="0">
                <a:latin typeface="微软雅黑"/>
              </a:rPr>
              <a:t>公众发言的核心艺术</a:t>
            </a:r>
          </a:p>
          <a:p/>
          <a:p>
            <a:r>
              <a:rPr sz="1200" b="0">
                <a:latin typeface="微软雅黑"/>
              </a:rPr>
              <a:t>汇报人：xxx       部门：xxx</a:t>
            </a:r>
          </a:p>
          <a:p/>
          <a:p>
            <a:r>
              <a:rPr sz="1200" b="0">
                <a:latin typeface="微软雅黑"/>
              </a:rPr>
              <a:t>  2026年7月</a:t>
            </a: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>
            <p:custDataLst>
              <p:tags r:id="rId2"/>
            </p:custDataLst>
          </p:nvPr>
        </p:nvGrpSpPr>
        <p:grpSpPr>
          <a:xfrm>
            <a:off x="2636415" y="1656080"/>
            <a:ext cx="3547745" cy="1564640"/>
            <a:chOff x="4023" y="3712"/>
            <a:chExt cx="5587" cy="2464"/>
          </a:xfrm>
        </p:grpSpPr>
        <p:sp>
          <p:nvSpPr>
            <p:cNvPr id="25" name="文本框 24"/>
            <p:cNvSpPr txBox="1"/>
            <p:nvPr>
              <p:custDataLst>
                <p:tags r:id="rId3"/>
              </p:custDataLst>
            </p:nvPr>
          </p:nvSpPr>
          <p:spPr>
            <a:xfrm>
              <a:off x="4573" y="3712"/>
              <a:ext cx="4823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4023" y="4654"/>
              <a:ext cx="4917" cy="580"/>
              <a:chOff x="2678" y="2474"/>
              <a:chExt cx="4917" cy="580"/>
            </a:xfrm>
          </p:grpSpPr>
          <p:sp>
            <p:nvSpPr>
              <p:cNvPr id="28" name="文本框 27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228" y="2474"/>
                <a:ext cx="436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圆角矩形 50"/>
              <p:cNvSpPr/>
              <p:nvPr>
                <p:custDataLst>
                  <p:tags r:id="rId5"/>
                </p:custDataLst>
              </p:nvPr>
            </p:nvSpPr>
            <p:spPr>
              <a:xfrm>
                <a:off x="2678" y="2641"/>
                <a:ext cx="240" cy="240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4023" y="5596"/>
              <a:ext cx="5587" cy="580"/>
              <a:chOff x="2678" y="3725"/>
              <a:chExt cx="5587" cy="580"/>
            </a:xfrm>
          </p:grpSpPr>
          <p:sp>
            <p:nvSpPr>
              <p:cNvPr id="31" name="文本框 3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228" y="3725"/>
                <a:ext cx="50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圆角矩形 51"/>
              <p:cNvSpPr/>
              <p:nvPr>
                <p:custDataLst>
                  <p:tags r:id="rId7"/>
                </p:custDataLst>
              </p:nvPr>
            </p:nvSpPr>
            <p:spPr>
              <a:xfrm>
                <a:off x="2678" y="3893"/>
                <a:ext cx="240" cy="24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2985770" y="3077845"/>
            <a:ext cx="4236085" cy="1162050"/>
            <a:chOff x="4279" y="4659"/>
            <a:chExt cx="6671" cy="1830"/>
          </a:xfrm>
        </p:grpSpPr>
        <p:sp>
          <p:nvSpPr>
            <p:cNvPr id="3" name="矩形 2"/>
            <p:cNvSpPr/>
            <p:nvPr>
              <p:custDataLst>
                <p:tags r:id="rId9"/>
              </p:custDataLst>
            </p:nvPr>
          </p:nvSpPr>
          <p:spPr>
            <a:xfrm>
              <a:off x="5216" y="4659"/>
              <a:ext cx="5537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10"/>
              </p:custDataLst>
            </p:nvPr>
          </p:nvSpPr>
          <p:spPr>
            <a:xfrm>
              <a:off x="4279" y="5246"/>
              <a:ext cx="6671" cy="1243"/>
            </a:xfrm>
            <a:prstGeom prst="rect">
              <a:avLst/>
            </a:prstGeom>
            <a:ln w="15875">
              <a:noFill/>
            </a:ln>
          </p:spPr>
          <p:txBody>
            <a:bodyPr wrap="square" lIns="51435" tIns="25718" rIns="51435" bIns="25718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工作计划</a:t>
              </a:r>
              <a:endParaRPr lang="zh-CN" altLang="en-US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altLang="zh-CN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09880" y="895350"/>
            <a:ext cx="2804160" cy="1315085"/>
            <a:chOff x="2" y="905"/>
            <a:chExt cx="4416" cy="2071"/>
          </a:xfrm>
        </p:grpSpPr>
        <p:sp>
          <p:nvSpPr>
            <p:cNvPr id="10" name="文本框 5"/>
            <p:cNvSpPr txBox="1"/>
            <p:nvPr>
              <p:custDataLst>
                <p:tags r:id="rId11"/>
              </p:custDataLst>
            </p:nvPr>
          </p:nvSpPr>
          <p:spPr>
            <a:xfrm>
              <a:off x="1224" y="1958"/>
              <a:ext cx="3194" cy="10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 Light" panose="020B0502040204020203" charset="-122"/>
                  <a:ea typeface="微软雅黑 Light" panose="020B0502040204020203" charset="-122"/>
                </a:rPr>
                <a:t>contents</a:t>
              </a:r>
              <a:endPara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2"/>
              </p:custDataLst>
            </p:nvPr>
          </p:nvSpPr>
          <p:spPr>
            <a:xfrm>
              <a:off x="2" y="1516"/>
              <a:ext cx="719" cy="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3"/>
              </p:custDataLst>
            </p:nvPr>
          </p:nvSpPr>
          <p:spPr>
            <a:xfrm>
              <a:off x="883" y="2344"/>
              <a:ext cx="296" cy="2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14"/>
              </p:custDataLst>
            </p:nvPr>
          </p:nvSpPr>
          <p:spPr>
            <a:xfrm>
              <a:off x="1164" y="905"/>
              <a:ext cx="2859" cy="152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l"/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lang="en-US" altLang="zh-CN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4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15"/>
            </p:custDataLst>
          </p:nvPr>
        </p:nvSpPr>
        <p:spPr>
          <a:xfrm rot="16200000">
            <a:off x="4242435" y="407035"/>
            <a:ext cx="76200" cy="29565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16"/>
            </p:custDataLst>
          </p:nvPr>
        </p:nvSpPr>
        <p:spPr>
          <a:xfrm>
            <a:off x="3012440" y="225425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工作成效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17"/>
            </p:custDataLst>
          </p:nvPr>
        </p:nvSpPr>
        <p:spPr>
          <a:xfrm>
            <a:off x="2649750" y="3619500"/>
            <a:ext cx="152400" cy="1524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18"/>
            </p:custDataLst>
          </p:nvPr>
        </p:nvSpPr>
        <p:spPr>
          <a:xfrm>
            <a:off x="3012440" y="2852420"/>
            <a:ext cx="4236085" cy="789305"/>
          </a:xfrm>
          <a:prstGeom prst="rect">
            <a:avLst/>
          </a:prstGeom>
          <a:ln w="15875">
            <a:noFill/>
          </a:ln>
        </p:spPr>
        <p:txBody>
          <a:bodyPr wrap="square" lIns="51435" tIns="25718" rIns="51435" bIns="2571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sz="24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一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工作成效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690245" y="1284605"/>
            <a:ext cx="7430135" cy="4502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ts val="2800"/>
              </a:lnSpc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对一季度经营分析会上的工作部署落实情况作专项汇报</a:t>
            </a:r>
            <a:endParaRPr lang="zh-CN" altLang="en-US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1365" y="2918460"/>
            <a:ext cx="6387465" cy="4502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lnSpc>
                <a:spcPts val="2800"/>
              </a:lnSpc>
              <a:buClrTx/>
              <a:buSzTx/>
              <a:buFontTx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2.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其他重点工作成效，须聚焦问题及总结优秀做法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68704" y="897803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sym typeface="+mn-ea"/>
              </a:rPr>
              <a:t>存在问题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en-US" alt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r>
              <a:rPr lang="en-US" altLang="zh-CN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2022年度工作总结</a:t>
            </a:r>
            <a:r>
              <a:rPr lang="zh-CN" altLang="en-US" sz="4400" spc="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报告</a:t>
            </a:r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268704" y="897803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三</a:t>
            </a:r>
            <a:r>
              <a:rPr 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Arial" panose="020B0604020202020204" pitchFamily="34" charset="0"/>
              </a:rPr>
              <a:t>、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下一步</a:t>
            </a: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工作计划</a:t>
            </a:r>
            <a:endParaRPr lang="zh-CN" altLang="en-US" sz="2000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000" y="14684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defTabSz="266700"/>
            <a:r>
              <a:rPr lang="zh-CN" altLang="en-US" sz="16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须针对问题提出解决思路及措施</a:t>
            </a:r>
            <a:endParaRPr lang="zh-CN" altLang="en-US" sz="16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785464" y="1803736"/>
            <a:ext cx="3572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4"/>
            </p:custDataLst>
          </p:nvPr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一、表达的本质：内容与方式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850000"/>
            <a:ext cx="4200000" cy="28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0000" y="850000"/>
            <a:ext cx="4200000" cy="2800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000" y="89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表达内容 (WHAT)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000" y="1230000"/>
            <a:ext cx="396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微软雅黑"/>
              </a:rPr>
              <a:t>半书面 = 口头 + 底稿 + 审查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● 前端：流畅自信的口头语言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● 后端：PPT/数据/逻辑链底稿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● 护城河：预判挑战点和答案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经得起审查的公众发言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00000" y="850000"/>
            <a:ext cx="42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00000" y="850000"/>
            <a:ext cx="4200000" cy="28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0000" y="89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表达方式 (HOW)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0000" y="1230000"/>
            <a:ext cx="396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3333"/>
                </a:solidFill>
                <a:latin typeface="微软雅黑"/>
              </a:rPr>
              <a:t>本质：认知压榨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① 流畅性启发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感觉轻松 = 感觉正确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② 场景表达模式</a:t>
            </a:r>
          </a:p>
          <a:p>
            <a:r>
              <a:rPr sz="900">
                <a:solidFill>
                  <a:srgbClr val="333333"/>
                </a:solidFill>
                <a:latin typeface="微软雅黑"/>
              </a:rPr>
              <a:t>  钩子+结论+观点+行动</a:t>
            </a:r>
          </a:p>
          <a:p/>
          <a:p>
            <a:r>
              <a:rPr sz="900">
                <a:solidFill>
                  <a:srgbClr val="333333"/>
                </a:solidFill>
                <a:latin typeface="微软雅黑"/>
              </a:rPr>
              <a:t>更重要的是表达方式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二、表达内容四大原则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850000"/>
            <a:ext cx="840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000" y="850000"/>
            <a:ext cx="40000" cy="6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0000" y="98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000" y="9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000" y="9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目的决定形式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000" y="1200000"/>
            <a:ext cx="78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没有野心，技巧沦为套路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" y="1550000"/>
            <a:ext cx="840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0000" y="1550000"/>
            <a:ext cx="40000" cy="62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0000" y="1680000"/>
            <a:ext cx="300000" cy="30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0000" y="16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000" y="16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时间有限性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000" y="1900000"/>
            <a:ext cx="78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注意力有限，耐心有限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0000" y="2250000"/>
            <a:ext cx="8400000" cy="62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0000" y="2250000"/>
            <a:ext cx="40000" cy="62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0000" y="2380000"/>
            <a:ext cx="300000" cy="3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0000" y="23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0000" y="23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时间线性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000" y="2600000"/>
            <a:ext cx="78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说完就没了，用短句口语词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0000" y="2950000"/>
            <a:ext cx="8400000" cy="62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0000" y="2950000"/>
            <a:ext cx="40000" cy="62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80000" y="308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0000" y="30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000" y="3050000"/>
            <a:ext cx="30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认知带宽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000" y="3300000"/>
            <a:ext cx="78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DD5EA"/>
                </a:solidFill>
                <a:latin typeface="微软雅黑"/>
              </a:rPr>
              <a:t>需要低压信息，废话是缓冲带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三、权威来源：信任 vs 权威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850000"/>
            <a:ext cx="4200000" cy="1400000"/>
          </a:xfrm>
          <a:prstGeom prst="round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00000" y="1000000"/>
            <a:ext cx="1800000" cy="1800000"/>
          </a:xfrm>
          <a:prstGeom prst="ellipse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0000" y="145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微软雅黑"/>
              </a:rPr>
              <a:t>信任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0000" y="1750000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✓ 自信流畅  ✓ 眼神交流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00000" y="850000"/>
            <a:ext cx="4200000" cy="14000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00000" y="1000000"/>
            <a:ext cx="1800000" cy="1800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00000" y="1450000"/>
            <a:ext cx="1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3A5F"/>
                </a:solidFill>
                <a:latin typeface="微软雅黑"/>
              </a:rPr>
              <a:t>权威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00000" y="1750000"/>
            <a:ext cx="1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✓ 数据支撑  ✓ 逻辑自洽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0000" y="2400000"/>
            <a:ext cx="8400000" cy="5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0000" y="2430000"/>
            <a:ext cx="82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AF37"/>
                </a:solidFill>
                <a:latin typeface="微软雅黑"/>
              </a:rPr>
              <a:t>信任：哪怕逻辑有瑕疵，直觉会被带着走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000" y="2670000"/>
            <a:ext cx="824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微软雅黑"/>
              </a:rPr>
              <a:t>权威：哪怕文笔枯燥，默认为专业资料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四、流畅性启发（核心原理）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3522000" y="900000"/>
            <a:ext cx="1100000" cy="11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42000" y="1020000"/>
            <a:ext cx="860000" cy="860000"/>
          </a:xfrm>
          <a:prstGeom prst="ellipse">
            <a:avLst/>
          </a:prstGeom>
          <a:solidFill>
            <a:srgbClr val="16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2000" y="1270000"/>
            <a:ext cx="8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流畅性启发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42000" y="1470000"/>
            <a:ext cx="8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  <a:latin typeface="微软雅黑"/>
              </a:rPr>
              <a:t>认知压榨本质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00000" y="750000"/>
            <a:ext cx="6600000" cy="2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0000" y="770000"/>
            <a:ext cx="66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大脑依赖"信息处理的主观体验"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0000" y="2150000"/>
            <a:ext cx="3900000" cy="30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000" y="2170000"/>
            <a:ext cx="3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微软雅黑"/>
              </a:rPr>
              <a:t>感觉轻松 = 感觉正确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0000" y="2150000"/>
            <a:ext cx="3900000" cy="300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0000" y="2170000"/>
            <a:ext cx="3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62828"/>
                </a:solidFill>
                <a:latin typeface="微软雅黑"/>
              </a:rPr>
              <a:t>感觉困难 = 感觉可疑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0000" y="2650000"/>
            <a:ext cx="8400000" cy="35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0000" y="2680000"/>
            <a:ext cx="8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微软雅黑"/>
              </a:rPr>
              <a:t>启示：表达流畅比内容正确更重要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五、场景表达模式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900000"/>
            <a:ext cx="840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0000" y="900000"/>
            <a:ext cx="40000" cy="5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0000" y="102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000" y="102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0000" y="100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钩子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0000" y="1230000"/>
            <a:ext cx="78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关于X，我需要您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000" y="1580000"/>
            <a:ext cx="825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000" y="1580000"/>
            <a:ext cx="40000" cy="58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0000" y="1700000"/>
            <a:ext cx="300000" cy="300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000" y="170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00" y="168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000" y="1910000"/>
            <a:ext cx="77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直接说核心结论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0000" y="2260000"/>
            <a:ext cx="810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0000" y="2260000"/>
            <a:ext cx="40000" cy="58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0000" y="2380000"/>
            <a:ext cx="300000" cy="3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000" y="238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000" y="236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观点摘要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000" y="2590000"/>
            <a:ext cx="75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重要观点概括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000" y="2940000"/>
            <a:ext cx="7950000" cy="58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0000" y="2940000"/>
            <a:ext cx="40000" cy="58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0000" y="306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000" y="306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0000" y="3040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微软雅黑"/>
              </a:rPr>
              <a:t>行动指南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0000" y="3270000"/>
            <a:ext cx="7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</a:rPr>
              <a:t>下一步建议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2950" y="2571565"/>
            <a:ext cx="8226900" cy="529293"/>
          </a:xfrm>
        </p:spPr>
        <p:txBody>
          <a:bodyPr>
            <a:normAutofit fontScale="90000"/>
          </a:bodyPr>
          <a:lstStyle/>
          <a:p>
            <a:endParaRPr lang="zh-CN" altLang="en-US" sz="4400" spc="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 descr="微信图片_202310081600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55270"/>
            <a:ext cx="1362075" cy="27051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868805" y="241935"/>
            <a:ext cx="0" cy="3308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442694" y="875578"/>
            <a:ext cx="7924863" cy="484748"/>
          </a:xfrm>
          <a:prstGeom prst="rect">
            <a:avLst/>
          </a:prstGeom>
          <a:noFill/>
        </p:spPr>
        <p:txBody>
          <a:bodyPr wrap="square" lIns="68580" tIns="34290" rIns="68580" bIns="34290" rtlCol="0"/>
          <a:lstStyle/>
          <a:p>
            <a:r>
              <a:rPr sz="1300" b="1">
                <a:solidFill>
                  <a:srgbClr val="1E3A5F"/>
                </a:solidFill>
                <a:latin typeface="微软雅黑"/>
              </a:rPr>
              <a:t>    六、实战模板：内部汇报发言稿</a:t>
            </a:r>
            <a:endParaRPr lang="zh-CN" sz="2000" b="1" kern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000" y="850000"/>
            <a:ext cx="2700000" cy="16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0000" y="93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0000" y="93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000" y="95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微软雅黑"/>
              </a:rPr>
              <a:t>结论放第一句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000" y="135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开门见山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30000" y="850000"/>
            <a:ext cx="2700000" cy="16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10000" y="93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10000" y="93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000" y="95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微软雅黑"/>
              </a:rPr>
              <a:t>2-3个理由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0000" y="135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第一第二第三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0000" y="850000"/>
            <a:ext cx="2700000" cy="160000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40000" y="930000"/>
            <a:ext cx="300000" cy="3000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40000" y="930000"/>
            <a:ext cx="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0000" y="950000"/>
            <a:ext cx="2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  <a:latin typeface="微软雅黑"/>
              </a:rPr>
              <a:t>建议收尾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0000" y="1350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我的建议是___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0000" y="2650000"/>
            <a:ext cx="84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微软雅黑"/>
              </a:rPr>
              <a:t>风格：自信果断 · 严谨冷静 · 口语化 · 短句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0000" y="2950000"/>
            <a:ext cx="8400000" cy="3000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0000" y="2980000"/>
            <a:ext cx="8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F37"/>
                </a:solidFill>
                <a:latin typeface="微软雅黑"/>
              </a:rPr>
              <a:t>核心：让听众"轻松听懂"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2.xml><?xml version="1.0" encoding="utf-8"?>
<p:tagLst xmlns:p="http://schemas.openxmlformats.org/presentationml/2006/main">
  <p:tag name="KSO_WM_DIAGRAM_VIRTUALLY_FRAME" val="{&quot;height&quot;:203.45,&quot;left&quot;:207.59173228346458,&quot;top&quot;:130.4,&quot;width&quot;:363.1582677165354}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03.45,&quot;left&quot;:207.59173228346458,&quot;top&quot;:130.4,&quot;width&quot;:363.1582677165354}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p="http://schemas.openxmlformats.org/presentationml/2006/main">
  <p:tag name="KSO_WM_UNIT_TEXT_PART_ID_V2" val="a-4-1"/>
  <p:tag name="KSO_WM_UNIT_ISCONTENTSTITLE" val="0"/>
  <p:tag name="KSO_WM_UNIT_NOCLEAR" val="0"/>
  <p:tag name="KSO_WM_UNIT_VALUE" val="2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5_1*a*1"/>
  <p:tag name="KSO_WM_TEMPLATE_CATEGORY" val="diagram"/>
  <p:tag name="KSO_WM_TEMPLATE_INDEX" val="20202565"/>
  <p:tag name="KSO_WM_UNIT_LAYERLEVEL" val="1"/>
  <p:tag name="KSO_WM_TAG_VERSION" val="1.0"/>
  <p:tag name="KSO_WM_BEAUTIFY_FLAG" val=""/>
  <p:tag name="KSO_WM_UNIT_PRESET_TEXT" val="单击此处可添加您的大标题内容"/>
  <p:tag name="KSO_WM_UNIT_ISNUMDGMTITLE" val="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p="http://schemas.openxmlformats.org/presentationml/2006/main">
  <p:tag name="KSO_WPP_MARK_KEY" val="86028773-9ae1-4153-8d47-594399716c73"/>
  <p:tag name="COMMONDATA" val="eyJoZGlkIjoiNjNhNmZiNWY5MmQzNzRmNzM0ZjA4ODE3MjcyMjYwOTUifQ=="/>
</p:tagLst>
</file>

<file path=ppt/theme/theme1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WPS 演示</Application>
  <PresentationFormat>全屏显示(16:9)</PresentationFormat>
  <Paragraphs>46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黑体</vt:lpstr>
      <vt:lpstr>华文细黑</vt:lpstr>
      <vt:lpstr>微软雅黑 Light</vt:lpstr>
      <vt:lpstr>仿宋</vt:lpstr>
      <vt:lpstr>Arial Unicode MS</vt:lpstr>
      <vt:lpstr>Calibri</vt:lpstr>
      <vt:lpstr>1_Office 主题​​</vt:lpstr>
      <vt:lpstr>PowerPoint 演示文稿</vt:lpstr>
      <vt:lpstr>PowerPoint 演示文稿</vt:lpstr>
      <vt:lpstr>2022年度工作总结报告</vt:lpstr>
      <vt:lpstr>2022年度工作总结报告</vt:lpstr>
      <vt:lpstr>2022年度工作总结报告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辰辰</cp:lastModifiedBy>
  <cp:revision>395</cp:revision>
  <dcterms:created xsi:type="dcterms:W3CDTF">2019-06-19T02:08:00Z</dcterms:created>
  <dcterms:modified xsi:type="dcterms:W3CDTF">2026-06-02T07:32:16Z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52CED4A2683F43BA9530C626FD48A505_13</vt:lpwstr>
  </property>
</Properties>
</file>